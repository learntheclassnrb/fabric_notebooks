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diagrams/data1.xml" ContentType="application/vnd.openxmlformats-officedocument.drawingml.diagramData+xml"/>
  <Override PartName="/ppt/presentation.xml" ContentType="application/vnd.openxmlformats-officedocument.presentationml.presentation.main+xml"/>
  <Override PartName="/ppt/slides/slide38.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3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Masters/slideMaster2.xml" ContentType="application/vnd.openxmlformats-officedocument.presentationml.slideMaster+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8" r:id="rId2"/>
  </p:sldMasterIdLst>
  <p:notesMasterIdLst>
    <p:notesMasterId r:id="rId46"/>
  </p:notesMasterIdLst>
  <p:sldIdLst>
    <p:sldId id="2140" r:id="rId3"/>
    <p:sldId id="2131" r:id="rId4"/>
    <p:sldId id="2145" r:id="rId5"/>
    <p:sldId id="2146" r:id="rId6"/>
    <p:sldId id="2147" r:id="rId7"/>
    <p:sldId id="2150" r:id="rId8"/>
    <p:sldId id="2118" r:id="rId9"/>
    <p:sldId id="2121" r:id="rId10"/>
    <p:sldId id="2122" r:id="rId11"/>
    <p:sldId id="2045" r:id="rId12"/>
    <p:sldId id="2076" r:id="rId13"/>
    <p:sldId id="2057" r:id="rId14"/>
    <p:sldId id="2069" r:id="rId15"/>
    <p:sldId id="2058" r:id="rId16"/>
    <p:sldId id="2070" r:id="rId17"/>
    <p:sldId id="2123" r:id="rId18"/>
    <p:sldId id="2046" r:id="rId19"/>
    <p:sldId id="2126" r:id="rId20"/>
    <p:sldId id="2128" r:id="rId21"/>
    <p:sldId id="2127" r:id="rId22"/>
    <p:sldId id="2064" r:id="rId23"/>
    <p:sldId id="2059" r:id="rId24"/>
    <p:sldId id="2063" r:id="rId25"/>
    <p:sldId id="2084" r:id="rId26"/>
    <p:sldId id="2085" r:id="rId27"/>
    <p:sldId id="2125" r:id="rId28"/>
    <p:sldId id="2129" r:id="rId29"/>
    <p:sldId id="2099" r:id="rId30"/>
    <p:sldId id="2130" r:id="rId31"/>
    <p:sldId id="2142" r:id="rId32"/>
    <p:sldId id="2137" r:id="rId33"/>
    <p:sldId id="2132" r:id="rId34"/>
    <p:sldId id="2148" r:id="rId35"/>
    <p:sldId id="2149" r:id="rId36"/>
    <p:sldId id="2134" r:id="rId37"/>
    <p:sldId id="2136" r:id="rId38"/>
    <p:sldId id="2120" r:id="rId39"/>
    <p:sldId id="2119" r:id="rId40"/>
    <p:sldId id="2139" r:id="rId41"/>
    <p:sldId id="2144" r:id="rId42"/>
    <p:sldId id="2138" r:id="rId43"/>
    <p:sldId id="2141" r:id="rId44"/>
    <p:sldId id="207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p15:clr>
            <a:srgbClr val="A4A3A4"/>
          </p15:clr>
        </p15:guide>
        <p15:guide id="2" pos="24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Sandesh Prabhu" initials="DP" lastIdx="20" clrIdx="0">
    <p:extLst/>
  </p:cmAuthor>
  <p:cmAuthor id="2" name="Srinath Rao" initials="SR" lastIdx="5" clrIdx="1">
    <p:extLst/>
  </p:cmAuthor>
  <p:cmAuthor id="3" name="Srinath Rao" initials="SR [2]"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6092"/>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53" autoAdjust="0"/>
    <p:restoredTop sz="50000" autoAdjust="0"/>
  </p:normalViewPr>
  <p:slideViewPr>
    <p:cSldViewPr showGuides="1">
      <p:cViewPr varScale="1">
        <p:scale>
          <a:sx n="112" d="100"/>
          <a:sy n="112" d="100"/>
        </p:scale>
        <p:origin x="1620" y="108"/>
      </p:cViewPr>
      <p:guideLst>
        <p:guide orient="horz" pos="346"/>
        <p:guide pos="249"/>
      </p:guideLst>
    </p:cSldViewPr>
  </p:slideViewPr>
  <p:notesTextViewPr>
    <p:cViewPr>
      <p:scale>
        <a:sx n="1" d="1"/>
        <a:sy n="1" d="1"/>
      </p:scale>
      <p:origin x="0" y="0"/>
    </p:cViewPr>
  </p:notesTextViewPr>
  <p:sorterViewPr>
    <p:cViewPr>
      <p:scale>
        <a:sx n="100" d="100"/>
        <a:sy n="100"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55" Type="http://schemas.openxmlformats.org/officeDocument/2006/relationships/customXml" Target="../customXml/item4.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ustomXml" Target="../customXml/item2.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customXml" Target="../customXml/item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A1A20-F6BA-4435-9A9B-E02727B76D79}" type="doc">
      <dgm:prSet loTypeId="urn:microsoft.com/office/officeart/2005/8/layout/cycle8" loCatId="cycle" qsTypeId="urn:microsoft.com/office/officeart/2005/8/quickstyle/simple1" qsCatId="simple" csTypeId="urn:microsoft.com/office/officeart/2005/8/colors/accent1_2" csCatId="accent1" phldr="1"/>
      <dgm:spPr/>
    </dgm:pt>
    <dgm:pt modelId="{49CDFEF6-C56F-443F-BEE1-BC164F619E0C}">
      <dgm:prSet/>
      <dgm:spPr/>
      <dgm:t>
        <a:bodyPr/>
        <a:lstStyle/>
        <a:p>
          <a:r>
            <a:rPr lang="en-US" smtClean="0"/>
            <a:t>Data Classification &amp; Segmentation</a:t>
          </a:r>
          <a:endParaRPr lang="en-US" dirty="0"/>
        </a:p>
      </dgm:t>
    </dgm:pt>
    <dgm:pt modelId="{9451B9D7-D22F-40D7-A194-0831E41C18E1}" type="parTrans" cxnId="{0476F040-9F83-4573-9946-A724DD32C126}">
      <dgm:prSet/>
      <dgm:spPr/>
      <dgm:t>
        <a:bodyPr/>
        <a:lstStyle/>
        <a:p>
          <a:endParaRPr lang="en-US"/>
        </a:p>
      </dgm:t>
    </dgm:pt>
    <dgm:pt modelId="{6F675D2E-CA99-4E95-B107-3D2095DF85F2}" type="sibTrans" cxnId="{0476F040-9F83-4573-9946-A724DD32C126}">
      <dgm:prSet/>
      <dgm:spPr/>
      <dgm:t>
        <a:bodyPr/>
        <a:lstStyle/>
        <a:p>
          <a:endParaRPr lang="en-US"/>
        </a:p>
      </dgm:t>
    </dgm:pt>
    <dgm:pt modelId="{F3562A90-3575-423E-BEA2-FCA36BD50880}">
      <dgm:prSet/>
      <dgm:spPr/>
      <dgm:t>
        <a:bodyPr/>
        <a:lstStyle/>
        <a:p>
          <a:r>
            <a:rPr lang="en-US" smtClean="0"/>
            <a:t>Information Protection Standards</a:t>
          </a:r>
          <a:endParaRPr lang="en-US" dirty="0"/>
        </a:p>
      </dgm:t>
    </dgm:pt>
    <dgm:pt modelId="{6A8EB55E-EDAC-4EA6-B1A5-1166FA531CA8}" type="parTrans" cxnId="{5BB47957-FAB6-417F-ABD8-7E303FB7C57F}">
      <dgm:prSet/>
      <dgm:spPr/>
      <dgm:t>
        <a:bodyPr/>
        <a:lstStyle/>
        <a:p>
          <a:endParaRPr lang="en-US"/>
        </a:p>
      </dgm:t>
    </dgm:pt>
    <dgm:pt modelId="{939F7B0A-FB9B-4880-A5CB-035BD12D4B83}" type="sibTrans" cxnId="{5BB47957-FAB6-417F-ABD8-7E303FB7C57F}">
      <dgm:prSet/>
      <dgm:spPr/>
      <dgm:t>
        <a:bodyPr/>
        <a:lstStyle/>
        <a:p>
          <a:endParaRPr lang="en-US"/>
        </a:p>
      </dgm:t>
    </dgm:pt>
    <dgm:pt modelId="{89984E49-E673-4422-9D1C-E3878FD06E5D}">
      <dgm:prSet/>
      <dgm:spPr/>
      <dgm:t>
        <a:bodyPr/>
        <a:lstStyle/>
        <a:p>
          <a:r>
            <a:rPr lang="en-US" smtClean="0"/>
            <a:t>Data Sharing Across business units  / Capitated Provider</a:t>
          </a:r>
          <a:endParaRPr lang="en-US" dirty="0"/>
        </a:p>
      </dgm:t>
    </dgm:pt>
    <dgm:pt modelId="{541EB9C7-7783-46BC-BDE3-996B649ED01C}" type="parTrans" cxnId="{BFCF03BE-E05F-4FB1-B5BB-A524C7A16BC3}">
      <dgm:prSet/>
      <dgm:spPr/>
      <dgm:t>
        <a:bodyPr/>
        <a:lstStyle/>
        <a:p>
          <a:endParaRPr lang="en-US"/>
        </a:p>
      </dgm:t>
    </dgm:pt>
    <dgm:pt modelId="{6CB857CE-0A1F-4B82-9E89-06013867047A}" type="sibTrans" cxnId="{BFCF03BE-E05F-4FB1-B5BB-A524C7A16BC3}">
      <dgm:prSet/>
      <dgm:spPr/>
      <dgm:t>
        <a:bodyPr/>
        <a:lstStyle/>
        <a:p>
          <a:endParaRPr lang="en-US"/>
        </a:p>
      </dgm:t>
    </dgm:pt>
    <dgm:pt modelId="{B9B269B3-707A-4C5F-A00A-8ABDF74C4D0C}" type="pres">
      <dgm:prSet presAssocID="{353A1A20-F6BA-4435-9A9B-E02727B76D79}" presName="compositeShape" presStyleCnt="0">
        <dgm:presLayoutVars>
          <dgm:chMax val="7"/>
          <dgm:dir/>
          <dgm:resizeHandles val="exact"/>
        </dgm:presLayoutVars>
      </dgm:prSet>
      <dgm:spPr/>
    </dgm:pt>
    <dgm:pt modelId="{5BA8B13B-8A00-4778-93DB-68800B84265F}" type="pres">
      <dgm:prSet presAssocID="{353A1A20-F6BA-4435-9A9B-E02727B76D79}" presName="wedge1" presStyleLbl="node1" presStyleIdx="0" presStyleCnt="3"/>
      <dgm:spPr/>
      <dgm:t>
        <a:bodyPr/>
        <a:lstStyle/>
        <a:p>
          <a:endParaRPr lang="en-US"/>
        </a:p>
      </dgm:t>
    </dgm:pt>
    <dgm:pt modelId="{7712341F-9159-42D5-BA10-15ACAF694CD9}" type="pres">
      <dgm:prSet presAssocID="{353A1A20-F6BA-4435-9A9B-E02727B76D79}" presName="dummy1a" presStyleCnt="0"/>
      <dgm:spPr/>
    </dgm:pt>
    <dgm:pt modelId="{8C0D875D-FF67-4014-8F4C-71DE8F1C217C}" type="pres">
      <dgm:prSet presAssocID="{353A1A20-F6BA-4435-9A9B-E02727B76D79}" presName="dummy1b" presStyleCnt="0"/>
      <dgm:spPr/>
    </dgm:pt>
    <dgm:pt modelId="{C0FA92C3-9596-42E9-B067-829B25413E8F}" type="pres">
      <dgm:prSet presAssocID="{353A1A20-F6BA-4435-9A9B-E02727B76D79}" presName="wedge1Tx" presStyleLbl="node1" presStyleIdx="0" presStyleCnt="3">
        <dgm:presLayoutVars>
          <dgm:chMax val="0"/>
          <dgm:chPref val="0"/>
          <dgm:bulletEnabled val="1"/>
        </dgm:presLayoutVars>
      </dgm:prSet>
      <dgm:spPr/>
      <dgm:t>
        <a:bodyPr/>
        <a:lstStyle/>
        <a:p>
          <a:endParaRPr lang="en-US"/>
        </a:p>
      </dgm:t>
    </dgm:pt>
    <dgm:pt modelId="{2C9D4C69-D93A-4954-8166-11B1A4C08336}" type="pres">
      <dgm:prSet presAssocID="{353A1A20-F6BA-4435-9A9B-E02727B76D79}" presName="wedge2" presStyleLbl="node1" presStyleIdx="1" presStyleCnt="3"/>
      <dgm:spPr/>
      <dgm:t>
        <a:bodyPr/>
        <a:lstStyle/>
        <a:p>
          <a:endParaRPr lang="en-US"/>
        </a:p>
      </dgm:t>
    </dgm:pt>
    <dgm:pt modelId="{D9DD0FB5-EB1A-433A-B618-D9EF711AB5EA}" type="pres">
      <dgm:prSet presAssocID="{353A1A20-F6BA-4435-9A9B-E02727B76D79}" presName="dummy2a" presStyleCnt="0"/>
      <dgm:spPr/>
    </dgm:pt>
    <dgm:pt modelId="{4D5C0675-EBB0-4185-84EC-D570F16D5B48}" type="pres">
      <dgm:prSet presAssocID="{353A1A20-F6BA-4435-9A9B-E02727B76D79}" presName="dummy2b" presStyleCnt="0"/>
      <dgm:spPr/>
    </dgm:pt>
    <dgm:pt modelId="{4406FDC6-C690-449C-BB98-524801BB94D2}" type="pres">
      <dgm:prSet presAssocID="{353A1A20-F6BA-4435-9A9B-E02727B76D79}" presName="wedge2Tx" presStyleLbl="node1" presStyleIdx="1" presStyleCnt="3">
        <dgm:presLayoutVars>
          <dgm:chMax val="0"/>
          <dgm:chPref val="0"/>
          <dgm:bulletEnabled val="1"/>
        </dgm:presLayoutVars>
      </dgm:prSet>
      <dgm:spPr/>
      <dgm:t>
        <a:bodyPr/>
        <a:lstStyle/>
        <a:p>
          <a:endParaRPr lang="en-US"/>
        </a:p>
      </dgm:t>
    </dgm:pt>
    <dgm:pt modelId="{E164D9FB-E99F-4CE6-8DB5-8D77BB0A5A65}" type="pres">
      <dgm:prSet presAssocID="{353A1A20-F6BA-4435-9A9B-E02727B76D79}" presName="wedge3" presStyleLbl="node1" presStyleIdx="2" presStyleCnt="3"/>
      <dgm:spPr/>
      <dgm:t>
        <a:bodyPr/>
        <a:lstStyle/>
        <a:p>
          <a:endParaRPr lang="en-US"/>
        </a:p>
      </dgm:t>
    </dgm:pt>
    <dgm:pt modelId="{C3BCC00A-81D7-4689-98A2-56BE6F67C7D5}" type="pres">
      <dgm:prSet presAssocID="{353A1A20-F6BA-4435-9A9B-E02727B76D79}" presName="dummy3a" presStyleCnt="0"/>
      <dgm:spPr/>
    </dgm:pt>
    <dgm:pt modelId="{D7B97813-1C4F-43E7-BB4D-B204400DA03D}" type="pres">
      <dgm:prSet presAssocID="{353A1A20-F6BA-4435-9A9B-E02727B76D79}" presName="dummy3b" presStyleCnt="0"/>
      <dgm:spPr/>
    </dgm:pt>
    <dgm:pt modelId="{5B195B57-BF48-4BEB-9801-BF0F6ECF9ABE}" type="pres">
      <dgm:prSet presAssocID="{353A1A20-F6BA-4435-9A9B-E02727B76D79}" presName="wedge3Tx" presStyleLbl="node1" presStyleIdx="2" presStyleCnt="3">
        <dgm:presLayoutVars>
          <dgm:chMax val="0"/>
          <dgm:chPref val="0"/>
          <dgm:bulletEnabled val="1"/>
        </dgm:presLayoutVars>
      </dgm:prSet>
      <dgm:spPr/>
      <dgm:t>
        <a:bodyPr/>
        <a:lstStyle/>
        <a:p>
          <a:endParaRPr lang="en-US"/>
        </a:p>
      </dgm:t>
    </dgm:pt>
    <dgm:pt modelId="{95193F77-2348-4B4C-90AE-065FF9F71495}" type="pres">
      <dgm:prSet presAssocID="{939F7B0A-FB9B-4880-A5CB-035BD12D4B83}" presName="arrowWedge1" presStyleLbl="fgSibTrans2D1" presStyleIdx="0" presStyleCnt="3"/>
      <dgm:spPr/>
    </dgm:pt>
    <dgm:pt modelId="{3C5CAFF8-5BF5-46A8-BD89-12F2F42C1065}" type="pres">
      <dgm:prSet presAssocID="{6CB857CE-0A1F-4B82-9E89-06013867047A}" presName="arrowWedge2" presStyleLbl="fgSibTrans2D1" presStyleIdx="1" presStyleCnt="3"/>
      <dgm:spPr/>
    </dgm:pt>
    <dgm:pt modelId="{2A8770DA-7602-4C56-9146-FC373C0F800D}" type="pres">
      <dgm:prSet presAssocID="{6F675D2E-CA99-4E95-B107-3D2095DF85F2}" presName="arrowWedge3" presStyleLbl="fgSibTrans2D1" presStyleIdx="2" presStyleCnt="3"/>
      <dgm:spPr/>
    </dgm:pt>
  </dgm:ptLst>
  <dgm:cxnLst>
    <dgm:cxn modelId="{23CFD45B-58A2-414D-95BD-3482D0B8AC3D}" type="presOf" srcId="{F3562A90-3575-423E-BEA2-FCA36BD50880}" destId="{5BA8B13B-8A00-4778-93DB-68800B84265F}" srcOrd="0" destOrd="0" presId="urn:microsoft.com/office/officeart/2005/8/layout/cycle8"/>
    <dgm:cxn modelId="{BFCF03BE-E05F-4FB1-B5BB-A524C7A16BC3}" srcId="{353A1A20-F6BA-4435-9A9B-E02727B76D79}" destId="{89984E49-E673-4422-9D1C-E3878FD06E5D}" srcOrd="1" destOrd="0" parTransId="{541EB9C7-7783-46BC-BDE3-996B649ED01C}" sibTransId="{6CB857CE-0A1F-4B82-9E89-06013867047A}"/>
    <dgm:cxn modelId="{902C0A5F-2258-4D7D-AB0C-592F2229B7DF}" type="presOf" srcId="{353A1A20-F6BA-4435-9A9B-E02727B76D79}" destId="{B9B269B3-707A-4C5F-A00A-8ABDF74C4D0C}" srcOrd="0" destOrd="0" presId="urn:microsoft.com/office/officeart/2005/8/layout/cycle8"/>
    <dgm:cxn modelId="{5BB47957-FAB6-417F-ABD8-7E303FB7C57F}" srcId="{353A1A20-F6BA-4435-9A9B-E02727B76D79}" destId="{F3562A90-3575-423E-BEA2-FCA36BD50880}" srcOrd="0" destOrd="0" parTransId="{6A8EB55E-EDAC-4EA6-B1A5-1166FA531CA8}" sibTransId="{939F7B0A-FB9B-4880-A5CB-035BD12D4B83}"/>
    <dgm:cxn modelId="{62729426-40C6-4498-8F4B-3316528B6E2A}" type="presOf" srcId="{F3562A90-3575-423E-BEA2-FCA36BD50880}" destId="{C0FA92C3-9596-42E9-B067-829B25413E8F}" srcOrd="1" destOrd="0" presId="urn:microsoft.com/office/officeart/2005/8/layout/cycle8"/>
    <dgm:cxn modelId="{0476F040-9F83-4573-9946-A724DD32C126}" srcId="{353A1A20-F6BA-4435-9A9B-E02727B76D79}" destId="{49CDFEF6-C56F-443F-BEE1-BC164F619E0C}" srcOrd="2" destOrd="0" parTransId="{9451B9D7-D22F-40D7-A194-0831E41C18E1}" sibTransId="{6F675D2E-CA99-4E95-B107-3D2095DF85F2}"/>
    <dgm:cxn modelId="{A23138A2-F10A-4927-9E35-8A1EBE1A0199}" type="presOf" srcId="{49CDFEF6-C56F-443F-BEE1-BC164F619E0C}" destId="{5B195B57-BF48-4BEB-9801-BF0F6ECF9ABE}" srcOrd="1" destOrd="0" presId="urn:microsoft.com/office/officeart/2005/8/layout/cycle8"/>
    <dgm:cxn modelId="{651D6F82-113B-4A0E-AF82-1327FB94A9EC}" type="presOf" srcId="{49CDFEF6-C56F-443F-BEE1-BC164F619E0C}" destId="{E164D9FB-E99F-4CE6-8DB5-8D77BB0A5A65}" srcOrd="0" destOrd="0" presId="urn:microsoft.com/office/officeart/2005/8/layout/cycle8"/>
    <dgm:cxn modelId="{93DCF65D-4176-466D-843B-C8535962E060}" type="presOf" srcId="{89984E49-E673-4422-9D1C-E3878FD06E5D}" destId="{4406FDC6-C690-449C-BB98-524801BB94D2}" srcOrd="1" destOrd="0" presId="urn:microsoft.com/office/officeart/2005/8/layout/cycle8"/>
    <dgm:cxn modelId="{3192D0DD-13BA-440F-82C7-EDA2D05DA724}" type="presOf" srcId="{89984E49-E673-4422-9D1C-E3878FD06E5D}" destId="{2C9D4C69-D93A-4954-8166-11B1A4C08336}" srcOrd="0" destOrd="0" presId="urn:microsoft.com/office/officeart/2005/8/layout/cycle8"/>
    <dgm:cxn modelId="{97D1B9CA-F1A5-4D08-8DDD-26B282333420}" type="presParOf" srcId="{B9B269B3-707A-4C5F-A00A-8ABDF74C4D0C}" destId="{5BA8B13B-8A00-4778-93DB-68800B84265F}" srcOrd="0" destOrd="0" presId="urn:microsoft.com/office/officeart/2005/8/layout/cycle8"/>
    <dgm:cxn modelId="{23449305-C62F-446E-91CD-F88053F00E1A}" type="presParOf" srcId="{B9B269B3-707A-4C5F-A00A-8ABDF74C4D0C}" destId="{7712341F-9159-42D5-BA10-15ACAF694CD9}" srcOrd="1" destOrd="0" presId="urn:microsoft.com/office/officeart/2005/8/layout/cycle8"/>
    <dgm:cxn modelId="{7AE85408-89EB-4013-A5F6-AEB334202DE8}" type="presParOf" srcId="{B9B269B3-707A-4C5F-A00A-8ABDF74C4D0C}" destId="{8C0D875D-FF67-4014-8F4C-71DE8F1C217C}" srcOrd="2" destOrd="0" presId="urn:microsoft.com/office/officeart/2005/8/layout/cycle8"/>
    <dgm:cxn modelId="{753459CD-1924-4CDC-9B9F-730FA1F2ADB4}" type="presParOf" srcId="{B9B269B3-707A-4C5F-A00A-8ABDF74C4D0C}" destId="{C0FA92C3-9596-42E9-B067-829B25413E8F}" srcOrd="3" destOrd="0" presId="urn:microsoft.com/office/officeart/2005/8/layout/cycle8"/>
    <dgm:cxn modelId="{670E8CF3-C1F4-4C55-A374-5ACF2E1D4AA7}" type="presParOf" srcId="{B9B269B3-707A-4C5F-A00A-8ABDF74C4D0C}" destId="{2C9D4C69-D93A-4954-8166-11B1A4C08336}" srcOrd="4" destOrd="0" presId="urn:microsoft.com/office/officeart/2005/8/layout/cycle8"/>
    <dgm:cxn modelId="{29D834CA-7B51-4DF0-92E6-4A5F5C0CE4E6}" type="presParOf" srcId="{B9B269B3-707A-4C5F-A00A-8ABDF74C4D0C}" destId="{D9DD0FB5-EB1A-433A-B618-D9EF711AB5EA}" srcOrd="5" destOrd="0" presId="urn:microsoft.com/office/officeart/2005/8/layout/cycle8"/>
    <dgm:cxn modelId="{131288C1-1091-485B-A99A-363B90A79F85}" type="presParOf" srcId="{B9B269B3-707A-4C5F-A00A-8ABDF74C4D0C}" destId="{4D5C0675-EBB0-4185-84EC-D570F16D5B48}" srcOrd="6" destOrd="0" presId="urn:microsoft.com/office/officeart/2005/8/layout/cycle8"/>
    <dgm:cxn modelId="{FC454A46-2136-401A-B6CD-95835EE240E6}" type="presParOf" srcId="{B9B269B3-707A-4C5F-A00A-8ABDF74C4D0C}" destId="{4406FDC6-C690-449C-BB98-524801BB94D2}" srcOrd="7" destOrd="0" presId="urn:microsoft.com/office/officeart/2005/8/layout/cycle8"/>
    <dgm:cxn modelId="{C266FF01-F3E3-4EE3-92C1-A3C2873C70DC}" type="presParOf" srcId="{B9B269B3-707A-4C5F-A00A-8ABDF74C4D0C}" destId="{E164D9FB-E99F-4CE6-8DB5-8D77BB0A5A65}" srcOrd="8" destOrd="0" presId="urn:microsoft.com/office/officeart/2005/8/layout/cycle8"/>
    <dgm:cxn modelId="{D5A6CF08-A1C1-4C8D-B646-F435224D47B0}" type="presParOf" srcId="{B9B269B3-707A-4C5F-A00A-8ABDF74C4D0C}" destId="{C3BCC00A-81D7-4689-98A2-56BE6F67C7D5}" srcOrd="9" destOrd="0" presId="urn:microsoft.com/office/officeart/2005/8/layout/cycle8"/>
    <dgm:cxn modelId="{89253E10-E6C5-4DBA-91FE-F9CDC3F31B48}" type="presParOf" srcId="{B9B269B3-707A-4C5F-A00A-8ABDF74C4D0C}" destId="{D7B97813-1C4F-43E7-BB4D-B204400DA03D}" srcOrd="10" destOrd="0" presId="urn:microsoft.com/office/officeart/2005/8/layout/cycle8"/>
    <dgm:cxn modelId="{F74C10BF-E71A-4C3D-8DA3-F39E38C6AC7B}" type="presParOf" srcId="{B9B269B3-707A-4C5F-A00A-8ABDF74C4D0C}" destId="{5B195B57-BF48-4BEB-9801-BF0F6ECF9ABE}" srcOrd="11" destOrd="0" presId="urn:microsoft.com/office/officeart/2005/8/layout/cycle8"/>
    <dgm:cxn modelId="{E86E2642-AC4C-4994-B858-F9CC7629B4D8}" type="presParOf" srcId="{B9B269B3-707A-4C5F-A00A-8ABDF74C4D0C}" destId="{95193F77-2348-4B4C-90AE-065FF9F71495}" srcOrd="12" destOrd="0" presId="urn:microsoft.com/office/officeart/2005/8/layout/cycle8"/>
    <dgm:cxn modelId="{2CC6DA2D-B983-44D9-B3C6-7647552ACBB4}" type="presParOf" srcId="{B9B269B3-707A-4C5F-A00A-8ABDF74C4D0C}" destId="{3C5CAFF8-5BF5-46A8-BD89-12F2F42C1065}" srcOrd="13" destOrd="0" presId="urn:microsoft.com/office/officeart/2005/8/layout/cycle8"/>
    <dgm:cxn modelId="{669B4556-09A4-41F7-AE27-1131A0458093}" type="presParOf" srcId="{B9B269B3-707A-4C5F-A00A-8ABDF74C4D0C}" destId="{2A8770DA-7602-4C56-9146-FC373C0F800D}"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A8B13B-8A00-4778-93DB-68800B84265F}">
      <dsp:nvSpPr>
        <dsp:cNvPr id="0" name=""/>
        <dsp:cNvSpPr/>
      </dsp:nvSpPr>
      <dsp:spPr>
        <a:xfrm>
          <a:off x="1571538" y="304233"/>
          <a:ext cx="3931636" cy="3931636"/>
        </a:xfrm>
        <a:prstGeom prst="pie">
          <a:avLst>
            <a:gd name="adj1" fmla="val 162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smtClean="0"/>
            <a:t>Information Protection Standards</a:t>
          </a:r>
          <a:endParaRPr lang="en-US" sz="1800" kern="1200" dirty="0"/>
        </a:p>
      </dsp:txBody>
      <dsp:txXfrm>
        <a:off x="3643604" y="1137366"/>
        <a:ext cx="1404156" cy="1170130"/>
      </dsp:txXfrm>
    </dsp:sp>
    <dsp:sp modelId="{2C9D4C69-D93A-4954-8166-11B1A4C08336}">
      <dsp:nvSpPr>
        <dsp:cNvPr id="0" name=""/>
        <dsp:cNvSpPr/>
      </dsp:nvSpPr>
      <dsp:spPr>
        <a:xfrm>
          <a:off x="1490565" y="444649"/>
          <a:ext cx="3931636" cy="3931636"/>
        </a:xfrm>
        <a:prstGeom prst="pie">
          <a:avLst>
            <a:gd name="adj1" fmla="val 18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smtClean="0"/>
            <a:t>Data Sharing Across business units  / Capitated Provider</a:t>
          </a:r>
          <a:endParaRPr lang="en-US" sz="1800" kern="1200" dirty="0"/>
        </a:p>
      </dsp:txBody>
      <dsp:txXfrm>
        <a:off x="2426669" y="2995532"/>
        <a:ext cx="2106234" cy="1029714"/>
      </dsp:txXfrm>
    </dsp:sp>
    <dsp:sp modelId="{E164D9FB-E99F-4CE6-8DB5-8D77BB0A5A65}">
      <dsp:nvSpPr>
        <dsp:cNvPr id="0" name=""/>
        <dsp:cNvSpPr/>
      </dsp:nvSpPr>
      <dsp:spPr>
        <a:xfrm>
          <a:off x="1409592" y="304233"/>
          <a:ext cx="3931636" cy="3931636"/>
        </a:xfrm>
        <a:prstGeom prst="pie">
          <a:avLst>
            <a:gd name="adj1" fmla="val 90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smtClean="0"/>
            <a:t>Data Classification &amp; Segmentation</a:t>
          </a:r>
          <a:endParaRPr lang="en-US" sz="1800" kern="1200" dirty="0"/>
        </a:p>
      </dsp:txBody>
      <dsp:txXfrm>
        <a:off x="1865007" y="1137366"/>
        <a:ext cx="1404156" cy="1170130"/>
      </dsp:txXfrm>
    </dsp:sp>
    <dsp:sp modelId="{95193F77-2348-4B4C-90AE-065FF9F71495}">
      <dsp:nvSpPr>
        <dsp:cNvPr id="0" name=""/>
        <dsp:cNvSpPr/>
      </dsp:nvSpPr>
      <dsp:spPr>
        <a:xfrm>
          <a:off x="1328476" y="60846"/>
          <a:ext cx="4418410" cy="4418410"/>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5CAFF8-5BF5-46A8-BD89-12F2F42C1065}">
      <dsp:nvSpPr>
        <dsp:cNvPr id="0" name=""/>
        <dsp:cNvSpPr/>
      </dsp:nvSpPr>
      <dsp:spPr>
        <a:xfrm>
          <a:off x="1247178" y="201013"/>
          <a:ext cx="4418410" cy="4418410"/>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A8770DA-7602-4C56-9146-FC373C0F800D}">
      <dsp:nvSpPr>
        <dsp:cNvPr id="0" name=""/>
        <dsp:cNvSpPr/>
      </dsp:nvSpPr>
      <dsp:spPr>
        <a:xfrm>
          <a:off x="1165881" y="60846"/>
          <a:ext cx="4418410" cy="4418410"/>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C89FDF-81FA-414C-B800-23EC04F38790}" type="datetimeFigureOut">
              <a:rPr lang="en-US" smtClean="0"/>
              <a:t>2/1/2019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4581E0-517F-4BA0-9D2C-26F1D294F161}" type="slidenum">
              <a:rPr lang="en-US" smtClean="0"/>
              <a:t>‹#›</a:t>
            </a:fld>
            <a:endParaRPr lang="en-US" dirty="0"/>
          </a:p>
        </p:txBody>
      </p:sp>
    </p:spTree>
    <p:extLst>
      <p:ext uri="{BB962C8B-B14F-4D97-AF65-F5344CB8AC3E}">
        <p14:creationId xmlns:p14="http://schemas.microsoft.com/office/powerpoint/2010/main" val="2431440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3FCE4C0-1175-4F38-90ED-AE7A39817694}" type="slidenum">
              <a:rPr lang="en-US" smtClean="0"/>
              <a:t>1</a:t>
            </a:fld>
            <a:endParaRPr lang="en-US" dirty="0"/>
          </a:p>
        </p:txBody>
      </p:sp>
    </p:spTree>
    <p:extLst>
      <p:ext uri="{BB962C8B-B14F-4D97-AF65-F5344CB8AC3E}">
        <p14:creationId xmlns:p14="http://schemas.microsoft.com/office/powerpoint/2010/main" val="2445072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9232" y="1676400"/>
            <a:ext cx="7772400" cy="1470025"/>
          </a:xfrm>
        </p:spPr>
        <p:txBody>
          <a:bodyPr>
            <a:normAutofit/>
          </a:bodyPr>
          <a:lstStyle>
            <a:lvl1pPr algn="l">
              <a:defRPr sz="4000" b="0">
                <a:solidFill>
                  <a:schemeClr val="tx1">
                    <a:lumMod val="75000"/>
                    <a:lumOff val="25000"/>
                  </a:schemeClr>
                </a:solidFill>
              </a:defRPr>
            </a:lvl1pPr>
          </a:lstStyle>
          <a:p>
            <a:r>
              <a:rPr lang="en-US" dirty="0"/>
              <a:t>Click to add Master title style</a:t>
            </a:r>
          </a:p>
        </p:txBody>
      </p:sp>
      <p:sp>
        <p:nvSpPr>
          <p:cNvPr id="3" name="Subtitle 2"/>
          <p:cNvSpPr>
            <a:spLocks noGrp="1"/>
          </p:cNvSpPr>
          <p:nvPr>
            <p:ph type="subTitle" idx="1" hasCustomPrompt="1"/>
          </p:nvPr>
        </p:nvSpPr>
        <p:spPr>
          <a:xfrm>
            <a:off x="469231" y="3552770"/>
            <a:ext cx="8001001" cy="1358286"/>
          </a:xfrm>
        </p:spPr>
        <p:txBody>
          <a:bodyPr>
            <a:normAutofit/>
          </a:bodyPr>
          <a:lstStyle>
            <a:lvl1pPr marL="0" indent="0" algn="l">
              <a:buNone/>
              <a:defRPr sz="2000" baseline="0">
                <a:solidFill>
                  <a:schemeClr val="tx1">
                    <a:lumMod val="75000"/>
                    <a:lumOff val="2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Master subtitle, month &amp; year style</a:t>
            </a:r>
          </a:p>
        </p:txBody>
      </p:sp>
      <p:pic>
        <p:nvPicPr>
          <p:cNvPr id="6" name="Picture 5" descr="CT_logo_sml.jpg"/>
          <p:cNvPicPr>
            <a:picLocks noChangeAspect="1"/>
          </p:cNvPicPr>
          <p:nvPr userDrawn="1"/>
        </p:nvPicPr>
        <p:blipFill>
          <a:blip r:embed="rId2" cstate="print"/>
          <a:stretch>
            <a:fillRect/>
          </a:stretch>
        </p:blipFill>
        <p:spPr>
          <a:xfrm>
            <a:off x="244935" y="638174"/>
            <a:ext cx="3129219" cy="519172"/>
          </a:xfrm>
          <a:prstGeom prst="rect">
            <a:avLst/>
          </a:prstGeom>
        </p:spPr>
      </p:pic>
    </p:spTree>
    <p:extLst>
      <p:ext uri="{BB962C8B-B14F-4D97-AF65-F5344CB8AC3E}">
        <p14:creationId xmlns:p14="http://schemas.microsoft.com/office/powerpoint/2010/main" val="157453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2" name="Title 1"/>
          <p:cNvSpPr>
            <a:spLocks noGrp="1"/>
          </p:cNvSpPr>
          <p:nvPr>
            <p:ph type="title"/>
          </p:nvPr>
        </p:nvSpPr>
        <p:spPr>
          <a:xfrm>
            <a:off x="276720" y="152400"/>
            <a:ext cx="8562480" cy="576000"/>
          </a:xfrm>
        </p:spPr>
        <p:txBody>
          <a:bodyPr>
            <a:noAutofit/>
          </a:bodyPr>
          <a:lstStyle>
            <a:lvl1pPr algn="l">
              <a:defRPr sz="2600" b="1">
                <a:solidFill>
                  <a:schemeClr val="tx1">
                    <a:lumMod val="75000"/>
                    <a:lumOff val="25000"/>
                  </a:schemeClr>
                </a:solidFill>
              </a:defRPr>
            </a:lvl1pPr>
          </a:lstStyle>
          <a:p>
            <a:r>
              <a:rPr lang="en-US" dirty="0"/>
              <a:t>Click to edit Master title style</a:t>
            </a:r>
          </a:p>
        </p:txBody>
      </p:sp>
      <p:sp>
        <p:nvSpPr>
          <p:cNvPr id="4" name="Text Placeholder 3"/>
          <p:cNvSpPr>
            <a:spLocks noGrp="1"/>
          </p:cNvSpPr>
          <p:nvPr>
            <p:ph type="body" sz="quarter" idx="10"/>
          </p:nvPr>
        </p:nvSpPr>
        <p:spPr>
          <a:xfrm>
            <a:off x="304800" y="1143000"/>
            <a:ext cx="8534400" cy="5105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lide Number Placeholder 5"/>
          <p:cNvSpPr txBox="1">
            <a:spLocks/>
          </p:cNvSpPr>
          <p:nvPr userDrawn="1"/>
        </p:nvSpPr>
        <p:spPr>
          <a:xfrm>
            <a:off x="8458200" y="6477000"/>
            <a:ext cx="457200" cy="276999"/>
          </a:xfrm>
          <a:prstGeom prst="rect">
            <a:avLst/>
          </a:prstGeom>
          <a:noFill/>
        </p:spPr>
        <p:txBody>
          <a:bodyPr wrap="square" rtlCol="0">
            <a:spAutoFit/>
          </a:bodyPr>
          <a:lstStyle>
            <a:defPPr>
              <a:defRPr lang="en-US"/>
            </a:defPPr>
            <a:lvl1pPr marL="0" algn="ctr" defTabSz="914400" rtl="0" eaLnBrk="1" latinLnBrk="0" hangingPunct="1">
              <a:defRPr lang="en-US" sz="1800" kern="1200" smtClean="0">
                <a:solidFill>
                  <a:schemeClr val="bg1"/>
                </a:solidFill>
                <a:latin typeface="Tahoma" pitchFamily="34" charset="0"/>
                <a:ea typeface="Tahoma" pitchFamily="34" charset="0"/>
                <a:cs typeface="Tahoma"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55907C-1FC8-4769-9F75-D6A065F12B7F}" type="slidenum">
              <a:rPr lang="en-IN" sz="1200">
                <a:solidFill>
                  <a:prstClr val="black">
                    <a:lumMod val="65000"/>
                    <a:lumOff val="35000"/>
                  </a:prstClr>
                </a:solidFill>
              </a:rPr>
              <a:pPr/>
              <a:t>‹#›</a:t>
            </a:fld>
            <a:endParaRPr lang="en-IN" sz="1200" dirty="0">
              <a:solidFill>
                <a:prstClr val="black">
                  <a:lumMod val="65000"/>
                  <a:lumOff val="35000"/>
                </a:prstClr>
              </a:solidFill>
            </a:endParaRP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36561" y="6531591"/>
            <a:ext cx="1825563" cy="239418"/>
          </a:xfrm>
          <a:prstGeom prst="rect">
            <a:avLst/>
          </a:prstGeom>
        </p:spPr>
      </p:pic>
      <p:cxnSp>
        <p:nvCxnSpPr>
          <p:cNvPr id="9" name="Straight Connector 8"/>
          <p:cNvCxnSpPr/>
          <p:nvPr userDrawn="1"/>
        </p:nvCxnSpPr>
        <p:spPr>
          <a:xfrm>
            <a:off x="2126054" y="6742066"/>
            <a:ext cx="633214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243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138210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8" cy="6857998"/>
          </a:xfrm>
          <a:prstGeom prst="rect">
            <a:avLst/>
          </a:prstGeom>
          <a:blipFill>
            <a:blip r:embed="rId2" cstate="print"/>
            <a:stretch>
              <a:fillRect/>
            </a:stretch>
          </a:blipFill>
        </p:spPr>
        <p:txBody>
          <a:bodyPr wrap="square" lIns="0" tIns="0" rIns="0" bIns="0" rtlCol="0"/>
          <a:lstStyle/>
          <a:p>
            <a:endParaRPr dirty="0">
              <a:solidFill>
                <a:prstClr val="black"/>
              </a:solidFill>
            </a:endParaRPr>
          </a:p>
        </p:txBody>
      </p:sp>
      <p:sp>
        <p:nvSpPr>
          <p:cNvPr id="17" name="bk object 17"/>
          <p:cNvSpPr/>
          <p:nvPr/>
        </p:nvSpPr>
        <p:spPr>
          <a:xfrm>
            <a:off x="236562" y="6531588"/>
            <a:ext cx="1825625" cy="239420"/>
          </a:xfrm>
          <a:prstGeom prst="rect">
            <a:avLst/>
          </a:prstGeom>
          <a:blipFill>
            <a:blip r:embed="rId3" cstate="print"/>
            <a:stretch>
              <a:fillRect/>
            </a:stretch>
          </a:blipFill>
        </p:spPr>
        <p:txBody>
          <a:bodyPr wrap="square" lIns="0" tIns="0" rIns="0" bIns="0" rtlCol="0"/>
          <a:lstStyle/>
          <a:p>
            <a:endParaRPr dirty="0">
              <a:solidFill>
                <a:prstClr val="black"/>
              </a:solidFill>
            </a:endParaRPr>
          </a:p>
        </p:txBody>
      </p:sp>
      <p:sp>
        <p:nvSpPr>
          <p:cNvPr id="18" name="bk object 18"/>
          <p:cNvSpPr/>
          <p:nvPr/>
        </p:nvSpPr>
        <p:spPr>
          <a:xfrm>
            <a:off x="2126107" y="6742065"/>
            <a:ext cx="6332220" cy="0"/>
          </a:xfrm>
          <a:custGeom>
            <a:avLst/>
            <a:gdLst/>
            <a:ahLst/>
            <a:cxnLst/>
            <a:rect l="l" t="t" r="r" b="b"/>
            <a:pathLst>
              <a:path w="6332220">
                <a:moveTo>
                  <a:pt x="0" y="0"/>
                </a:moveTo>
                <a:lnTo>
                  <a:pt x="6332093" y="0"/>
                </a:lnTo>
              </a:path>
            </a:pathLst>
          </a:custGeom>
          <a:ln w="9525">
            <a:solidFill>
              <a:srgbClr val="A6A6A6"/>
            </a:solidFill>
          </a:ln>
        </p:spPr>
        <p:txBody>
          <a:bodyPr wrap="square" lIns="0" tIns="0" rIns="0" bIns="0" rtlCol="0"/>
          <a:lstStyle/>
          <a:p>
            <a:endParaRPr dirty="0">
              <a:solidFill>
                <a:prstClr val="black"/>
              </a:solidFill>
            </a:endParaRPr>
          </a:p>
        </p:txBody>
      </p:sp>
      <p:sp>
        <p:nvSpPr>
          <p:cNvPr id="2" name="Holder 2"/>
          <p:cNvSpPr>
            <a:spLocks noGrp="1"/>
          </p:cNvSpPr>
          <p:nvPr>
            <p:ph type="title"/>
          </p:nvPr>
        </p:nvSpPr>
        <p:spPr/>
        <p:txBody>
          <a:bodyPr lIns="0" tIns="0" rIns="0" bIns="0"/>
          <a:lstStyle>
            <a:lvl1pPr>
              <a:defRPr sz="2600" b="1" i="0">
                <a:solidFill>
                  <a:srgbClr val="40404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05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3223262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8" cy="6857998"/>
          </a:xfrm>
          <a:prstGeom prst="rect">
            <a:avLst/>
          </a:prstGeom>
          <a:blipFill>
            <a:blip r:embed="rId2" cstate="print"/>
            <a:stretch>
              <a:fillRect/>
            </a:stretch>
          </a:blipFill>
        </p:spPr>
        <p:txBody>
          <a:bodyPr wrap="square" lIns="0" tIns="0" rIns="0" bIns="0" rtlCol="0"/>
          <a:lstStyle/>
          <a:p>
            <a:endParaRPr dirty="0">
              <a:solidFill>
                <a:prstClr val="black"/>
              </a:solidFill>
            </a:endParaRPr>
          </a:p>
        </p:txBody>
      </p:sp>
      <p:sp>
        <p:nvSpPr>
          <p:cNvPr id="17" name="bk object 17"/>
          <p:cNvSpPr/>
          <p:nvPr/>
        </p:nvSpPr>
        <p:spPr>
          <a:xfrm>
            <a:off x="236562" y="6531588"/>
            <a:ext cx="1825625" cy="239420"/>
          </a:xfrm>
          <a:prstGeom prst="rect">
            <a:avLst/>
          </a:prstGeom>
          <a:blipFill>
            <a:blip r:embed="rId3" cstate="print"/>
            <a:stretch>
              <a:fillRect/>
            </a:stretch>
          </a:blipFill>
        </p:spPr>
        <p:txBody>
          <a:bodyPr wrap="square" lIns="0" tIns="0" rIns="0" bIns="0" rtlCol="0"/>
          <a:lstStyle/>
          <a:p>
            <a:endParaRPr dirty="0">
              <a:solidFill>
                <a:prstClr val="black"/>
              </a:solidFill>
            </a:endParaRPr>
          </a:p>
        </p:txBody>
      </p:sp>
      <p:sp>
        <p:nvSpPr>
          <p:cNvPr id="18" name="bk object 18"/>
          <p:cNvSpPr/>
          <p:nvPr/>
        </p:nvSpPr>
        <p:spPr>
          <a:xfrm>
            <a:off x="2126107" y="6742065"/>
            <a:ext cx="6332220" cy="0"/>
          </a:xfrm>
          <a:custGeom>
            <a:avLst/>
            <a:gdLst/>
            <a:ahLst/>
            <a:cxnLst/>
            <a:rect l="l" t="t" r="r" b="b"/>
            <a:pathLst>
              <a:path w="6332220">
                <a:moveTo>
                  <a:pt x="0" y="0"/>
                </a:moveTo>
                <a:lnTo>
                  <a:pt x="6332093" y="0"/>
                </a:lnTo>
              </a:path>
            </a:pathLst>
          </a:custGeom>
          <a:ln w="9525">
            <a:solidFill>
              <a:srgbClr val="A6A6A6"/>
            </a:solidFill>
          </a:ln>
        </p:spPr>
        <p:txBody>
          <a:bodyPr wrap="square" lIns="0" tIns="0" rIns="0" bIns="0" rtlCol="0"/>
          <a:lstStyle/>
          <a:p>
            <a:endParaRPr dirty="0">
              <a:solidFill>
                <a:prstClr val="black"/>
              </a:solidFill>
            </a:endParaRPr>
          </a:p>
        </p:txBody>
      </p:sp>
      <p:sp>
        <p:nvSpPr>
          <p:cNvPr id="2" name="Holder 2"/>
          <p:cNvSpPr>
            <a:spLocks noGrp="1"/>
          </p:cNvSpPr>
          <p:nvPr>
            <p:ph type="title"/>
          </p:nvPr>
        </p:nvSpPr>
        <p:spPr/>
        <p:txBody>
          <a:bodyPr lIns="0" tIns="0" rIns="0" bIns="0"/>
          <a:lstStyle>
            <a:lvl1pPr>
              <a:defRPr sz="2600" b="1" i="0">
                <a:solidFill>
                  <a:srgbClr val="404040"/>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7" name="Holder 7"/>
          <p:cNvSpPr>
            <a:spLocks noGrp="1"/>
          </p:cNvSpPr>
          <p:nvPr>
            <p:ph type="sldNum" sz="quarter" idx="7"/>
          </p:nvPr>
        </p:nvSpPr>
        <p:spPr/>
        <p:txBody>
          <a:bodyPr lIns="0" tIns="0" rIns="0" bIns="0"/>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4225401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600" b="1" i="0">
                <a:solidFill>
                  <a:srgbClr val="40404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5" name="Holder 5"/>
          <p:cNvSpPr>
            <a:spLocks noGrp="1"/>
          </p:cNvSpPr>
          <p:nvPr>
            <p:ph type="sldNum" sz="quarter" idx="7"/>
          </p:nvPr>
        </p:nvSpPr>
        <p:spPr/>
        <p:txBody>
          <a:bodyPr lIns="0" tIns="0" rIns="0" bIns="0"/>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2344566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244932" y="638175"/>
            <a:ext cx="3129280" cy="519175"/>
          </a:xfrm>
          <a:prstGeom prst="rect">
            <a:avLst/>
          </a:prstGeom>
          <a:blipFill>
            <a:blip r:embed="rId2" cstate="print"/>
            <a:stretch>
              <a:fillRect/>
            </a:stretch>
          </a:blipFill>
        </p:spPr>
        <p:txBody>
          <a:bodyPr wrap="square" lIns="0" tIns="0" rIns="0" bIns="0" rtlCol="0"/>
          <a:lstStyle/>
          <a:p>
            <a:endParaRPr dirty="0">
              <a:solidFill>
                <a:prstClr val="black"/>
              </a:solidFill>
            </a:endParaRPr>
          </a:p>
        </p:txBody>
      </p:sp>
      <p:sp>
        <p:nvSpPr>
          <p:cNvPr id="17" name="bk object 17"/>
          <p:cNvSpPr/>
          <p:nvPr/>
        </p:nvSpPr>
        <p:spPr>
          <a:xfrm>
            <a:off x="184327" y="1600200"/>
            <a:ext cx="8776843" cy="3657600"/>
          </a:xfrm>
          <a:prstGeom prst="rect">
            <a:avLst/>
          </a:prstGeom>
          <a:blipFill>
            <a:blip r:embed="rId3" cstate="print"/>
            <a:stretch>
              <a:fillRect/>
            </a:stretch>
          </a:blipFill>
        </p:spPr>
        <p:txBody>
          <a:bodyPr wrap="square" lIns="0" tIns="0" rIns="0" bIns="0" rtlCol="0"/>
          <a:lstStyle/>
          <a:p>
            <a:endParaRPr dirty="0">
              <a:solidFill>
                <a:prstClr val="black"/>
              </a:solidFill>
            </a:endParaRPr>
          </a:p>
        </p:txBody>
      </p:sp>
      <p:sp>
        <p:nvSpPr>
          <p:cNvPr id="18" name="bk object 18"/>
          <p:cNvSpPr/>
          <p:nvPr/>
        </p:nvSpPr>
        <p:spPr>
          <a:xfrm>
            <a:off x="88696" y="3549650"/>
            <a:ext cx="8122920" cy="1367155"/>
          </a:xfrm>
          <a:custGeom>
            <a:avLst/>
            <a:gdLst/>
            <a:ahLst/>
            <a:cxnLst/>
            <a:rect l="l" t="t" r="r" b="b"/>
            <a:pathLst>
              <a:path w="8122920" h="1367154">
                <a:moveTo>
                  <a:pt x="0" y="1366901"/>
                </a:moveTo>
                <a:lnTo>
                  <a:pt x="8122793" y="1366901"/>
                </a:lnTo>
                <a:lnTo>
                  <a:pt x="8122793" y="0"/>
                </a:lnTo>
                <a:lnTo>
                  <a:pt x="0" y="0"/>
                </a:lnTo>
                <a:lnTo>
                  <a:pt x="0" y="1366901"/>
                </a:lnTo>
                <a:close/>
              </a:path>
            </a:pathLst>
          </a:custGeom>
          <a:solidFill>
            <a:srgbClr val="244060">
              <a:alpha val="79998"/>
            </a:srgbClr>
          </a:solidFill>
        </p:spPr>
        <p:txBody>
          <a:bodyPr wrap="square" lIns="0" tIns="0" rIns="0" bIns="0" rtlCol="0"/>
          <a:lstStyle/>
          <a:p>
            <a:endParaRPr dirty="0">
              <a:solidFill>
                <a:prstClr val="black"/>
              </a:solidFill>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4" name="Holder 4"/>
          <p:cNvSpPr>
            <a:spLocks noGrp="1"/>
          </p:cNvSpPr>
          <p:nvPr>
            <p:ph type="sldNum" sz="quarter" idx="7"/>
          </p:nvPr>
        </p:nvSpPr>
        <p:spPr/>
        <p:txBody>
          <a:bodyPr lIns="0" tIns="0" rIns="0" bIns="0"/>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376351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6858000"/>
          </a:xfrm>
          <a:prstGeom prst="rect">
            <a:avLst/>
          </a:prstGeom>
        </p:spPr>
      </p:pic>
      <p:sp>
        <p:nvSpPr>
          <p:cNvPr id="2" name="Title 1"/>
          <p:cNvSpPr>
            <a:spLocks noGrp="1"/>
          </p:cNvSpPr>
          <p:nvPr>
            <p:ph type="title"/>
          </p:nvPr>
        </p:nvSpPr>
        <p:spPr>
          <a:xfrm>
            <a:off x="276720" y="152400"/>
            <a:ext cx="8562480" cy="576000"/>
          </a:xfrm>
        </p:spPr>
        <p:txBody>
          <a:bodyPr>
            <a:noAutofit/>
          </a:bodyPr>
          <a:lstStyle>
            <a:lvl1pPr algn="l">
              <a:defRPr sz="2600" b="1">
                <a:solidFill>
                  <a:schemeClr val="tx1">
                    <a:lumMod val="75000"/>
                    <a:lumOff val="25000"/>
                  </a:schemeClr>
                </a:solidFill>
              </a:defRPr>
            </a:lvl1pPr>
          </a:lstStyle>
          <a:p>
            <a:r>
              <a:rPr lang="en-US" dirty="0"/>
              <a:t>Click to edit Master title style</a:t>
            </a:r>
          </a:p>
        </p:txBody>
      </p:sp>
      <p:sp>
        <p:nvSpPr>
          <p:cNvPr id="4" name="Text Placeholder 3"/>
          <p:cNvSpPr>
            <a:spLocks noGrp="1"/>
          </p:cNvSpPr>
          <p:nvPr>
            <p:ph type="body" sz="quarter" idx="10"/>
          </p:nvPr>
        </p:nvSpPr>
        <p:spPr>
          <a:xfrm>
            <a:off x="304800" y="1143000"/>
            <a:ext cx="8534400" cy="5105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lide Number Placeholder 5"/>
          <p:cNvSpPr txBox="1">
            <a:spLocks/>
          </p:cNvSpPr>
          <p:nvPr userDrawn="1"/>
        </p:nvSpPr>
        <p:spPr>
          <a:xfrm>
            <a:off x="8458200" y="6477000"/>
            <a:ext cx="457200" cy="276999"/>
          </a:xfrm>
          <a:prstGeom prst="rect">
            <a:avLst/>
          </a:prstGeom>
          <a:noFill/>
        </p:spPr>
        <p:txBody>
          <a:bodyPr wrap="square" rtlCol="0">
            <a:spAutoFit/>
          </a:bodyPr>
          <a:lstStyle>
            <a:defPPr>
              <a:defRPr lang="en-US"/>
            </a:defPPr>
            <a:lvl1pPr marL="0" algn="ctr" defTabSz="914400" rtl="0" eaLnBrk="1" latinLnBrk="0" hangingPunct="1">
              <a:defRPr lang="en-US" sz="1800" kern="1200" smtClean="0">
                <a:solidFill>
                  <a:schemeClr val="bg1"/>
                </a:solidFill>
                <a:latin typeface="Tahoma" pitchFamily="34" charset="0"/>
                <a:ea typeface="Tahoma" pitchFamily="34" charset="0"/>
                <a:cs typeface="Tahoma"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055907C-1FC8-4769-9F75-D6A065F12B7F}" type="slidenum">
              <a:rPr lang="en-IN" sz="1200">
                <a:solidFill>
                  <a:prstClr val="black">
                    <a:lumMod val="65000"/>
                    <a:lumOff val="35000"/>
                  </a:prstClr>
                </a:solidFill>
              </a:rPr>
              <a:pPr/>
              <a:t>‹#›</a:t>
            </a:fld>
            <a:endParaRPr lang="en-IN" sz="1200" dirty="0">
              <a:solidFill>
                <a:prstClr val="black">
                  <a:lumMod val="65000"/>
                  <a:lumOff val="35000"/>
                </a:prstClr>
              </a:solidFill>
            </a:endParaRP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36561" y="6531591"/>
            <a:ext cx="1825563" cy="239418"/>
          </a:xfrm>
          <a:prstGeom prst="rect">
            <a:avLst/>
          </a:prstGeom>
        </p:spPr>
      </p:pic>
      <p:cxnSp>
        <p:nvCxnSpPr>
          <p:cNvPr id="9" name="Straight Connector 8"/>
          <p:cNvCxnSpPr/>
          <p:nvPr userDrawn="1"/>
        </p:nvCxnSpPr>
        <p:spPr>
          <a:xfrm>
            <a:off x="2126054" y="6742066"/>
            <a:ext cx="633214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1154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6720" y="106362"/>
            <a:ext cx="8410080" cy="5794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04800" y="1066800"/>
            <a:ext cx="8382000" cy="5059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68127961"/>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spcBef>
          <a:spcPct val="0"/>
        </a:spcBef>
        <a:buNone/>
        <a:defRPr sz="3200" b="1" kern="1200">
          <a:solidFill>
            <a:schemeClr val="tx1">
              <a:lumMod val="75000"/>
              <a:lumOff val="25000"/>
            </a:schemeClr>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
        <a:defRPr sz="2400" kern="1200">
          <a:solidFill>
            <a:schemeClr val="tx1">
              <a:lumMod val="75000"/>
              <a:lumOff val="2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lumMod val="75000"/>
              <a:lumOff val="25000"/>
            </a:schemeClr>
          </a:solidFill>
          <a:latin typeface="+mn-lt"/>
          <a:ea typeface="+mn-ea"/>
          <a:cs typeface="+mn-cs"/>
        </a:defRPr>
      </a:lvl2pPr>
      <a:lvl3pPr marL="1143000" indent="-228600" algn="l" defTabSz="914400" rtl="0" eaLnBrk="1" latinLnBrk="0" hangingPunct="1">
        <a:spcBef>
          <a:spcPct val="20000"/>
        </a:spcBef>
        <a:buFont typeface="Courier New" pitchFamily="49" charset="0"/>
        <a:buChar char="o"/>
        <a:defRPr sz="1800" kern="1200">
          <a:solidFill>
            <a:schemeClr val="tx1">
              <a:lumMod val="75000"/>
              <a:lumOff val="2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3998" cy="6857998"/>
          </a:xfrm>
          <a:prstGeom prst="rect">
            <a:avLst/>
          </a:prstGeom>
          <a:blipFill>
            <a:blip r:embed="rId8" cstate="print"/>
            <a:stretch>
              <a:fillRect/>
            </a:stretch>
          </a:blipFill>
        </p:spPr>
        <p:txBody>
          <a:bodyPr wrap="square" lIns="0" tIns="0" rIns="0" bIns="0" rtlCol="0"/>
          <a:lstStyle/>
          <a:p>
            <a:endParaRPr dirty="0">
              <a:solidFill>
                <a:prstClr val="black"/>
              </a:solidFill>
            </a:endParaRPr>
          </a:p>
        </p:txBody>
      </p:sp>
      <p:sp>
        <p:nvSpPr>
          <p:cNvPr id="17" name="bk object 17"/>
          <p:cNvSpPr/>
          <p:nvPr/>
        </p:nvSpPr>
        <p:spPr>
          <a:xfrm>
            <a:off x="236562" y="6531588"/>
            <a:ext cx="1825625" cy="239420"/>
          </a:xfrm>
          <a:prstGeom prst="rect">
            <a:avLst/>
          </a:prstGeom>
          <a:blipFill>
            <a:blip r:embed="rId9" cstate="print"/>
            <a:stretch>
              <a:fillRect/>
            </a:stretch>
          </a:blipFill>
        </p:spPr>
        <p:txBody>
          <a:bodyPr wrap="square" lIns="0" tIns="0" rIns="0" bIns="0" rtlCol="0"/>
          <a:lstStyle/>
          <a:p>
            <a:endParaRPr dirty="0">
              <a:solidFill>
                <a:prstClr val="black"/>
              </a:solidFill>
            </a:endParaRPr>
          </a:p>
        </p:txBody>
      </p:sp>
      <p:sp>
        <p:nvSpPr>
          <p:cNvPr id="2" name="Holder 2"/>
          <p:cNvSpPr>
            <a:spLocks noGrp="1"/>
          </p:cNvSpPr>
          <p:nvPr>
            <p:ph type="title"/>
          </p:nvPr>
        </p:nvSpPr>
        <p:spPr>
          <a:xfrm>
            <a:off x="355498" y="221488"/>
            <a:ext cx="8433003" cy="426084"/>
          </a:xfrm>
          <a:prstGeom prst="rect">
            <a:avLst/>
          </a:prstGeom>
        </p:spPr>
        <p:txBody>
          <a:bodyPr wrap="square" lIns="0" tIns="0" rIns="0" bIns="0">
            <a:spAutoFit/>
          </a:bodyPr>
          <a:lstStyle>
            <a:lvl1pPr>
              <a:defRPr sz="2600" b="1" i="0">
                <a:solidFill>
                  <a:srgbClr val="404040"/>
                </a:solidFill>
                <a:latin typeface="Calibri"/>
                <a:cs typeface="Calibri"/>
              </a:defRPr>
            </a:lvl1pPr>
          </a:lstStyle>
          <a:p>
            <a:endParaRPr/>
          </a:p>
        </p:txBody>
      </p:sp>
      <p:sp>
        <p:nvSpPr>
          <p:cNvPr id="3" name="Holder 3"/>
          <p:cNvSpPr>
            <a:spLocks noGrp="1"/>
          </p:cNvSpPr>
          <p:nvPr>
            <p:ph type="body" idx="1"/>
          </p:nvPr>
        </p:nvSpPr>
        <p:spPr>
          <a:xfrm>
            <a:off x="713638" y="3080796"/>
            <a:ext cx="7999095" cy="2306320"/>
          </a:xfrm>
          <a:prstGeom prst="rect">
            <a:avLst/>
          </a:prstGeom>
        </p:spPr>
        <p:txBody>
          <a:bodyPr wrap="square" lIns="0" tIns="0" rIns="0" bIns="0">
            <a:spAutoFit/>
          </a:bodyPr>
          <a:lstStyle>
            <a:lvl1pPr>
              <a:defRPr sz="105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solidFill>
                <a:prstClr val="black">
                  <a:tint val="75000"/>
                </a:prstClr>
              </a:solidFill>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2/1/2019</a:t>
            </a:fld>
            <a:endParaRPr lang="en-US" dirty="0">
              <a:solidFill>
                <a:prstClr val="black">
                  <a:tint val="75000"/>
                </a:prstClr>
              </a:solidFill>
            </a:endParaRPr>
          </a:p>
        </p:txBody>
      </p:sp>
      <p:sp>
        <p:nvSpPr>
          <p:cNvPr id="6" name="Holder 6"/>
          <p:cNvSpPr>
            <a:spLocks noGrp="1"/>
          </p:cNvSpPr>
          <p:nvPr>
            <p:ph type="sldNum" sz="quarter" idx="7"/>
          </p:nvPr>
        </p:nvSpPr>
        <p:spPr>
          <a:xfrm>
            <a:off x="8578215" y="6536097"/>
            <a:ext cx="219075" cy="177800"/>
          </a:xfrm>
          <a:prstGeom prst="rect">
            <a:avLst/>
          </a:prstGeom>
        </p:spPr>
        <p:txBody>
          <a:bodyPr wrap="square" lIns="0" tIns="0" rIns="0" bIns="0">
            <a:spAutoFit/>
          </a:bodyPr>
          <a:lstStyle>
            <a:lvl1pPr>
              <a:defRPr sz="1200" b="0" i="0">
                <a:solidFill>
                  <a:srgbClr val="404040"/>
                </a:solidFill>
                <a:latin typeface="Tahoma"/>
                <a:cs typeface="Tahoma"/>
              </a:defRPr>
            </a:lvl1pPr>
          </a:lstStyle>
          <a:p>
            <a:pPr marL="25400">
              <a:lnSpc>
                <a:spcPts val="1335"/>
              </a:lnSpc>
            </a:pPr>
            <a:fld id="{81D60167-4931-47E6-BA6A-407CBD079E47}" type="slidenum">
              <a:rPr dirty="0"/>
              <a:pPr marL="25400">
                <a:lnSpc>
                  <a:spcPts val="1335"/>
                </a:lnSpc>
              </a:pPr>
              <a:t>‹#›</a:t>
            </a:fld>
            <a:endParaRPr dirty="0"/>
          </a:p>
        </p:txBody>
      </p:sp>
    </p:spTree>
    <p:extLst>
      <p:ext uri="{BB962C8B-B14F-4D97-AF65-F5344CB8AC3E}">
        <p14:creationId xmlns:p14="http://schemas.microsoft.com/office/powerpoint/2010/main" val="248021702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4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4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steams.phs.org/da/IRADW/IRADW%20%20Technical%20Docuent%20Library/IRADW%20Release%201/02%20-%20Planning/04%20-%20Architecture%20Analysis%20and%20Design/06%20-%20Solution%20Design%20Document/Netezza%20LDAP%20Authentication.docx" TargetMode="External"/><Relationship Id="rId2" Type="http://schemas.openxmlformats.org/officeDocument/2006/relationships/slide" Target="slide4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pel.phs.org/cs/groups/policyadministration/documents/policy/pel_00248119.pdf"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hyperlink" Target="http://www.linkedin.com/company/citiustech" TargetMode="External"/><Relationship Id="rId13" Type="http://schemas.openxmlformats.org/officeDocument/2006/relationships/hyperlink" Target="http://citiustech.com/practice-areas/healthcare-interoperability-case-studies.aspx" TargetMode="External"/><Relationship Id="rId18" Type="http://schemas.openxmlformats.org/officeDocument/2006/relationships/image" Target="../media/image33.png"/><Relationship Id="rId3" Type="http://schemas.openxmlformats.org/officeDocument/2006/relationships/image" Target="../media/image27.png"/><Relationship Id="rId21" Type="http://schemas.openxmlformats.org/officeDocument/2006/relationships/image" Target="../media/image10.png"/><Relationship Id="rId7" Type="http://schemas.openxmlformats.org/officeDocument/2006/relationships/image" Target="cid:image020.png@01CE6090.1F3B4C20" TargetMode="External"/><Relationship Id="rId12" Type="http://schemas.openxmlformats.org/officeDocument/2006/relationships/hyperlink" Target="http://www.citiustech.com/practice-areas/health-cloud-case-studies.aspx" TargetMode="External"/><Relationship Id="rId17" Type="http://schemas.openxmlformats.org/officeDocument/2006/relationships/image" Target="../media/image32.png"/><Relationship Id="rId2" Type="http://schemas.openxmlformats.org/officeDocument/2006/relationships/hyperlink" Target="https://www.facebook.com/CitiusTech" TargetMode="External"/><Relationship Id="rId16" Type="http://schemas.openxmlformats.org/officeDocument/2006/relationships/image" Target="../media/image31.png"/><Relationship Id="rId20" Type="http://schemas.openxmlformats.org/officeDocument/2006/relationships/hyperlink" Target="mailto:david.esser@citiustech.com" TargetMode="Externa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hyperlink" Target="http://www.citiustech.com/practice-areas/Default.aspx" TargetMode="External"/><Relationship Id="rId5" Type="http://schemas.openxmlformats.org/officeDocument/2006/relationships/hyperlink" Target="https://twitter.com/CitiusTech" TargetMode="External"/><Relationship Id="rId15" Type="http://schemas.openxmlformats.org/officeDocument/2006/relationships/image" Target="../media/image30.png"/><Relationship Id="rId10" Type="http://schemas.openxmlformats.org/officeDocument/2006/relationships/image" Target="cid:image021.png@01CE6090.1F3B4C20" TargetMode="External"/><Relationship Id="rId19" Type="http://schemas.openxmlformats.org/officeDocument/2006/relationships/hyperlink" Target="mailto:abhay.singhal@citiustech.com" TargetMode="External"/><Relationship Id="rId4" Type="http://schemas.openxmlformats.org/officeDocument/2006/relationships/image" Target="cid:image019.png@01CE6090.1F3B4C20" TargetMode="External"/><Relationship Id="rId9" Type="http://schemas.openxmlformats.org/officeDocument/2006/relationships/image" Target="../media/image29.png"/><Relationship Id="rId14" Type="http://schemas.openxmlformats.org/officeDocument/2006/relationships/hyperlink" Target="http://citiustech.com/practice-areas/mobile-health-case-studies.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r="3872"/>
          <a:stretch/>
        </p:blipFill>
        <p:spPr bwMode="auto">
          <a:xfrm>
            <a:off x="167447" y="2029327"/>
            <a:ext cx="8809106" cy="331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ubtitle 2"/>
          <p:cNvSpPr>
            <a:spLocks noGrp="1"/>
          </p:cNvSpPr>
          <p:nvPr>
            <p:ph type="subTitle" idx="1"/>
          </p:nvPr>
        </p:nvSpPr>
        <p:spPr>
          <a:xfrm>
            <a:off x="211475" y="5341327"/>
            <a:ext cx="8001001" cy="414548"/>
          </a:xfrm>
        </p:spPr>
        <p:txBody>
          <a:bodyPr/>
          <a:lstStyle/>
          <a:p>
            <a:r>
              <a:rPr lang="en-US" dirty="0"/>
              <a:t>Sept 24</a:t>
            </a:r>
            <a:r>
              <a:rPr lang="en-US" baseline="30000" dirty="0"/>
              <a:t>th</a:t>
            </a:r>
            <a:r>
              <a:rPr lang="en-US" dirty="0"/>
              <a:t> 2018</a:t>
            </a:r>
          </a:p>
        </p:txBody>
      </p:sp>
      <p:sp>
        <p:nvSpPr>
          <p:cNvPr id="7" name="Rectangle 12"/>
          <p:cNvSpPr>
            <a:spLocks noChangeArrowheads="1"/>
          </p:cNvSpPr>
          <p:nvPr/>
        </p:nvSpPr>
        <p:spPr bwMode="auto">
          <a:xfrm>
            <a:off x="0" y="6274713"/>
            <a:ext cx="9144000" cy="430887"/>
          </a:xfrm>
          <a:prstGeom prst="rect">
            <a:avLst/>
          </a:prstGeom>
          <a:noFill/>
          <a:ln w="38100">
            <a:noFill/>
            <a:prstDash val="sysDot"/>
            <a:miter lim="800000"/>
            <a:headEnd/>
            <a:tailEnd/>
          </a:ln>
        </p:spPr>
        <p:txBody>
          <a:bodyPr wrap="square">
            <a:spAutoFit/>
          </a:bodyPr>
          <a:lstStyle/>
          <a:p>
            <a:pPr algn="ctr" eaLnBrk="0" hangingPunct="0"/>
            <a:r>
              <a:rPr lang="en-US" sz="1100" b="0" dirty="0">
                <a:solidFill>
                  <a:schemeClr val="tx1">
                    <a:lumMod val="75000"/>
                    <a:lumOff val="25000"/>
                  </a:schemeClr>
                </a:solidFill>
                <a:cs typeface="Times New Roman" pitchFamily="18" charset="0"/>
              </a:rPr>
              <a:t>This document is confidential and contains proprietary information, including trade secrets of CitiusTech. Neither the document nor any of the information contained in it may be reproduced or disclosed to any unauthorized person under any circumstances without the express written permission of CitiusTech.</a:t>
            </a:r>
            <a:endParaRPr lang="en-US" sz="1100" b="0" dirty="0">
              <a:solidFill>
                <a:schemeClr val="tx1">
                  <a:lumMod val="75000"/>
                  <a:lumOff val="25000"/>
                </a:schemeClr>
              </a:solidFill>
            </a:endParaRPr>
          </a:p>
        </p:txBody>
      </p:sp>
      <p:sp>
        <p:nvSpPr>
          <p:cNvPr id="12" name="Rectangle 11"/>
          <p:cNvSpPr/>
          <p:nvPr/>
        </p:nvSpPr>
        <p:spPr>
          <a:xfrm flipH="1">
            <a:off x="211475" y="4169815"/>
            <a:ext cx="8721051" cy="1171512"/>
          </a:xfrm>
          <a:prstGeom prst="rect">
            <a:avLst/>
          </a:prstGeom>
          <a:solidFill>
            <a:schemeClr val="accent1">
              <a:lumMod val="75000"/>
              <a:alpha val="80000"/>
            </a:schemeClr>
          </a:solidFill>
        </p:spPr>
        <p:txBody>
          <a:bodyPr wrap="square" lIns="144000" anchor="ctr">
            <a:noAutofit/>
          </a:bodyPr>
          <a:lstStyle/>
          <a:p>
            <a:r>
              <a:rPr lang="en-US" sz="2800" dirty="0"/>
              <a:t>IRADW - Special Data Sharing </a:t>
            </a:r>
            <a:r>
              <a:rPr lang="en-US" sz="2800" dirty="0" smtClean="0"/>
              <a:t>Meeting</a:t>
            </a:r>
          </a:p>
          <a:p>
            <a:r>
              <a:rPr lang="en-US" sz="2800" dirty="0" smtClean="0"/>
              <a:t>(Integrated Reporting &amp; Analytical Data Warehouse)</a:t>
            </a:r>
            <a:endParaRPr lang="en-US" sz="2800" dirty="0"/>
          </a:p>
        </p:txBody>
      </p:sp>
      <p:sp>
        <p:nvSpPr>
          <p:cNvPr id="6" name="Rectangle 5"/>
          <p:cNvSpPr/>
          <p:nvPr/>
        </p:nvSpPr>
        <p:spPr>
          <a:xfrm>
            <a:off x="8426079" y="4487608"/>
            <a:ext cx="438150" cy="443346"/>
          </a:xfrm>
          <a:prstGeom prst="rect">
            <a:avLst/>
          </a:prstGeom>
          <a:solidFill>
            <a:schemeClr val="accent5">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prstClr val="white"/>
              </a:solidFill>
            </a:endParaRPr>
          </a:p>
        </p:txBody>
      </p:sp>
      <p:sp>
        <p:nvSpPr>
          <p:cNvPr id="8" name="Rectangle 7"/>
          <p:cNvSpPr/>
          <p:nvPr/>
        </p:nvSpPr>
        <p:spPr>
          <a:xfrm>
            <a:off x="7991758" y="4510411"/>
            <a:ext cx="274320" cy="274320"/>
          </a:xfrm>
          <a:prstGeom prst="rect">
            <a:avLst/>
          </a:prstGeom>
          <a:solidFill>
            <a:schemeClr val="accent3">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prstClr val="white"/>
              </a:solidFill>
            </a:endParaRPr>
          </a:p>
        </p:txBody>
      </p:sp>
      <p:sp>
        <p:nvSpPr>
          <p:cNvPr id="9" name="Rectangle 8"/>
          <p:cNvSpPr/>
          <p:nvPr/>
        </p:nvSpPr>
        <p:spPr>
          <a:xfrm>
            <a:off x="8210586" y="4209600"/>
            <a:ext cx="180000" cy="180000"/>
          </a:xfrm>
          <a:prstGeom prst="rect">
            <a:avLst/>
          </a:prstGeom>
          <a:solidFill>
            <a:schemeClr val="bg1">
              <a:lumMod val="9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prstClr val="white"/>
              </a:solidFill>
            </a:endParaRPr>
          </a:p>
        </p:txBody>
      </p:sp>
      <p:sp>
        <p:nvSpPr>
          <p:cNvPr id="10" name="Rectangle 9"/>
          <p:cNvSpPr/>
          <p:nvPr/>
        </p:nvSpPr>
        <p:spPr>
          <a:xfrm>
            <a:off x="221494" y="2115258"/>
            <a:ext cx="533400" cy="533400"/>
          </a:xfrm>
          <a:prstGeom prst="rect">
            <a:avLst/>
          </a:prstGeom>
          <a:solidFill>
            <a:schemeClr val="accent4">
              <a:lumMod val="7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prstClr val="white"/>
              </a:solidFill>
            </a:endParaRPr>
          </a:p>
        </p:txBody>
      </p:sp>
      <p:sp>
        <p:nvSpPr>
          <p:cNvPr id="11" name="Rectangle 10"/>
          <p:cNvSpPr/>
          <p:nvPr/>
        </p:nvSpPr>
        <p:spPr>
          <a:xfrm>
            <a:off x="861322" y="2408935"/>
            <a:ext cx="365760" cy="365760"/>
          </a:xfrm>
          <a:prstGeom prst="rect">
            <a:avLst/>
          </a:prstGeom>
          <a:solidFill>
            <a:schemeClr val="bg1">
              <a:lumMod val="6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prstClr val="white"/>
              </a:solidFill>
            </a:endParaRPr>
          </a:p>
        </p:txBody>
      </p:sp>
      <p:sp>
        <p:nvSpPr>
          <p:cNvPr id="13" name="Rectangle 12"/>
          <p:cNvSpPr/>
          <p:nvPr/>
        </p:nvSpPr>
        <p:spPr>
          <a:xfrm>
            <a:off x="754894" y="2853012"/>
            <a:ext cx="182880" cy="182880"/>
          </a:xfrm>
          <a:prstGeom prst="rect">
            <a:avLst/>
          </a:prstGeom>
          <a:solidFill>
            <a:schemeClr val="accent3">
              <a:lumMod val="7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solidFill>
                <a:prstClr val="white"/>
              </a:solidFill>
            </a:endParaRPr>
          </a:p>
        </p:txBody>
      </p:sp>
      <p:sp>
        <p:nvSpPr>
          <p:cNvPr id="14" name="Rectangle 13"/>
          <p:cNvSpPr/>
          <p:nvPr/>
        </p:nvSpPr>
        <p:spPr>
          <a:xfrm>
            <a:off x="7480821" y="4386319"/>
            <a:ext cx="182880" cy="182880"/>
          </a:xfrm>
          <a:prstGeom prst="rect">
            <a:avLst/>
          </a:prstGeom>
          <a:solidFill>
            <a:schemeClr val="bg1">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solidFill>
                <a:prstClr val="white"/>
              </a:solidFill>
            </a:endParaRPr>
          </a:p>
        </p:txBody>
      </p:sp>
      <p:sp>
        <p:nvSpPr>
          <p:cNvPr id="15" name="Rectangle 14"/>
          <p:cNvSpPr/>
          <p:nvPr/>
        </p:nvSpPr>
        <p:spPr>
          <a:xfrm>
            <a:off x="7693883" y="4258954"/>
            <a:ext cx="91440" cy="91440"/>
          </a:xfrm>
          <a:prstGeom prst="rect">
            <a:avLst/>
          </a:prstGeom>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solidFill>
                <a:prstClr val="black"/>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0134" y="2280039"/>
            <a:ext cx="1560513"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226687" y="1175907"/>
            <a:ext cx="3264018" cy="600164"/>
          </a:xfrm>
          <a:prstGeom prst="rect">
            <a:avLst/>
          </a:prstGeom>
          <a:noFill/>
        </p:spPr>
        <p:txBody>
          <a:bodyPr wrap="square" rtlCol="0">
            <a:spAutoFit/>
          </a:bodyPr>
          <a:lstStyle/>
          <a:p>
            <a:r>
              <a:rPr lang="en-US" sz="1100" dirty="0" smtClean="0"/>
              <a:t>CitiusTech Authors</a:t>
            </a:r>
            <a:r>
              <a:rPr lang="en-US" sz="1100" dirty="0"/>
              <a:t>: </a:t>
            </a:r>
            <a:endParaRPr lang="en-US" sz="1100" dirty="0" smtClean="0"/>
          </a:p>
          <a:p>
            <a:pPr marL="285750" indent="-285750">
              <a:buFont typeface="Arial" panose="020B0604020202020204" pitchFamily="34" charset="0"/>
              <a:buChar char="•"/>
            </a:pPr>
            <a:r>
              <a:rPr lang="en-US" sz="1100" dirty="0" smtClean="0"/>
              <a:t>Kagori</a:t>
            </a:r>
            <a:r>
              <a:rPr lang="en-US" sz="1100" dirty="0"/>
              <a:t>, </a:t>
            </a:r>
            <a:r>
              <a:rPr lang="en-US" sz="1100" dirty="0" smtClean="0"/>
              <a:t>Michael -Data Architect / Data Modeler</a:t>
            </a:r>
          </a:p>
          <a:p>
            <a:pPr marL="285750" indent="-285750">
              <a:buFont typeface="Arial" panose="020B0604020202020204" pitchFamily="34" charset="0"/>
              <a:buChar char="•"/>
            </a:pPr>
            <a:r>
              <a:rPr lang="en-US" sz="1100" dirty="0"/>
              <a:t>Velaga, Sudhir </a:t>
            </a:r>
            <a:r>
              <a:rPr lang="en-US" sz="1100" dirty="0" smtClean="0"/>
              <a:t>- Healthcare Solution Architect</a:t>
            </a:r>
            <a:endParaRPr lang="en-US" sz="1100" dirty="0"/>
          </a:p>
        </p:txBody>
      </p:sp>
      <p:pic>
        <p:nvPicPr>
          <p:cNvPr id="2" name="Picture 1"/>
          <p:cNvPicPr>
            <a:picLocks noChangeAspect="1"/>
          </p:cNvPicPr>
          <p:nvPr/>
        </p:nvPicPr>
        <p:blipFill>
          <a:blip r:embed="rId5"/>
          <a:stretch>
            <a:fillRect/>
          </a:stretch>
        </p:blipFill>
        <p:spPr>
          <a:xfrm>
            <a:off x="6378203" y="602801"/>
            <a:ext cx="2266950" cy="495587"/>
          </a:xfrm>
          <a:prstGeom prst="rect">
            <a:avLst/>
          </a:prstGeom>
        </p:spPr>
      </p:pic>
      <p:sp>
        <p:nvSpPr>
          <p:cNvPr id="18" name="TextBox 17"/>
          <p:cNvSpPr txBox="1"/>
          <p:nvPr/>
        </p:nvSpPr>
        <p:spPr>
          <a:xfrm>
            <a:off x="6435335" y="1079603"/>
            <a:ext cx="2608533" cy="430887"/>
          </a:xfrm>
          <a:prstGeom prst="rect">
            <a:avLst/>
          </a:prstGeom>
          <a:noFill/>
        </p:spPr>
        <p:txBody>
          <a:bodyPr wrap="square" rtlCol="0">
            <a:spAutoFit/>
          </a:bodyPr>
          <a:lstStyle/>
          <a:p>
            <a:r>
              <a:rPr lang="en-US" sz="1100" dirty="0" smtClean="0"/>
              <a:t>PHS Authors</a:t>
            </a:r>
            <a:r>
              <a:rPr lang="en-US" sz="1100" dirty="0"/>
              <a:t>: </a:t>
            </a:r>
            <a:endParaRPr lang="en-US" sz="1100" dirty="0" smtClean="0"/>
          </a:p>
          <a:p>
            <a:r>
              <a:rPr lang="en-US" sz="1100" dirty="0" smtClean="0"/>
              <a:t>Venkat Chebrolu – IRADW Solution Lead</a:t>
            </a:r>
            <a:endParaRPr lang="en-US" sz="1100" dirty="0"/>
          </a:p>
        </p:txBody>
      </p:sp>
    </p:spTree>
    <p:extLst>
      <p:ext uri="{BB962C8B-B14F-4D97-AF65-F5344CB8AC3E}">
        <p14:creationId xmlns:p14="http://schemas.microsoft.com/office/powerpoint/2010/main" val="585252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6720" y="188640"/>
            <a:ext cx="8562480" cy="468052"/>
          </a:xfrm>
        </p:spPr>
        <p:txBody>
          <a:bodyPr/>
          <a:lstStyle/>
          <a:p>
            <a:pPr lvl="0"/>
            <a:r>
              <a:rPr lang="en-US" sz="3200" dirty="0" smtClean="0"/>
              <a:t>Agenda</a:t>
            </a:r>
            <a:endParaRPr lang="en-US" sz="3200" dirty="0"/>
          </a:p>
        </p:txBody>
      </p:sp>
      <p:sp>
        <p:nvSpPr>
          <p:cNvPr id="4" name="Text Placeholder 3"/>
          <p:cNvSpPr>
            <a:spLocks noGrp="1"/>
          </p:cNvSpPr>
          <p:nvPr>
            <p:ph type="body" sz="quarter" idx="10"/>
          </p:nvPr>
        </p:nvSpPr>
        <p:spPr>
          <a:xfrm>
            <a:off x="304800" y="800708"/>
            <a:ext cx="8534400" cy="5668558"/>
          </a:xfrm>
        </p:spPr>
        <p:txBody>
          <a:bodyPr>
            <a:normAutofit fontScale="92500" lnSpcReduction="20000"/>
          </a:bodyPr>
          <a:lstStyle/>
          <a:p>
            <a:r>
              <a:rPr lang="en-US" dirty="0"/>
              <a:t>IRADW Project Objective</a:t>
            </a:r>
          </a:p>
          <a:p>
            <a:r>
              <a:rPr lang="en-US" dirty="0" smtClean="0"/>
              <a:t>CitiusTech experience in IBM UDMH space</a:t>
            </a:r>
          </a:p>
          <a:p>
            <a:r>
              <a:rPr lang="en-US" dirty="0" smtClean="0"/>
              <a:t>IRADW </a:t>
            </a:r>
            <a:r>
              <a:rPr lang="en-US" dirty="0"/>
              <a:t>Architecture Objectives</a:t>
            </a:r>
          </a:p>
          <a:p>
            <a:r>
              <a:rPr lang="en-US" b="1" dirty="0" smtClean="0">
                <a:solidFill>
                  <a:srgbClr val="0070C0"/>
                </a:solidFill>
              </a:rPr>
              <a:t>IRADW Multi-Tenant Stakeholder Requirements</a:t>
            </a:r>
          </a:p>
          <a:p>
            <a:pPr lvl="1"/>
            <a:r>
              <a:rPr lang="en-US" sz="2200" dirty="0" smtClean="0"/>
              <a:t>IRADW Multi-Tenant Solution Highlights</a:t>
            </a:r>
          </a:p>
          <a:p>
            <a:pPr lvl="1"/>
            <a:r>
              <a:rPr lang="en-US" sz="2200" dirty="0" smtClean="0"/>
              <a:t>IRADW Multi-Tenant Data Model</a:t>
            </a:r>
          </a:p>
          <a:p>
            <a:pPr lvl="2"/>
            <a:r>
              <a:rPr lang="en-US" sz="2100" dirty="0" smtClean="0"/>
              <a:t>Organization Logical Data Model</a:t>
            </a:r>
          </a:p>
          <a:p>
            <a:pPr lvl="2"/>
            <a:r>
              <a:rPr lang="en-US" sz="2100" dirty="0" smtClean="0"/>
              <a:t>Tenant Logical Data Model</a:t>
            </a:r>
          </a:p>
          <a:p>
            <a:pPr lvl="2"/>
            <a:r>
              <a:rPr lang="en-US" sz="2100" dirty="0" smtClean="0"/>
              <a:t>Organization &amp; Tenant Logical Data Model</a:t>
            </a:r>
          </a:p>
          <a:p>
            <a:pPr lvl="2"/>
            <a:r>
              <a:rPr lang="en-US" sz="2100" dirty="0" smtClean="0"/>
              <a:t>Tenant &amp; Source System Logical Data Model</a:t>
            </a:r>
          </a:p>
          <a:p>
            <a:pPr lvl="2"/>
            <a:r>
              <a:rPr lang="en-US" sz="2100" dirty="0" smtClean="0"/>
              <a:t>Example of Plan Member</a:t>
            </a:r>
          </a:p>
          <a:p>
            <a:pPr lvl="2"/>
            <a:r>
              <a:rPr lang="en-US" sz="2100" dirty="0" smtClean="0"/>
              <a:t>Example of Patient</a:t>
            </a:r>
          </a:p>
          <a:p>
            <a:r>
              <a:rPr lang="en-US" b="1" dirty="0" smtClean="0">
                <a:solidFill>
                  <a:srgbClr val="0070C0"/>
                </a:solidFill>
              </a:rPr>
              <a:t>IRADW Data Security Stakeholder Requirements</a:t>
            </a:r>
          </a:p>
          <a:p>
            <a:pPr lvl="1"/>
            <a:r>
              <a:rPr lang="en-US" sz="2200" dirty="0" smtClean="0"/>
              <a:t>Data Classification &amp; Segmentation / Data Sharing Across Business Units</a:t>
            </a:r>
          </a:p>
          <a:p>
            <a:pPr lvl="1"/>
            <a:r>
              <a:rPr lang="en-US" sz="2200" dirty="0" smtClean="0"/>
              <a:t>IRADW Data Security Design Solution Highlights</a:t>
            </a:r>
          </a:p>
          <a:p>
            <a:pPr lvl="2"/>
            <a:r>
              <a:rPr lang="en-US" sz="2100" dirty="0" smtClean="0"/>
              <a:t>IRADW Provisioning Data Model</a:t>
            </a:r>
          </a:p>
          <a:p>
            <a:r>
              <a:rPr lang="en-US" dirty="0" smtClean="0"/>
              <a:t>Appendix</a:t>
            </a:r>
          </a:p>
          <a:p>
            <a:endParaRPr lang="en-US" dirty="0"/>
          </a:p>
        </p:txBody>
      </p:sp>
      <p:pic>
        <p:nvPicPr>
          <p:cNvPr id="7" name="Picture 6"/>
          <p:cNvPicPr>
            <a:picLocks noChangeAspect="1"/>
          </p:cNvPicPr>
          <p:nvPr/>
        </p:nvPicPr>
        <p:blipFill>
          <a:blip r:embed="rId2"/>
          <a:stretch>
            <a:fillRect/>
          </a:stretch>
        </p:blipFill>
        <p:spPr>
          <a:xfrm>
            <a:off x="6581601" y="188640"/>
            <a:ext cx="2266950" cy="413931"/>
          </a:xfrm>
          <a:prstGeom prst="rect">
            <a:avLst/>
          </a:prstGeom>
        </p:spPr>
      </p:pic>
    </p:spTree>
    <p:extLst>
      <p:ext uri="{BB962C8B-B14F-4D97-AF65-F5344CB8AC3E}">
        <p14:creationId xmlns:p14="http://schemas.microsoft.com/office/powerpoint/2010/main" val="15531314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80586" y="346208"/>
            <a:ext cx="5652628" cy="747095"/>
          </a:xfrm>
        </p:spPr>
        <p:txBody>
          <a:bodyPr/>
          <a:lstStyle/>
          <a:p>
            <a:r>
              <a:rPr lang="en-US" sz="2800" dirty="0" smtClean="0"/>
              <a:t>IRADW Project Objective</a:t>
            </a:r>
            <a:r>
              <a:rPr lang="en-US" sz="2800" dirty="0"/>
              <a:t/>
            </a:r>
            <a:br>
              <a:rPr lang="en-US" sz="2800" dirty="0"/>
            </a:br>
            <a:r>
              <a:rPr lang="en-US" sz="1800" dirty="0"/>
              <a:t>(Integrated Reporting &amp; Analytical Data Warehouse</a:t>
            </a:r>
            <a:r>
              <a:rPr lang="en-US" sz="1800" dirty="0" smtClean="0"/>
              <a:t>) </a:t>
            </a:r>
            <a:endParaRPr lang="en-US" sz="1800" dirty="0"/>
          </a:p>
        </p:txBody>
      </p:sp>
      <p:sp>
        <p:nvSpPr>
          <p:cNvPr id="4" name="Text Placeholder 3"/>
          <p:cNvSpPr>
            <a:spLocks noGrp="1"/>
          </p:cNvSpPr>
          <p:nvPr>
            <p:ph type="body" sz="quarter" idx="10"/>
          </p:nvPr>
        </p:nvSpPr>
        <p:spPr>
          <a:xfrm>
            <a:off x="278436" y="1520788"/>
            <a:ext cx="8534400" cy="4482244"/>
          </a:xfrm>
        </p:spPr>
        <p:txBody>
          <a:bodyPr>
            <a:normAutofit/>
          </a:bodyPr>
          <a:lstStyle/>
          <a:p>
            <a:pPr marL="0" indent="0">
              <a:buNone/>
            </a:pPr>
            <a:r>
              <a:rPr lang="en-US" b="1" i="1" u="sng" dirty="0" smtClean="0"/>
              <a:t>Objective: </a:t>
            </a:r>
            <a:r>
              <a:rPr lang="en-US" dirty="0" smtClean="0"/>
              <a:t>One </a:t>
            </a:r>
            <a:r>
              <a:rPr lang="en-US" dirty="0"/>
              <a:t>of the PHS vision would be global information flow and the development of an integrated data warehouse system, using </a:t>
            </a:r>
            <a:r>
              <a:rPr lang="en-US" b="1" i="1" dirty="0" smtClean="0"/>
              <a:t>Clinical</a:t>
            </a:r>
            <a:r>
              <a:rPr lang="en-US" dirty="0" smtClean="0"/>
              <a:t> </a:t>
            </a:r>
            <a:r>
              <a:rPr lang="en-US" dirty="0"/>
              <a:t>data on all patient encounters and </a:t>
            </a:r>
            <a:r>
              <a:rPr lang="en-US" b="1" i="1" dirty="0" smtClean="0"/>
              <a:t>Health Plan </a:t>
            </a:r>
            <a:r>
              <a:rPr lang="en-US" dirty="0"/>
              <a:t>data on all operating </a:t>
            </a:r>
            <a:r>
              <a:rPr lang="en-US" dirty="0" smtClean="0"/>
              <a:t>transactions for members </a:t>
            </a:r>
            <a:r>
              <a:rPr lang="en-US" dirty="0"/>
              <a:t>as part of an integrated health care system. This new integrated data warehouse system will be used for multiple purposes, including patient care, health services research, resource utilization </a:t>
            </a:r>
            <a:r>
              <a:rPr lang="en-US" dirty="0" smtClean="0"/>
              <a:t>, </a:t>
            </a:r>
            <a:r>
              <a:rPr lang="en-US" dirty="0"/>
              <a:t>feasibility </a:t>
            </a:r>
            <a:r>
              <a:rPr lang="en-US" dirty="0" smtClean="0"/>
              <a:t>studies and much more. </a:t>
            </a:r>
            <a:r>
              <a:rPr lang="en-US" dirty="0"/>
              <a:t>This approach to building a centralized data system comprised of multiple repositories efficiently meets a variety of individual and aggregate information needs, while reducing the need to create duplicate databases</a:t>
            </a:r>
            <a:r>
              <a:rPr lang="en-US" dirty="0" smtClean="0"/>
              <a:t>.</a:t>
            </a:r>
          </a:p>
        </p:txBody>
      </p:sp>
      <p:pic>
        <p:nvPicPr>
          <p:cNvPr id="5" name="Picture 4"/>
          <p:cNvPicPr>
            <a:picLocks noChangeAspect="1"/>
          </p:cNvPicPr>
          <p:nvPr/>
        </p:nvPicPr>
        <p:blipFill>
          <a:blip r:embed="rId2"/>
          <a:stretch>
            <a:fillRect/>
          </a:stretch>
        </p:blipFill>
        <p:spPr>
          <a:xfrm>
            <a:off x="6545886" y="139243"/>
            <a:ext cx="2266950" cy="413931"/>
          </a:xfrm>
          <a:prstGeom prst="rect">
            <a:avLst/>
          </a:prstGeom>
        </p:spPr>
      </p:pic>
    </p:spTree>
    <p:extLst>
      <p:ext uri="{BB962C8B-B14F-4D97-AF65-F5344CB8AC3E}">
        <p14:creationId xmlns:p14="http://schemas.microsoft.com/office/powerpoint/2010/main" val="4137297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67754" y="314539"/>
            <a:ext cx="5879456" cy="576064"/>
          </a:xfrm>
        </p:spPr>
        <p:txBody>
          <a:bodyPr/>
          <a:lstStyle/>
          <a:p>
            <a:pPr lvl="0"/>
            <a:r>
              <a:rPr lang="en-US" sz="3200" dirty="0" smtClean="0"/>
              <a:t>CitiusTech IBM UDMH Expertise</a:t>
            </a:r>
            <a:br>
              <a:rPr lang="en-US" sz="3200" dirty="0" smtClean="0"/>
            </a:br>
            <a:r>
              <a:rPr lang="en-US" sz="1600" b="0" i="1" dirty="0" smtClean="0"/>
              <a:t>PHS IBM UDMH Integration Partner</a:t>
            </a:r>
            <a:endParaRPr lang="en-US" sz="1600" b="0" i="1" dirty="0"/>
          </a:p>
        </p:txBody>
      </p:sp>
      <p:pic>
        <p:nvPicPr>
          <p:cNvPr id="7" name="Picture 6"/>
          <p:cNvPicPr>
            <a:picLocks noChangeAspect="1"/>
          </p:cNvPicPr>
          <p:nvPr/>
        </p:nvPicPr>
        <p:blipFill>
          <a:blip r:embed="rId2"/>
          <a:stretch>
            <a:fillRect/>
          </a:stretch>
        </p:blipFill>
        <p:spPr>
          <a:xfrm>
            <a:off x="6581601" y="188640"/>
            <a:ext cx="2266950" cy="413931"/>
          </a:xfrm>
          <a:prstGeom prst="rect">
            <a:avLst/>
          </a:prstGeom>
        </p:spPr>
      </p:pic>
      <p:sp>
        <p:nvSpPr>
          <p:cNvPr id="2" name="Rectangle 1"/>
          <p:cNvSpPr/>
          <p:nvPr/>
        </p:nvSpPr>
        <p:spPr>
          <a:xfrm>
            <a:off x="267754" y="1196752"/>
            <a:ext cx="8580999" cy="4801314"/>
          </a:xfrm>
          <a:prstGeom prst="rect">
            <a:avLst/>
          </a:prstGeom>
        </p:spPr>
        <p:txBody>
          <a:bodyPr wrap="square">
            <a:spAutoFit/>
          </a:bodyPr>
          <a:lstStyle/>
          <a:p>
            <a:r>
              <a:rPr lang="en-US" dirty="0" smtClean="0">
                <a:solidFill>
                  <a:schemeClr val="tx1">
                    <a:lumMod val="75000"/>
                    <a:lumOff val="25000"/>
                  </a:schemeClr>
                </a:solidFill>
                <a:latin typeface="Calibri" panose="020F0502020204030204" pitchFamily="34" charset="0"/>
                <a:ea typeface="Calibri" panose="020F0502020204030204" pitchFamily="34" charset="0"/>
              </a:rPr>
              <a:t>CitiusTech </a:t>
            </a:r>
            <a:r>
              <a:rPr lang="en-US" dirty="0">
                <a:solidFill>
                  <a:schemeClr val="tx1">
                    <a:lumMod val="75000"/>
                    <a:lumOff val="25000"/>
                  </a:schemeClr>
                </a:solidFill>
                <a:latin typeface="Calibri" panose="020F0502020204030204" pitchFamily="34" charset="0"/>
                <a:ea typeface="Calibri" panose="020F0502020204030204" pitchFamily="34" charset="0"/>
              </a:rPr>
              <a:t>is a specialist provider of healthcare technology services and solutions, with strong presence across the globe. </a:t>
            </a:r>
            <a:r>
              <a:rPr lang="en-US" dirty="0" smtClean="0">
                <a:solidFill>
                  <a:schemeClr val="tx1">
                    <a:lumMod val="75000"/>
                    <a:lumOff val="25000"/>
                  </a:schemeClr>
                </a:solidFill>
                <a:latin typeface="Calibri" panose="020F0502020204030204" pitchFamily="34" charset="0"/>
                <a:ea typeface="Calibri" panose="020F0502020204030204" pitchFamily="34" charset="0"/>
              </a:rPr>
              <a:t>CitiusTech </a:t>
            </a:r>
            <a:r>
              <a:rPr lang="en-US" dirty="0">
                <a:solidFill>
                  <a:schemeClr val="tx1">
                    <a:lumMod val="75000"/>
                    <a:lumOff val="25000"/>
                  </a:schemeClr>
                </a:solidFill>
                <a:latin typeface="Calibri" panose="020F0502020204030204" pitchFamily="34" charset="0"/>
                <a:ea typeface="Calibri" panose="020F0502020204030204" pitchFamily="34" charset="0"/>
              </a:rPr>
              <a:t>has implemented different use cases for Multi-Tenancy &amp; </a:t>
            </a:r>
            <a:r>
              <a:rPr lang="en-US" dirty="0" smtClean="0">
                <a:solidFill>
                  <a:schemeClr val="tx1">
                    <a:lumMod val="75000"/>
                    <a:lumOff val="25000"/>
                  </a:schemeClr>
                </a:solidFill>
                <a:latin typeface="Calibri" panose="020F0502020204030204" pitchFamily="34" charset="0"/>
                <a:ea typeface="Calibri" panose="020F0502020204030204" pitchFamily="34" charset="0"/>
              </a:rPr>
              <a:t>Data </a:t>
            </a:r>
            <a:r>
              <a:rPr lang="en-US" dirty="0">
                <a:solidFill>
                  <a:schemeClr val="tx1">
                    <a:lumMod val="75000"/>
                    <a:lumOff val="25000"/>
                  </a:schemeClr>
                </a:solidFill>
                <a:latin typeface="Calibri" panose="020F0502020204030204" pitchFamily="34" charset="0"/>
                <a:ea typeface="Calibri" panose="020F0502020204030204" pitchFamily="34" charset="0"/>
              </a:rPr>
              <a:t>Security for different health care clients. The solutions are based  on IBM UDMH 9.X Multi Tenancy &amp; D</a:t>
            </a:r>
            <a:r>
              <a:rPr lang="en-US" dirty="0" smtClean="0">
                <a:solidFill>
                  <a:schemeClr val="tx1">
                    <a:lumMod val="75000"/>
                    <a:lumOff val="25000"/>
                  </a:schemeClr>
                </a:solidFill>
                <a:latin typeface="Calibri" panose="020F0502020204030204" pitchFamily="34" charset="0"/>
                <a:ea typeface="Calibri" panose="020F0502020204030204" pitchFamily="34" charset="0"/>
              </a:rPr>
              <a:t>ata Provisioning Subject </a:t>
            </a:r>
            <a:r>
              <a:rPr lang="en-US" dirty="0">
                <a:solidFill>
                  <a:schemeClr val="tx1">
                    <a:lumMod val="75000"/>
                    <a:lumOff val="25000"/>
                  </a:schemeClr>
                </a:solidFill>
                <a:latin typeface="Calibri" panose="020F0502020204030204" pitchFamily="34" charset="0"/>
                <a:ea typeface="Calibri" panose="020F0502020204030204" pitchFamily="34" charset="0"/>
              </a:rPr>
              <a:t>areas. The use cases involves integrating multiple data sources across multiple </a:t>
            </a:r>
            <a:r>
              <a:rPr lang="en-US" dirty="0" smtClean="0">
                <a:solidFill>
                  <a:schemeClr val="tx1">
                    <a:lumMod val="75000"/>
                    <a:lumOff val="25000"/>
                  </a:schemeClr>
                </a:solidFill>
                <a:latin typeface="Calibri" panose="020F0502020204030204" pitchFamily="34" charset="0"/>
                <a:ea typeface="Calibri" panose="020F0502020204030204" pitchFamily="34" charset="0"/>
              </a:rPr>
              <a:t>tenants.</a:t>
            </a:r>
            <a:endParaRPr lang="en-US" dirty="0">
              <a:solidFill>
                <a:schemeClr val="tx1">
                  <a:lumMod val="75000"/>
                  <a:lumOff val="25000"/>
                </a:schemeClr>
              </a:solidFill>
              <a:latin typeface="Times New Roman" panose="02020603050405020304" pitchFamily="18" charset="0"/>
              <a:ea typeface="Calibri" panose="020F0502020204030204" pitchFamily="34" charset="0"/>
            </a:endParaRPr>
          </a:p>
          <a:p>
            <a:endParaRPr lang="en-US" dirty="0" smtClean="0">
              <a:solidFill>
                <a:schemeClr val="tx1">
                  <a:lumMod val="75000"/>
                  <a:lumOff val="25000"/>
                </a:schemeClr>
              </a:solidFill>
              <a:latin typeface="Calibri" panose="020F0502020204030204" pitchFamily="34" charset="0"/>
              <a:ea typeface="Calibri" panose="020F0502020204030204" pitchFamily="34" charset="0"/>
            </a:endParaRPr>
          </a:p>
          <a:p>
            <a:r>
              <a:rPr lang="en-US" dirty="0" smtClean="0">
                <a:solidFill>
                  <a:schemeClr val="tx1">
                    <a:lumMod val="75000"/>
                    <a:lumOff val="25000"/>
                  </a:schemeClr>
                </a:solidFill>
                <a:latin typeface="Calibri" panose="020F0502020204030204" pitchFamily="34" charset="0"/>
                <a:ea typeface="Calibri" panose="020F0502020204030204" pitchFamily="34" charset="0"/>
              </a:rPr>
              <a:t>Following are sample Use Cases that were s</a:t>
            </a:r>
            <a:r>
              <a:rPr lang="en-US" dirty="0" smtClean="0">
                <a:solidFill>
                  <a:schemeClr val="tx1">
                    <a:lumMod val="75000"/>
                    <a:lumOff val="25000"/>
                  </a:schemeClr>
                </a:solidFill>
              </a:rPr>
              <a:t>uccessfully implemented </a:t>
            </a:r>
            <a:r>
              <a:rPr lang="en-US" dirty="0">
                <a:solidFill>
                  <a:schemeClr val="tx1">
                    <a:lumMod val="75000"/>
                    <a:lumOff val="25000"/>
                  </a:schemeClr>
                </a:solidFill>
              </a:rPr>
              <a:t>to support enterprise t</a:t>
            </a:r>
            <a:r>
              <a:rPr lang="en-US" dirty="0" smtClean="0">
                <a:solidFill>
                  <a:schemeClr val="tx1">
                    <a:lumMod val="75000"/>
                    <a:lumOff val="25000"/>
                  </a:schemeClr>
                </a:solidFill>
              </a:rPr>
              <a:t>enant compliance </a:t>
            </a:r>
            <a:r>
              <a:rPr lang="en-US" dirty="0">
                <a:solidFill>
                  <a:schemeClr val="tx1">
                    <a:lumMod val="75000"/>
                    <a:lumOff val="25000"/>
                  </a:schemeClr>
                </a:solidFill>
              </a:rPr>
              <a:t>reporting </a:t>
            </a:r>
            <a:r>
              <a:rPr lang="en-US" dirty="0" smtClean="0">
                <a:solidFill>
                  <a:schemeClr val="tx1">
                    <a:lumMod val="75000"/>
                    <a:lumOff val="25000"/>
                  </a:schemeClr>
                </a:solidFill>
              </a:rPr>
              <a:t>with </a:t>
            </a:r>
            <a:r>
              <a:rPr lang="en-US" dirty="0">
                <a:solidFill>
                  <a:schemeClr val="tx1">
                    <a:lumMod val="75000"/>
                    <a:lumOff val="25000"/>
                  </a:schemeClr>
                </a:solidFill>
              </a:rPr>
              <a:t>clinical &amp; </a:t>
            </a:r>
            <a:r>
              <a:rPr lang="en-US" dirty="0" smtClean="0">
                <a:solidFill>
                  <a:schemeClr val="tx1">
                    <a:lumMod val="75000"/>
                    <a:lumOff val="25000"/>
                  </a:schemeClr>
                </a:solidFill>
              </a:rPr>
              <a:t>financial data based on IBM </a:t>
            </a:r>
            <a:r>
              <a:rPr lang="en-US" dirty="0">
                <a:solidFill>
                  <a:schemeClr val="tx1">
                    <a:lumMod val="75000"/>
                    <a:lumOff val="25000"/>
                  </a:schemeClr>
                </a:solidFill>
              </a:rPr>
              <a:t>UDMH 9.x </a:t>
            </a:r>
            <a:endParaRPr lang="en-US" dirty="0" smtClean="0">
              <a:solidFill>
                <a:schemeClr val="tx1">
                  <a:lumMod val="75000"/>
                  <a:lumOff val="25000"/>
                </a:schemeClr>
              </a:solidFill>
            </a:endParaRPr>
          </a:p>
          <a:p>
            <a:endParaRPr lang="en-US" dirty="0">
              <a:solidFill>
                <a:schemeClr val="tx1">
                  <a:lumMod val="75000"/>
                  <a:lumOff val="25000"/>
                </a:schemeClr>
              </a:solidFill>
            </a:endParaRPr>
          </a:p>
          <a:p>
            <a:pPr marL="742950" lvl="1" indent="-285750">
              <a:buFont typeface="Arial" panose="020B0604020202020204" pitchFamily="34" charset="0"/>
              <a:buChar char="•"/>
            </a:pPr>
            <a:r>
              <a:rPr lang="en-US" dirty="0">
                <a:solidFill>
                  <a:schemeClr val="tx1">
                    <a:lumMod val="75000"/>
                    <a:lumOff val="25000"/>
                  </a:schemeClr>
                </a:solidFill>
              </a:rPr>
              <a:t>HIPAA </a:t>
            </a:r>
            <a:r>
              <a:rPr lang="en-US" dirty="0" smtClean="0">
                <a:solidFill>
                  <a:schemeClr val="tx1">
                    <a:lumMod val="75000"/>
                    <a:lumOff val="25000"/>
                  </a:schemeClr>
                </a:solidFill>
              </a:rPr>
              <a:t>compliance</a:t>
            </a:r>
          </a:p>
          <a:p>
            <a:pPr marL="742950" lvl="1" indent="-285750">
              <a:buFont typeface="Arial" panose="020B0604020202020204" pitchFamily="34" charset="0"/>
              <a:buChar char="•"/>
            </a:pPr>
            <a:r>
              <a:rPr lang="en-US" dirty="0">
                <a:solidFill>
                  <a:schemeClr val="tx1">
                    <a:lumMod val="75000"/>
                    <a:lumOff val="25000"/>
                  </a:schemeClr>
                </a:solidFill>
              </a:rPr>
              <a:t>Financial compliance </a:t>
            </a:r>
            <a:r>
              <a:rPr lang="en-US" dirty="0" smtClean="0">
                <a:solidFill>
                  <a:schemeClr val="tx1">
                    <a:lumMod val="75000"/>
                    <a:lumOff val="25000"/>
                  </a:schemeClr>
                </a:solidFill>
              </a:rPr>
              <a:t>requirement</a:t>
            </a:r>
          </a:p>
          <a:p>
            <a:pPr marL="742950" lvl="1" indent="-285750">
              <a:buFont typeface="Arial" panose="020B0604020202020204" pitchFamily="34" charset="0"/>
              <a:buChar char="•"/>
            </a:pPr>
            <a:r>
              <a:rPr lang="en-US" dirty="0">
                <a:solidFill>
                  <a:schemeClr val="tx1">
                    <a:lumMod val="75000"/>
                    <a:lumOff val="25000"/>
                  </a:schemeClr>
                </a:solidFill>
              </a:rPr>
              <a:t>Compliance reporting based </a:t>
            </a:r>
            <a:r>
              <a:rPr lang="en-US" dirty="0" smtClean="0">
                <a:solidFill>
                  <a:schemeClr val="tx1">
                    <a:lumMod val="75000"/>
                    <a:lumOff val="25000"/>
                  </a:schemeClr>
                </a:solidFill>
              </a:rPr>
              <a:t>on </a:t>
            </a:r>
            <a:r>
              <a:rPr lang="en-US" dirty="0">
                <a:solidFill>
                  <a:schemeClr val="tx1">
                    <a:lumMod val="75000"/>
                    <a:lumOff val="25000"/>
                  </a:schemeClr>
                </a:solidFill>
              </a:rPr>
              <a:t>UDMH </a:t>
            </a:r>
            <a:r>
              <a:rPr lang="en-US" dirty="0" smtClean="0">
                <a:solidFill>
                  <a:schemeClr val="tx1">
                    <a:lumMod val="75000"/>
                    <a:lumOff val="25000"/>
                  </a:schemeClr>
                </a:solidFill>
              </a:rPr>
              <a:t>9.x</a:t>
            </a:r>
          </a:p>
          <a:p>
            <a:pPr marL="742950" lvl="1" indent="-285750">
              <a:buFont typeface="Arial" panose="020B0604020202020204" pitchFamily="34" charset="0"/>
              <a:buChar char="•"/>
            </a:pPr>
            <a:r>
              <a:rPr lang="en-US" dirty="0">
                <a:solidFill>
                  <a:schemeClr val="tx1">
                    <a:lumMod val="75000"/>
                    <a:lumOff val="25000"/>
                  </a:schemeClr>
                </a:solidFill>
              </a:rPr>
              <a:t>Data Sharing Agreements across tenants</a:t>
            </a:r>
          </a:p>
          <a:p>
            <a:pPr marL="742950" lvl="1" indent="-285750">
              <a:buFont typeface="Arial" panose="020B0604020202020204" pitchFamily="34" charset="0"/>
              <a:buChar char="•"/>
            </a:pPr>
            <a:r>
              <a:rPr lang="en-US" dirty="0" smtClean="0">
                <a:solidFill>
                  <a:schemeClr val="tx1">
                    <a:lumMod val="75000"/>
                    <a:lumOff val="25000"/>
                  </a:schemeClr>
                </a:solidFill>
              </a:rPr>
              <a:t>Client </a:t>
            </a:r>
            <a:r>
              <a:rPr lang="en-US" dirty="0">
                <a:solidFill>
                  <a:schemeClr val="tx1">
                    <a:lumMod val="75000"/>
                    <a:lumOff val="25000"/>
                  </a:schemeClr>
                </a:solidFill>
              </a:rPr>
              <a:t>has multiple tenants and multiple source systems per tenant</a:t>
            </a:r>
          </a:p>
          <a:p>
            <a:pPr marL="742950" lvl="1" indent="-285750">
              <a:buFont typeface="Arial" panose="020B0604020202020204" pitchFamily="34" charset="0"/>
              <a:buChar char="•"/>
            </a:pPr>
            <a:r>
              <a:rPr lang="en-US" dirty="0">
                <a:solidFill>
                  <a:schemeClr val="tx1">
                    <a:lumMod val="75000"/>
                    <a:lumOff val="25000"/>
                  </a:schemeClr>
                </a:solidFill>
              </a:rPr>
              <a:t>Capitated population requirement</a:t>
            </a:r>
          </a:p>
          <a:p>
            <a:pPr marL="742950" lvl="1" indent="-285750">
              <a:buFont typeface="Arial" panose="020B0604020202020204" pitchFamily="34" charset="0"/>
              <a:buChar char="•"/>
            </a:pPr>
            <a:r>
              <a:rPr lang="en-US" dirty="0" smtClean="0">
                <a:solidFill>
                  <a:schemeClr val="tx1">
                    <a:lumMod val="75000"/>
                    <a:lumOff val="25000"/>
                  </a:schemeClr>
                </a:solidFill>
              </a:rPr>
              <a:t>Role based security</a:t>
            </a:r>
            <a:endParaRPr lang="en-US" dirty="0">
              <a:solidFill>
                <a:schemeClr val="tx1">
                  <a:lumMod val="75000"/>
                  <a:lumOff val="25000"/>
                </a:schemeClr>
              </a:solidFill>
            </a:endParaRPr>
          </a:p>
          <a:p>
            <a:endParaRPr lang="en-US" dirty="0">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0655995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6720" y="188640"/>
            <a:ext cx="5879456" cy="576064"/>
          </a:xfrm>
        </p:spPr>
        <p:txBody>
          <a:bodyPr/>
          <a:lstStyle/>
          <a:p>
            <a:pPr lvl="0"/>
            <a:r>
              <a:rPr lang="en-US" dirty="0" smtClean="0"/>
              <a:t>CitiusTech IBM UDMH Expertise Cont’d..</a:t>
            </a:r>
            <a:r>
              <a:rPr lang="en-US" sz="3200" dirty="0" smtClean="0"/>
              <a:t/>
            </a:r>
            <a:br>
              <a:rPr lang="en-US" sz="3200" dirty="0" smtClean="0"/>
            </a:br>
            <a:r>
              <a:rPr lang="en-US" sz="1600" b="0" i="1" dirty="0" smtClean="0"/>
              <a:t>PHS IBM UDMH Integration Partner</a:t>
            </a:r>
            <a:endParaRPr lang="en-US" sz="1600" b="0" i="1" dirty="0"/>
          </a:p>
        </p:txBody>
      </p:sp>
      <p:pic>
        <p:nvPicPr>
          <p:cNvPr id="7" name="Picture 6"/>
          <p:cNvPicPr>
            <a:picLocks noChangeAspect="1"/>
          </p:cNvPicPr>
          <p:nvPr/>
        </p:nvPicPr>
        <p:blipFill>
          <a:blip r:embed="rId2"/>
          <a:stretch>
            <a:fillRect/>
          </a:stretch>
        </p:blipFill>
        <p:spPr>
          <a:xfrm>
            <a:off x="6581601" y="188640"/>
            <a:ext cx="2266950" cy="413931"/>
          </a:xfrm>
          <a:prstGeom prst="rect">
            <a:avLst/>
          </a:prstGeom>
        </p:spPr>
      </p:pic>
      <p:pic>
        <p:nvPicPr>
          <p:cNvPr id="5" name="Picture 4"/>
          <p:cNvPicPr>
            <a:picLocks noChangeAspect="1"/>
          </p:cNvPicPr>
          <p:nvPr/>
        </p:nvPicPr>
        <p:blipFill>
          <a:blip r:embed="rId3"/>
          <a:stretch>
            <a:fillRect/>
          </a:stretch>
        </p:blipFill>
        <p:spPr>
          <a:xfrm>
            <a:off x="575556" y="872716"/>
            <a:ext cx="7992888" cy="5604078"/>
          </a:xfrm>
          <a:prstGeom prst="rect">
            <a:avLst/>
          </a:prstGeom>
        </p:spPr>
      </p:pic>
    </p:spTree>
    <p:extLst>
      <p:ext uri="{BB962C8B-B14F-4D97-AF65-F5344CB8AC3E}">
        <p14:creationId xmlns:p14="http://schemas.microsoft.com/office/powerpoint/2010/main" val="39650459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6062" y="110427"/>
            <a:ext cx="5879456" cy="576064"/>
          </a:xfrm>
        </p:spPr>
        <p:txBody>
          <a:bodyPr/>
          <a:lstStyle/>
          <a:p>
            <a:pPr lvl="0"/>
            <a:r>
              <a:rPr lang="en-US" dirty="0" smtClean="0"/>
              <a:t>CitiusTech IBM UDMH Expertise Cont’d..</a:t>
            </a:r>
            <a:r>
              <a:rPr lang="en-US" sz="3200" dirty="0" smtClean="0"/>
              <a:t/>
            </a:r>
            <a:br>
              <a:rPr lang="en-US" sz="3200" dirty="0" smtClean="0"/>
            </a:br>
            <a:r>
              <a:rPr lang="en-US" sz="1600" b="0" i="1" dirty="0" smtClean="0"/>
              <a:t>PHS IBM UDMH Integration Partner</a:t>
            </a:r>
            <a:endParaRPr lang="en-US" sz="1600" b="0" i="1" dirty="0"/>
          </a:p>
        </p:txBody>
      </p:sp>
      <p:pic>
        <p:nvPicPr>
          <p:cNvPr id="7" name="Picture 6"/>
          <p:cNvPicPr>
            <a:picLocks noChangeAspect="1"/>
          </p:cNvPicPr>
          <p:nvPr/>
        </p:nvPicPr>
        <p:blipFill>
          <a:blip r:embed="rId2"/>
          <a:stretch>
            <a:fillRect/>
          </a:stretch>
        </p:blipFill>
        <p:spPr>
          <a:xfrm>
            <a:off x="6581601" y="188640"/>
            <a:ext cx="2266950" cy="413931"/>
          </a:xfrm>
          <a:prstGeom prst="rect">
            <a:avLst/>
          </a:prstGeom>
        </p:spPr>
      </p:pic>
      <p:sp>
        <p:nvSpPr>
          <p:cNvPr id="8" name="Flowchart: Process 7"/>
          <p:cNvSpPr/>
          <p:nvPr/>
        </p:nvSpPr>
        <p:spPr>
          <a:xfrm>
            <a:off x="101625" y="811741"/>
            <a:ext cx="1108380" cy="4459905"/>
          </a:xfrm>
          <a:prstGeom prst="flowChartProcess">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9" name="Rectangle 8">
            <a:extLst>
              <a:ext uri="{FF2B5EF4-FFF2-40B4-BE49-F238E27FC236}">
                <a16:creationId xmlns:a16="http://schemas.microsoft.com/office/drawing/2014/main" id="{69131526-D563-4733-9EFF-28BAA0024612}"/>
              </a:ext>
            </a:extLst>
          </p:cNvPr>
          <p:cNvSpPr/>
          <p:nvPr/>
        </p:nvSpPr>
        <p:spPr>
          <a:xfrm>
            <a:off x="1318017" y="803430"/>
            <a:ext cx="7754483" cy="5685909"/>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0" name="Flowchart: Process 9">
            <a:extLst>
              <a:ext uri="{FF2B5EF4-FFF2-40B4-BE49-F238E27FC236}">
                <a16:creationId xmlns:a16="http://schemas.microsoft.com/office/drawing/2014/main" id="{5C6C1514-5D15-407A-B5E7-D910CC8F8099}"/>
              </a:ext>
            </a:extLst>
          </p:cNvPr>
          <p:cNvSpPr/>
          <p:nvPr/>
        </p:nvSpPr>
        <p:spPr>
          <a:xfrm>
            <a:off x="2803954" y="2776367"/>
            <a:ext cx="1528995" cy="2504122"/>
          </a:xfrm>
          <a:prstGeom prst="flowChartProcess">
            <a:avLst/>
          </a:prstGeom>
          <a:solidFill>
            <a:schemeClr val="accent5">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b" anchorCtr="0"/>
          <a:lstStyle/>
          <a:p>
            <a:pPr algn="ctr"/>
            <a:endParaRPr lang="en-US" sz="900" dirty="0">
              <a:solidFill>
                <a:prstClr val="black">
                  <a:lumMod val="75000"/>
                  <a:lumOff val="25000"/>
                </a:prstClr>
              </a:solidFill>
            </a:endParaRPr>
          </a:p>
          <a:p>
            <a:pPr algn="ctr"/>
            <a:endParaRPr lang="en-US" sz="900" dirty="0">
              <a:solidFill>
                <a:prstClr val="black">
                  <a:lumMod val="75000"/>
                  <a:lumOff val="25000"/>
                </a:prstClr>
              </a:solidFill>
            </a:endParaRPr>
          </a:p>
          <a:p>
            <a:pPr algn="ctr"/>
            <a:endParaRPr lang="en-US" sz="900" dirty="0">
              <a:solidFill>
                <a:prstClr val="black">
                  <a:lumMod val="75000"/>
                  <a:lumOff val="25000"/>
                </a:prstClr>
              </a:solidFill>
            </a:endParaRPr>
          </a:p>
          <a:p>
            <a:pPr algn="ctr"/>
            <a:endParaRPr lang="en-US" sz="900" dirty="0">
              <a:solidFill>
                <a:prstClr val="black">
                  <a:lumMod val="75000"/>
                  <a:lumOff val="25000"/>
                </a:prstClr>
              </a:solidFill>
            </a:endParaRPr>
          </a:p>
          <a:p>
            <a:pPr algn="ctr"/>
            <a:endParaRPr lang="en-US" sz="900" dirty="0">
              <a:solidFill>
                <a:prstClr val="black">
                  <a:lumMod val="75000"/>
                  <a:lumOff val="25000"/>
                </a:prstClr>
              </a:solidFill>
            </a:endParaRPr>
          </a:p>
        </p:txBody>
      </p:sp>
      <p:sp>
        <p:nvSpPr>
          <p:cNvPr id="11" name="Flowchart: Process 10">
            <a:extLst>
              <a:ext uri="{FF2B5EF4-FFF2-40B4-BE49-F238E27FC236}">
                <a16:creationId xmlns:a16="http://schemas.microsoft.com/office/drawing/2014/main" id="{495F9296-8D8A-4AC9-A09D-FED5E747A400}"/>
              </a:ext>
            </a:extLst>
          </p:cNvPr>
          <p:cNvSpPr/>
          <p:nvPr/>
        </p:nvSpPr>
        <p:spPr>
          <a:xfrm>
            <a:off x="2907416" y="2885233"/>
            <a:ext cx="602545" cy="2359868"/>
          </a:xfrm>
          <a:prstGeom prst="flowChartProcess">
            <a:avLst/>
          </a:prstGeom>
          <a:solidFill>
            <a:schemeClr val="bg1">
              <a:lumMod val="95000"/>
            </a:schemeClr>
          </a:solidFill>
          <a:ln>
            <a:noFill/>
          </a:ln>
          <a:effectLst/>
        </p:spPr>
        <p:style>
          <a:lnRef idx="1">
            <a:schemeClr val="dk1"/>
          </a:lnRef>
          <a:fillRef idx="2">
            <a:schemeClr val="dk1"/>
          </a:fillRef>
          <a:effectRef idx="1">
            <a:schemeClr val="dk1"/>
          </a:effectRef>
          <a:fontRef idx="minor">
            <a:schemeClr val="dk1"/>
          </a:fontRef>
        </p:style>
        <p:txBody>
          <a:bodyPr rtlCol="0" anchor="b"/>
          <a:lstStyle/>
          <a:p>
            <a:pPr algn="ctr">
              <a:defRPr/>
            </a:pPr>
            <a:r>
              <a:rPr lang="en-US" sz="900" dirty="0">
                <a:solidFill>
                  <a:prstClr val="black">
                    <a:lumMod val="75000"/>
                    <a:lumOff val="25000"/>
                  </a:prstClr>
                </a:solidFill>
              </a:rPr>
              <a:t>                                                   </a:t>
            </a:r>
            <a:r>
              <a:rPr lang="en-US" sz="900" dirty="0">
                <a:solidFill>
                  <a:prstClr val="black">
                    <a:lumMod val="75000"/>
                    <a:lumOff val="25000"/>
                  </a:prstClr>
                </a:solidFill>
                <a:effectLst>
                  <a:innerShdw blurRad="63500" dist="50800" dir="13500000">
                    <a:prstClr val="black">
                      <a:alpha val="50000"/>
                    </a:prstClr>
                  </a:innerShdw>
                </a:effectLst>
              </a:rPr>
              <a:t> Staging Area</a:t>
            </a:r>
          </a:p>
        </p:txBody>
      </p:sp>
      <p:sp>
        <p:nvSpPr>
          <p:cNvPr id="12" name="Flowchart: Process 11">
            <a:extLst>
              <a:ext uri="{FF2B5EF4-FFF2-40B4-BE49-F238E27FC236}">
                <a16:creationId xmlns:a16="http://schemas.microsoft.com/office/drawing/2014/main" id="{191880E2-28A2-4316-8367-B089465211C0}"/>
              </a:ext>
            </a:extLst>
          </p:cNvPr>
          <p:cNvSpPr/>
          <p:nvPr/>
        </p:nvSpPr>
        <p:spPr>
          <a:xfrm>
            <a:off x="2958498" y="3537647"/>
            <a:ext cx="492404" cy="272342"/>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MDM/ RDM</a:t>
            </a:r>
          </a:p>
        </p:txBody>
      </p:sp>
      <p:sp>
        <p:nvSpPr>
          <p:cNvPr id="13" name="Flowchart: Process 12">
            <a:extLst>
              <a:ext uri="{FF2B5EF4-FFF2-40B4-BE49-F238E27FC236}">
                <a16:creationId xmlns:a16="http://schemas.microsoft.com/office/drawing/2014/main" id="{3F2E673C-E930-4E72-8533-7470B60708F3}"/>
              </a:ext>
            </a:extLst>
          </p:cNvPr>
          <p:cNvSpPr/>
          <p:nvPr/>
        </p:nvSpPr>
        <p:spPr>
          <a:xfrm>
            <a:off x="2966552" y="2947806"/>
            <a:ext cx="492404" cy="225464"/>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Epic</a:t>
            </a:r>
          </a:p>
        </p:txBody>
      </p:sp>
      <p:sp>
        <p:nvSpPr>
          <p:cNvPr id="14" name="Flowchart: Process 13">
            <a:extLst>
              <a:ext uri="{FF2B5EF4-FFF2-40B4-BE49-F238E27FC236}">
                <a16:creationId xmlns:a16="http://schemas.microsoft.com/office/drawing/2014/main" id="{DE7AAB2B-3A5E-404F-B1C3-1397A5CFE45A}"/>
              </a:ext>
            </a:extLst>
          </p:cNvPr>
          <p:cNvSpPr/>
          <p:nvPr/>
        </p:nvSpPr>
        <p:spPr>
          <a:xfrm>
            <a:off x="2958498" y="3242379"/>
            <a:ext cx="492404" cy="234315"/>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defRPr/>
            </a:pPr>
            <a:r>
              <a:rPr lang="en-US" sz="900" dirty="0">
                <a:solidFill>
                  <a:prstClr val="black">
                    <a:lumMod val="75000"/>
                    <a:lumOff val="25000"/>
                  </a:prstClr>
                </a:solidFill>
              </a:rPr>
              <a:t>Facets</a:t>
            </a:r>
          </a:p>
        </p:txBody>
      </p:sp>
      <p:sp>
        <p:nvSpPr>
          <p:cNvPr id="15" name="Flowchart: Process 14">
            <a:extLst>
              <a:ext uri="{FF2B5EF4-FFF2-40B4-BE49-F238E27FC236}">
                <a16:creationId xmlns:a16="http://schemas.microsoft.com/office/drawing/2014/main" id="{6282D586-C232-4C5D-82AA-9B0024BC1F84}"/>
              </a:ext>
            </a:extLst>
          </p:cNvPr>
          <p:cNvSpPr/>
          <p:nvPr/>
        </p:nvSpPr>
        <p:spPr>
          <a:xfrm>
            <a:off x="2942579" y="4492750"/>
            <a:ext cx="525399" cy="393192"/>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OptumRX </a:t>
            </a:r>
          </a:p>
        </p:txBody>
      </p:sp>
      <p:sp>
        <p:nvSpPr>
          <p:cNvPr id="16" name="Flowchart: Process 15">
            <a:extLst>
              <a:ext uri="{FF2B5EF4-FFF2-40B4-BE49-F238E27FC236}">
                <a16:creationId xmlns:a16="http://schemas.microsoft.com/office/drawing/2014/main" id="{52F0B921-64CA-4235-B113-55A66396C7C4}"/>
              </a:ext>
            </a:extLst>
          </p:cNvPr>
          <p:cNvSpPr/>
          <p:nvPr/>
        </p:nvSpPr>
        <p:spPr>
          <a:xfrm>
            <a:off x="4768571" y="2750243"/>
            <a:ext cx="1097241" cy="2538935"/>
          </a:xfrm>
          <a:prstGeom prst="flowChartProcess">
            <a:avLst/>
          </a:prstGeom>
          <a:solidFill>
            <a:schemeClr val="accent5">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b" anchorCtr="0"/>
          <a:lstStyle/>
          <a:p>
            <a:pPr algn="ctr">
              <a:defRPr/>
            </a:pPr>
            <a:endParaRPr lang="en-US" sz="900" dirty="0">
              <a:solidFill>
                <a:prstClr val="black">
                  <a:lumMod val="75000"/>
                  <a:lumOff val="25000"/>
                </a:prstClr>
              </a:solidFill>
            </a:endParaRPr>
          </a:p>
        </p:txBody>
      </p:sp>
      <p:sp>
        <p:nvSpPr>
          <p:cNvPr id="17" name="Flowchart: Process 16">
            <a:extLst>
              <a:ext uri="{FF2B5EF4-FFF2-40B4-BE49-F238E27FC236}">
                <a16:creationId xmlns:a16="http://schemas.microsoft.com/office/drawing/2014/main" id="{A615B907-CC32-429F-BA86-FE798F5642CB}"/>
              </a:ext>
            </a:extLst>
          </p:cNvPr>
          <p:cNvSpPr/>
          <p:nvPr/>
        </p:nvSpPr>
        <p:spPr>
          <a:xfrm>
            <a:off x="4910349" y="2867083"/>
            <a:ext cx="791607" cy="715193"/>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Epic (Master/Rltn/Array)</a:t>
            </a:r>
          </a:p>
        </p:txBody>
      </p:sp>
      <p:sp>
        <p:nvSpPr>
          <p:cNvPr id="18" name="Flowchart: Process 17">
            <a:extLst>
              <a:ext uri="{FF2B5EF4-FFF2-40B4-BE49-F238E27FC236}">
                <a16:creationId xmlns:a16="http://schemas.microsoft.com/office/drawing/2014/main" id="{BD56334E-2403-412A-99FF-D7E2F698F324}"/>
              </a:ext>
            </a:extLst>
          </p:cNvPr>
          <p:cNvSpPr/>
          <p:nvPr/>
        </p:nvSpPr>
        <p:spPr>
          <a:xfrm>
            <a:off x="4913047" y="3660201"/>
            <a:ext cx="800336" cy="715193"/>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Facets (Master/Rltn/Array)</a:t>
            </a:r>
          </a:p>
        </p:txBody>
      </p:sp>
      <p:sp>
        <p:nvSpPr>
          <p:cNvPr id="19" name="Flowchart: Process 18">
            <a:extLst>
              <a:ext uri="{FF2B5EF4-FFF2-40B4-BE49-F238E27FC236}">
                <a16:creationId xmlns:a16="http://schemas.microsoft.com/office/drawing/2014/main" id="{52F700E9-7522-41A0-AC0B-7D71FC18D2DC}"/>
              </a:ext>
            </a:extLst>
          </p:cNvPr>
          <p:cNvSpPr/>
          <p:nvPr/>
        </p:nvSpPr>
        <p:spPr>
          <a:xfrm>
            <a:off x="4910349" y="4453318"/>
            <a:ext cx="791607" cy="715193"/>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OptumRx (Master/Rltn/Array)</a:t>
            </a:r>
          </a:p>
        </p:txBody>
      </p:sp>
      <p:sp>
        <p:nvSpPr>
          <p:cNvPr id="20" name="Flowchart: Process 19">
            <a:extLst>
              <a:ext uri="{FF2B5EF4-FFF2-40B4-BE49-F238E27FC236}">
                <a16:creationId xmlns:a16="http://schemas.microsoft.com/office/drawing/2014/main" id="{7468F102-B00E-4620-B7A8-EEE4B6CBF4DD}"/>
              </a:ext>
            </a:extLst>
          </p:cNvPr>
          <p:cNvSpPr/>
          <p:nvPr/>
        </p:nvSpPr>
        <p:spPr>
          <a:xfrm>
            <a:off x="2803953" y="5554775"/>
            <a:ext cx="6056645" cy="790400"/>
          </a:xfrm>
          <a:prstGeom prst="flowChartProcess">
            <a:avLst/>
          </a:prstGeom>
          <a:solidFill>
            <a:schemeClr val="accent5">
              <a:lumMod val="20000"/>
              <a:lumOff val="80000"/>
            </a:schemeClr>
          </a:solidFill>
          <a:ln>
            <a:noFill/>
          </a:ln>
          <a:effectLst/>
        </p:spPr>
        <p:style>
          <a:lnRef idx="3">
            <a:schemeClr val="lt1"/>
          </a:lnRef>
          <a:fillRef idx="1">
            <a:schemeClr val="accent5"/>
          </a:fillRef>
          <a:effectRef idx="1">
            <a:schemeClr val="accent5"/>
          </a:effectRef>
          <a:fontRef idx="minor">
            <a:schemeClr val="lt1"/>
          </a:fontRef>
        </p:style>
        <p:txBody>
          <a:bodyPr rtlCol="0" anchor="b" anchorCtr="0"/>
          <a:lstStyle/>
          <a:p>
            <a:pPr algn="ctr">
              <a:defRPr/>
            </a:pPr>
            <a:endParaRPr lang="en-US" sz="1500" dirty="0">
              <a:solidFill>
                <a:prstClr val="black">
                  <a:lumMod val="75000"/>
                  <a:lumOff val="25000"/>
                </a:prstClr>
              </a:solidFill>
            </a:endParaRPr>
          </a:p>
        </p:txBody>
      </p:sp>
      <p:sp>
        <p:nvSpPr>
          <p:cNvPr id="21" name="Flowchart: Process 20">
            <a:extLst>
              <a:ext uri="{FF2B5EF4-FFF2-40B4-BE49-F238E27FC236}">
                <a16:creationId xmlns:a16="http://schemas.microsoft.com/office/drawing/2014/main" id="{475669B7-003F-4B84-943C-C15B8B9D41F6}"/>
              </a:ext>
            </a:extLst>
          </p:cNvPr>
          <p:cNvSpPr/>
          <p:nvPr/>
        </p:nvSpPr>
        <p:spPr>
          <a:xfrm>
            <a:off x="6303251" y="2732711"/>
            <a:ext cx="1084652" cy="2538935"/>
          </a:xfrm>
          <a:prstGeom prst="flowChartProcess">
            <a:avLst/>
          </a:prstGeom>
          <a:solidFill>
            <a:schemeClr val="accent5">
              <a:lumMod val="20000"/>
              <a:lumOff val="80000"/>
            </a:schemeClr>
          </a:solidFill>
          <a:ln w="28575">
            <a:noFill/>
          </a:ln>
          <a:effectLst/>
        </p:spPr>
        <p:style>
          <a:lnRef idx="3">
            <a:schemeClr val="lt1"/>
          </a:lnRef>
          <a:fillRef idx="1">
            <a:schemeClr val="accent1"/>
          </a:fillRef>
          <a:effectRef idx="1">
            <a:schemeClr val="accent1"/>
          </a:effectRef>
          <a:fontRef idx="minor">
            <a:schemeClr val="lt1"/>
          </a:fontRef>
        </p:style>
        <p:txBody>
          <a:bodyPr tIns="0" bIns="0" rtlCol="0" anchor="b" anchorCtr="0"/>
          <a:lstStyle/>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a:p>
            <a:pPr algn="ctr">
              <a:defRPr/>
            </a:pPr>
            <a:endParaRPr lang="en-US" sz="900" dirty="0">
              <a:solidFill>
                <a:prstClr val="black">
                  <a:lumMod val="75000"/>
                  <a:lumOff val="25000"/>
                </a:prstClr>
              </a:solidFill>
            </a:endParaRPr>
          </a:p>
        </p:txBody>
      </p:sp>
      <p:sp>
        <p:nvSpPr>
          <p:cNvPr id="22" name="Flowchart: Process 21">
            <a:extLst>
              <a:ext uri="{FF2B5EF4-FFF2-40B4-BE49-F238E27FC236}">
                <a16:creationId xmlns:a16="http://schemas.microsoft.com/office/drawing/2014/main" id="{A1715A17-377C-4714-9C7B-163E013E6A56}"/>
              </a:ext>
            </a:extLst>
          </p:cNvPr>
          <p:cNvSpPr/>
          <p:nvPr/>
        </p:nvSpPr>
        <p:spPr>
          <a:xfrm>
            <a:off x="7701797" y="2732711"/>
            <a:ext cx="1133377" cy="2538935"/>
          </a:xfrm>
          <a:prstGeom prst="flowChartProcess">
            <a:avLst/>
          </a:prstGeom>
          <a:solidFill>
            <a:schemeClr val="accent5">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bIns="0" rtlCol="0" anchor="b" anchorCtr="0"/>
          <a:lstStyle/>
          <a:p>
            <a:pPr algn="ctr">
              <a:defRPr/>
            </a:pPr>
            <a:endParaRPr lang="en-US" sz="1600" dirty="0">
              <a:solidFill>
                <a:prstClr val="black">
                  <a:lumMod val="75000"/>
                  <a:lumOff val="25000"/>
                </a:prstClr>
              </a:solidFill>
            </a:endParaRPr>
          </a:p>
        </p:txBody>
      </p:sp>
      <p:sp>
        <p:nvSpPr>
          <p:cNvPr id="23" name="Flowchart: Process 22">
            <a:extLst>
              <a:ext uri="{FF2B5EF4-FFF2-40B4-BE49-F238E27FC236}">
                <a16:creationId xmlns:a16="http://schemas.microsoft.com/office/drawing/2014/main" id="{7BD2AE28-ADA5-4B86-AE43-B11A6BB1241D}"/>
              </a:ext>
            </a:extLst>
          </p:cNvPr>
          <p:cNvSpPr/>
          <p:nvPr/>
        </p:nvSpPr>
        <p:spPr>
          <a:xfrm>
            <a:off x="5987752" y="1315797"/>
            <a:ext cx="2847423" cy="353066"/>
          </a:xfrm>
          <a:prstGeom prst="flowChartProcess">
            <a:avLst/>
          </a:prstGeom>
          <a:noFill/>
          <a:ln w="3175">
            <a:solidFill>
              <a:schemeClr val="tx1">
                <a:lumMod val="50000"/>
                <a:lumOff val="50000"/>
              </a:schemeClr>
            </a:solidFill>
          </a:ln>
          <a:effectLst/>
        </p:spPr>
        <p:style>
          <a:lnRef idx="1">
            <a:schemeClr val="dk1"/>
          </a:lnRef>
          <a:fillRef idx="2">
            <a:schemeClr val="dk1"/>
          </a:fillRef>
          <a:effectRef idx="1">
            <a:schemeClr val="dk1"/>
          </a:effectRef>
          <a:fontRef idx="minor">
            <a:schemeClr val="dk1"/>
          </a:fontRef>
        </p:style>
        <p:txBody>
          <a:bodyPr lIns="0" tIns="91440" rIns="1280160" rtlCol="0" anchor="b" anchorCtr="0">
            <a:noAutofit/>
          </a:bodyPr>
          <a:lstStyle/>
          <a:p>
            <a:r>
              <a:rPr lang="en-US" sz="1600" b="1" dirty="0">
                <a:solidFill>
                  <a:srgbClr val="4BACC6">
                    <a:lumMod val="75000"/>
                  </a:srgbClr>
                </a:solidFill>
              </a:rPr>
              <a:t>               </a:t>
            </a:r>
          </a:p>
        </p:txBody>
      </p:sp>
      <p:sp>
        <p:nvSpPr>
          <p:cNvPr id="24" name="Flowchart: Process 23">
            <a:extLst>
              <a:ext uri="{FF2B5EF4-FFF2-40B4-BE49-F238E27FC236}">
                <a16:creationId xmlns:a16="http://schemas.microsoft.com/office/drawing/2014/main" id="{56587F88-50F0-465B-95FC-E4626E49D8B4}"/>
              </a:ext>
            </a:extLst>
          </p:cNvPr>
          <p:cNvSpPr/>
          <p:nvPr/>
        </p:nvSpPr>
        <p:spPr>
          <a:xfrm>
            <a:off x="6426526" y="2865641"/>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Anchor </a:t>
            </a:r>
          </a:p>
          <a:p>
            <a:pPr algn="ctr"/>
            <a:r>
              <a:rPr lang="en-US" sz="900" dirty="0">
                <a:solidFill>
                  <a:prstClr val="black">
                    <a:lumMod val="75000"/>
                    <a:lumOff val="25000"/>
                  </a:prstClr>
                </a:solidFill>
              </a:rPr>
              <a:t>(E.g. claims)</a:t>
            </a:r>
          </a:p>
        </p:txBody>
      </p:sp>
      <p:sp>
        <p:nvSpPr>
          <p:cNvPr id="25" name="Flowchart: Process 24">
            <a:extLst>
              <a:ext uri="{FF2B5EF4-FFF2-40B4-BE49-F238E27FC236}">
                <a16:creationId xmlns:a16="http://schemas.microsoft.com/office/drawing/2014/main" id="{F6A7D363-8723-41A2-B714-271ADD79A6E0}"/>
              </a:ext>
            </a:extLst>
          </p:cNvPr>
          <p:cNvSpPr/>
          <p:nvPr/>
        </p:nvSpPr>
        <p:spPr>
          <a:xfrm>
            <a:off x="6426526" y="3461697"/>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Detail</a:t>
            </a:r>
          </a:p>
          <a:p>
            <a:pPr algn="ctr"/>
            <a:r>
              <a:rPr lang="en-US" sz="900" dirty="0">
                <a:solidFill>
                  <a:prstClr val="black">
                    <a:lumMod val="75000"/>
                    <a:lumOff val="25000"/>
                  </a:prstClr>
                </a:solidFill>
              </a:rPr>
              <a:t>(E.g. claim detail)</a:t>
            </a:r>
          </a:p>
        </p:txBody>
      </p:sp>
      <p:sp>
        <p:nvSpPr>
          <p:cNvPr id="26" name="Flowchart: Process 25">
            <a:extLst>
              <a:ext uri="{FF2B5EF4-FFF2-40B4-BE49-F238E27FC236}">
                <a16:creationId xmlns:a16="http://schemas.microsoft.com/office/drawing/2014/main" id="{A1E4488C-FF10-47DB-9F62-6EBA9677DD37}"/>
              </a:ext>
            </a:extLst>
          </p:cNvPr>
          <p:cNvSpPr/>
          <p:nvPr/>
        </p:nvSpPr>
        <p:spPr>
          <a:xfrm>
            <a:off x="6426526" y="4057753"/>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Link (E.g. claim/claim line)</a:t>
            </a:r>
          </a:p>
        </p:txBody>
      </p:sp>
      <p:sp>
        <p:nvSpPr>
          <p:cNvPr id="27" name="Flowchart: Process 26">
            <a:extLst>
              <a:ext uri="{FF2B5EF4-FFF2-40B4-BE49-F238E27FC236}">
                <a16:creationId xmlns:a16="http://schemas.microsoft.com/office/drawing/2014/main" id="{472A578B-0F23-498D-916E-34AFF470F310}"/>
              </a:ext>
            </a:extLst>
          </p:cNvPr>
          <p:cNvSpPr/>
          <p:nvPr/>
        </p:nvSpPr>
        <p:spPr>
          <a:xfrm>
            <a:off x="6426526" y="4653809"/>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Array </a:t>
            </a:r>
          </a:p>
          <a:p>
            <a:pPr algn="ctr"/>
            <a:r>
              <a:rPr lang="en-US" sz="900" dirty="0">
                <a:solidFill>
                  <a:prstClr val="black">
                    <a:lumMod val="75000"/>
                    <a:lumOff val="25000"/>
                  </a:prstClr>
                </a:solidFill>
              </a:rPr>
              <a:t>(E.g. claim line amount)</a:t>
            </a:r>
          </a:p>
        </p:txBody>
      </p:sp>
      <p:sp>
        <p:nvSpPr>
          <p:cNvPr id="28" name="Flowchart: Process 27">
            <a:extLst>
              <a:ext uri="{FF2B5EF4-FFF2-40B4-BE49-F238E27FC236}">
                <a16:creationId xmlns:a16="http://schemas.microsoft.com/office/drawing/2014/main" id="{4ED84A7C-33FA-4E02-BF68-A9F3162AFD30}"/>
              </a:ext>
            </a:extLst>
          </p:cNvPr>
          <p:cNvSpPr/>
          <p:nvPr/>
        </p:nvSpPr>
        <p:spPr>
          <a:xfrm>
            <a:off x="7864395" y="2865641"/>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Dimension</a:t>
            </a:r>
          </a:p>
          <a:p>
            <a:pPr algn="ctr"/>
            <a:r>
              <a:rPr lang="en-US" sz="900" dirty="0">
                <a:solidFill>
                  <a:prstClr val="black">
                    <a:lumMod val="75000"/>
                    <a:lumOff val="25000"/>
                  </a:prstClr>
                </a:solidFill>
              </a:rPr>
              <a:t>(E.g. clm dim)</a:t>
            </a:r>
          </a:p>
        </p:txBody>
      </p:sp>
      <p:sp>
        <p:nvSpPr>
          <p:cNvPr id="29" name="Flowchart: Process 28">
            <a:extLst>
              <a:ext uri="{FF2B5EF4-FFF2-40B4-BE49-F238E27FC236}">
                <a16:creationId xmlns:a16="http://schemas.microsoft.com/office/drawing/2014/main" id="{CBFFED73-C43C-4BD0-B6C3-03FCAB3D4811}"/>
              </a:ext>
            </a:extLst>
          </p:cNvPr>
          <p:cNvSpPr/>
          <p:nvPr/>
        </p:nvSpPr>
        <p:spPr>
          <a:xfrm>
            <a:off x="7875500" y="3461697"/>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Fact</a:t>
            </a:r>
          </a:p>
          <a:p>
            <a:pPr algn="ctr"/>
            <a:r>
              <a:rPr lang="en-US" sz="900" dirty="0">
                <a:solidFill>
                  <a:prstClr val="black">
                    <a:lumMod val="75000"/>
                    <a:lumOff val="25000"/>
                  </a:prstClr>
                </a:solidFill>
              </a:rPr>
              <a:t>(E.g. clm fact)</a:t>
            </a:r>
          </a:p>
        </p:txBody>
      </p:sp>
      <p:sp>
        <p:nvSpPr>
          <p:cNvPr id="30" name="Flowchart: Process 29">
            <a:extLst>
              <a:ext uri="{FF2B5EF4-FFF2-40B4-BE49-F238E27FC236}">
                <a16:creationId xmlns:a16="http://schemas.microsoft.com/office/drawing/2014/main" id="{A42B9209-F885-4F97-BFFA-929B0624D126}"/>
              </a:ext>
            </a:extLst>
          </p:cNvPr>
          <p:cNvSpPr/>
          <p:nvPr/>
        </p:nvSpPr>
        <p:spPr>
          <a:xfrm>
            <a:off x="7871470" y="4057753"/>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Bridge (E.g. clm 2 pract brg)</a:t>
            </a:r>
          </a:p>
        </p:txBody>
      </p:sp>
      <p:sp>
        <p:nvSpPr>
          <p:cNvPr id="31" name="Flowchart: Process 30">
            <a:extLst>
              <a:ext uri="{FF2B5EF4-FFF2-40B4-BE49-F238E27FC236}">
                <a16:creationId xmlns:a16="http://schemas.microsoft.com/office/drawing/2014/main" id="{6CEAE433-F938-4FC0-AF8E-19F71F024C57}"/>
              </a:ext>
            </a:extLst>
          </p:cNvPr>
          <p:cNvSpPr/>
          <p:nvPr/>
        </p:nvSpPr>
        <p:spPr>
          <a:xfrm>
            <a:off x="7870569" y="4653809"/>
            <a:ext cx="855229" cy="500635"/>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prstClr val="black">
                    <a:lumMod val="75000"/>
                    <a:lumOff val="25000"/>
                  </a:prstClr>
                </a:solidFill>
              </a:rPr>
              <a:t>Array</a:t>
            </a:r>
          </a:p>
          <a:p>
            <a:pPr algn="ctr"/>
            <a:r>
              <a:rPr lang="en-US" sz="900" dirty="0">
                <a:solidFill>
                  <a:prstClr val="black">
                    <a:lumMod val="75000"/>
                    <a:lumOff val="25000"/>
                  </a:prstClr>
                </a:solidFill>
              </a:rPr>
              <a:t>(E.g. clm cdtn cd otr)</a:t>
            </a:r>
          </a:p>
        </p:txBody>
      </p:sp>
      <p:sp>
        <p:nvSpPr>
          <p:cNvPr id="32" name="TextBox 31">
            <a:extLst>
              <a:ext uri="{FF2B5EF4-FFF2-40B4-BE49-F238E27FC236}">
                <a16:creationId xmlns:a16="http://schemas.microsoft.com/office/drawing/2014/main" id="{C461991E-342F-41E4-875A-6569652F0D58}"/>
              </a:ext>
            </a:extLst>
          </p:cNvPr>
          <p:cNvSpPr txBox="1"/>
          <p:nvPr/>
        </p:nvSpPr>
        <p:spPr>
          <a:xfrm>
            <a:off x="3698169" y="957735"/>
            <a:ext cx="2123082" cy="369332"/>
          </a:xfrm>
          <a:prstGeom prst="rect">
            <a:avLst/>
          </a:prstGeom>
          <a:noFill/>
        </p:spPr>
        <p:txBody>
          <a:bodyPr wrap="none" rtlCol="0">
            <a:spAutoFit/>
          </a:bodyPr>
          <a:lstStyle/>
          <a:p>
            <a:pPr>
              <a:defRPr/>
            </a:pPr>
            <a:r>
              <a:rPr lang="en-US" b="1" dirty="0">
                <a:solidFill>
                  <a:srgbClr val="EEECE1">
                    <a:lumMod val="25000"/>
                  </a:srgbClr>
                </a:solidFill>
              </a:rPr>
              <a:t> IRADW on IBM PDA</a:t>
            </a:r>
            <a:endParaRPr lang="en-US" b="1" dirty="0">
              <a:solidFill>
                <a:prstClr val="black"/>
              </a:solidFill>
            </a:endParaRPr>
          </a:p>
        </p:txBody>
      </p:sp>
      <p:sp>
        <p:nvSpPr>
          <p:cNvPr id="33" name="Rectangle 32">
            <a:extLst>
              <a:ext uri="{FF2B5EF4-FFF2-40B4-BE49-F238E27FC236}">
                <a16:creationId xmlns:a16="http://schemas.microsoft.com/office/drawing/2014/main" id="{36AF3B46-994F-47C7-B7F3-CAC9E1657520}"/>
              </a:ext>
            </a:extLst>
          </p:cNvPr>
          <p:cNvSpPr/>
          <p:nvPr/>
        </p:nvSpPr>
        <p:spPr>
          <a:xfrm>
            <a:off x="3204700" y="5667150"/>
            <a:ext cx="1152000" cy="360000"/>
          </a:xfrm>
          <a:prstGeom prst="rect">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solidFill>
                  <a:prstClr val="black">
                    <a:lumMod val="75000"/>
                    <a:lumOff val="25000"/>
                  </a:prstClr>
                </a:solidFill>
              </a:rPr>
              <a:t>Job control</a:t>
            </a:r>
          </a:p>
        </p:txBody>
      </p:sp>
      <p:sp>
        <p:nvSpPr>
          <p:cNvPr id="34" name="Rectangle 33">
            <a:extLst>
              <a:ext uri="{FF2B5EF4-FFF2-40B4-BE49-F238E27FC236}">
                <a16:creationId xmlns:a16="http://schemas.microsoft.com/office/drawing/2014/main" id="{0C145DE9-7BF5-4ADC-9131-95754FA717AD}"/>
              </a:ext>
            </a:extLst>
          </p:cNvPr>
          <p:cNvSpPr/>
          <p:nvPr/>
        </p:nvSpPr>
        <p:spPr>
          <a:xfrm>
            <a:off x="4549956" y="5677398"/>
            <a:ext cx="1152000" cy="360000"/>
          </a:xfrm>
          <a:prstGeom prst="rect">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solidFill>
                  <a:prstClr val="black">
                    <a:lumMod val="75000"/>
                    <a:lumOff val="25000"/>
                  </a:prstClr>
                </a:solidFill>
              </a:rPr>
              <a:t>Audit</a:t>
            </a:r>
          </a:p>
        </p:txBody>
      </p:sp>
      <p:sp>
        <p:nvSpPr>
          <p:cNvPr id="35" name="Rectangle 34">
            <a:extLst>
              <a:ext uri="{FF2B5EF4-FFF2-40B4-BE49-F238E27FC236}">
                <a16:creationId xmlns:a16="http://schemas.microsoft.com/office/drawing/2014/main" id="{A6BEDB9A-C697-436F-BB47-3E78DB9AD50C}"/>
              </a:ext>
            </a:extLst>
          </p:cNvPr>
          <p:cNvSpPr/>
          <p:nvPr/>
        </p:nvSpPr>
        <p:spPr>
          <a:xfrm>
            <a:off x="5903000" y="5682241"/>
            <a:ext cx="1152000" cy="360000"/>
          </a:xfrm>
          <a:prstGeom prst="rect">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solidFill>
                  <a:prstClr val="black">
                    <a:lumMod val="75000"/>
                    <a:lumOff val="25000"/>
                  </a:prstClr>
                </a:solidFill>
              </a:rPr>
              <a:t>Logging</a:t>
            </a:r>
          </a:p>
        </p:txBody>
      </p:sp>
      <p:sp>
        <p:nvSpPr>
          <p:cNvPr id="36" name="Rectangle 35">
            <a:extLst>
              <a:ext uri="{FF2B5EF4-FFF2-40B4-BE49-F238E27FC236}">
                <a16:creationId xmlns:a16="http://schemas.microsoft.com/office/drawing/2014/main" id="{A5C91D61-CEFB-488D-9F55-F2AABDEA379D}"/>
              </a:ext>
            </a:extLst>
          </p:cNvPr>
          <p:cNvSpPr/>
          <p:nvPr/>
        </p:nvSpPr>
        <p:spPr>
          <a:xfrm>
            <a:off x="7228780" y="5667150"/>
            <a:ext cx="1152000" cy="360000"/>
          </a:xfrm>
          <a:prstGeom prst="rect">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b="1" dirty="0">
                <a:solidFill>
                  <a:prstClr val="black">
                    <a:lumMod val="75000"/>
                    <a:lumOff val="25000"/>
                  </a:prstClr>
                </a:solidFill>
              </a:rPr>
              <a:t>Notification</a:t>
            </a:r>
          </a:p>
        </p:txBody>
      </p:sp>
      <p:grpSp>
        <p:nvGrpSpPr>
          <p:cNvPr id="37" name="Group 36">
            <a:extLst>
              <a:ext uri="{FF2B5EF4-FFF2-40B4-BE49-F238E27FC236}">
                <a16:creationId xmlns:a16="http://schemas.microsoft.com/office/drawing/2014/main" id="{A88E4D7A-3E6A-44D6-AA33-F46CACC6A943}"/>
              </a:ext>
            </a:extLst>
          </p:cNvPr>
          <p:cNvGrpSpPr/>
          <p:nvPr/>
        </p:nvGrpSpPr>
        <p:grpSpPr>
          <a:xfrm>
            <a:off x="6970645" y="811742"/>
            <a:ext cx="477235" cy="330660"/>
            <a:chOff x="1610468" y="-142195"/>
            <a:chExt cx="1301193" cy="836307"/>
          </a:xfrm>
        </p:grpSpPr>
        <p:pic>
          <p:nvPicPr>
            <p:cNvPr id="38" name="Picture 2" descr="\\10.1.1.2\Marketing\ISL1\Images_purchased\Annual istockphoto subscription\October 16\Professionals icons.jpg">
              <a:extLst>
                <a:ext uri="{FF2B5EF4-FFF2-40B4-BE49-F238E27FC236}">
                  <a16:creationId xmlns:a16="http://schemas.microsoft.com/office/drawing/2014/main" id="{6454F69D-2814-4F3A-872C-DFF704B1DC31}"/>
                </a:ext>
              </a:extLst>
            </p:cNvPr>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9292" t="50000"/>
            <a:stretch/>
          </p:blipFill>
          <p:spPr bwMode="auto">
            <a:xfrm>
              <a:off x="1610468" y="-142195"/>
              <a:ext cx="1025458" cy="61200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10.1.1.2\Marketing\ISL1\Images_purchased\Annual istockphoto subscription\October 16\Professionals icons.jpg">
              <a:extLst>
                <a:ext uri="{FF2B5EF4-FFF2-40B4-BE49-F238E27FC236}">
                  <a16:creationId xmlns:a16="http://schemas.microsoft.com/office/drawing/2014/main" id="{1A01D328-F25D-4C11-B062-610609B1F83A}"/>
                </a:ext>
              </a:extLst>
            </p:cNvPr>
            <p:cNvPicPr>
              <a:picLocks noChangeAspect="1" noChangeArrowheads="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50000" r="50000"/>
            <a:stretch/>
          </p:blipFill>
          <p:spPr bwMode="auto">
            <a:xfrm>
              <a:off x="1867206" y="61941"/>
              <a:ext cx="1044455" cy="632171"/>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Flowchart: Process 39">
            <a:extLst>
              <a:ext uri="{FF2B5EF4-FFF2-40B4-BE49-F238E27FC236}">
                <a16:creationId xmlns:a16="http://schemas.microsoft.com/office/drawing/2014/main" id="{4DE41046-DF91-45B1-9E2C-DCBBAEEA7951}"/>
              </a:ext>
            </a:extLst>
          </p:cNvPr>
          <p:cNvSpPr/>
          <p:nvPr/>
        </p:nvSpPr>
        <p:spPr>
          <a:xfrm>
            <a:off x="3643560" y="2893472"/>
            <a:ext cx="602545" cy="2359868"/>
          </a:xfrm>
          <a:prstGeom prst="flowChartProcess">
            <a:avLst/>
          </a:prstGeom>
          <a:solidFill>
            <a:schemeClr val="bg1">
              <a:lumMod val="95000"/>
            </a:schemeClr>
          </a:solidFill>
          <a:ln>
            <a:noFill/>
          </a:ln>
          <a:effectLst/>
        </p:spPr>
        <p:style>
          <a:lnRef idx="1">
            <a:schemeClr val="dk1"/>
          </a:lnRef>
          <a:fillRef idx="2">
            <a:schemeClr val="dk1"/>
          </a:fillRef>
          <a:effectRef idx="1">
            <a:schemeClr val="dk1"/>
          </a:effectRef>
          <a:fontRef idx="minor">
            <a:schemeClr val="dk1"/>
          </a:fontRef>
        </p:style>
        <p:txBody>
          <a:bodyPr rtlCol="0" anchor="b"/>
          <a:lstStyle/>
          <a:p>
            <a:pPr algn="ctr">
              <a:defRPr/>
            </a:pPr>
            <a:r>
              <a:rPr lang="en-US" sz="900" dirty="0">
                <a:solidFill>
                  <a:prstClr val="black">
                    <a:lumMod val="75000"/>
                    <a:lumOff val="25000"/>
                  </a:prstClr>
                </a:solidFill>
              </a:rPr>
              <a:t>                                                   </a:t>
            </a:r>
            <a:endParaRPr lang="en-US" sz="900" dirty="0">
              <a:solidFill>
                <a:prstClr val="black">
                  <a:lumMod val="75000"/>
                  <a:lumOff val="25000"/>
                </a:prstClr>
              </a:solidFill>
              <a:effectLst>
                <a:innerShdw blurRad="63500" dist="50800" dir="13500000">
                  <a:prstClr val="black">
                    <a:alpha val="50000"/>
                  </a:prstClr>
                </a:innerShdw>
              </a:effectLst>
            </a:endParaRPr>
          </a:p>
        </p:txBody>
      </p:sp>
      <p:sp>
        <p:nvSpPr>
          <p:cNvPr id="41" name="Flowchart: Process 40">
            <a:extLst>
              <a:ext uri="{FF2B5EF4-FFF2-40B4-BE49-F238E27FC236}">
                <a16:creationId xmlns:a16="http://schemas.microsoft.com/office/drawing/2014/main" id="{3147EA73-3BFE-4426-97F4-7D57F54E9E6C}"/>
              </a:ext>
            </a:extLst>
          </p:cNvPr>
          <p:cNvSpPr/>
          <p:nvPr/>
        </p:nvSpPr>
        <p:spPr>
          <a:xfrm>
            <a:off x="3706194" y="3585095"/>
            <a:ext cx="492404" cy="243565"/>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MDM/ RDM</a:t>
            </a:r>
          </a:p>
        </p:txBody>
      </p:sp>
      <p:sp>
        <p:nvSpPr>
          <p:cNvPr id="42" name="Flowchart: Process 41">
            <a:extLst>
              <a:ext uri="{FF2B5EF4-FFF2-40B4-BE49-F238E27FC236}">
                <a16:creationId xmlns:a16="http://schemas.microsoft.com/office/drawing/2014/main" id="{BEDC3984-56CE-489C-88C0-43D4192C5A26}"/>
              </a:ext>
            </a:extLst>
          </p:cNvPr>
          <p:cNvSpPr/>
          <p:nvPr/>
        </p:nvSpPr>
        <p:spPr>
          <a:xfrm>
            <a:off x="3691491" y="2932318"/>
            <a:ext cx="492404" cy="240952"/>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Epic</a:t>
            </a:r>
          </a:p>
        </p:txBody>
      </p:sp>
      <p:sp>
        <p:nvSpPr>
          <p:cNvPr id="43" name="Flowchart: Process 42">
            <a:extLst>
              <a:ext uri="{FF2B5EF4-FFF2-40B4-BE49-F238E27FC236}">
                <a16:creationId xmlns:a16="http://schemas.microsoft.com/office/drawing/2014/main" id="{75F1DCB7-CE82-409C-A9CA-85B828AEFB7B}"/>
              </a:ext>
            </a:extLst>
          </p:cNvPr>
          <p:cNvSpPr/>
          <p:nvPr/>
        </p:nvSpPr>
        <p:spPr>
          <a:xfrm>
            <a:off x="3698169" y="3275727"/>
            <a:ext cx="492404" cy="210031"/>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lIns="0" tIns="0" rIns="0" bIns="0" rtlCol="0" anchor="ctr"/>
          <a:lstStyle/>
          <a:p>
            <a:pPr algn="ctr">
              <a:defRPr/>
            </a:pPr>
            <a:r>
              <a:rPr lang="en-US" sz="900" dirty="0">
                <a:solidFill>
                  <a:prstClr val="black">
                    <a:lumMod val="75000"/>
                    <a:lumOff val="25000"/>
                  </a:prstClr>
                </a:solidFill>
              </a:rPr>
              <a:t>Facets</a:t>
            </a:r>
          </a:p>
        </p:txBody>
      </p:sp>
      <p:sp>
        <p:nvSpPr>
          <p:cNvPr id="44" name="Flowchart: Process 43">
            <a:extLst>
              <a:ext uri="{FF2B5EF4-FFF2-40B4-BE49-F238E27FC236}">
                <a16:creationId xmlns:a16="http://schemas.microsoft.com/office/drawing/2014/main" id="{DD3E73BE-1E10-4EAA-A555-D564DED25946}"/>
              </a:ext>
            </a:extLst>
          </p:cNvPr>
          <p:cNvSpPr/>
          <p:nvPr/>
        </p:nvSpPr>
        <p:spPr>
          <a:xfrm>
            <a:off x="3688568" y="4492750"/>
            <a:ext cx="510029" cy="393356"/>
          </a:xfrm>
          <a:prstGeom prst="flowChartProcess">
            <a:avLst/>
          </a:prstGeom>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E.g. OptumRX</a:t>
            </a:r>
          </a:p>
        </p:txBody>
      </p:sp>
      <p:sp>
        <p:nvSpPr>
          <p:cNvPr id="45" name="Can 4">
            <a:extLst>
              <a:ext uri="{FF2B5EF4-FFF2-40B4-BE49-F238E27FC236}">
                <a16:creationId xmlns:a16="http://schemas.microsoft.com/office/drawing/2014/main" id="{77114DA5-341F-4FD3-B673-CF4623ADC841}"/>
              </a:ext>
            </a:extLst>
          </p:cNvPr>
          <p:cNvSpPr/>
          <p:nvPr/>
        </p:nvSpPr>
        <p:spPr>
          <a:xfrm>
            <a:off x="3727771" y="1696272"/>
            <a:ext cx="884309" cy="480313"/>
          </a:xfrm>
          <a:prstGeom prst="can">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dirty="0">
                <a:solidFill>
                  <a:prstClr val="black">
                    <a:lumMod val="75000"/>
                    <a:lumOff val="25000"/>
                  </a:prstClr>
                </a:solidFill>
              </a:rPr>
              <a:t>DQ Rules</a:t>
            </a:r>
          </a:p>
        </p:txBody>
      </p:sp>
      <p:sp>
        <p:nvSpPr>
          <p:cNvPr id="46" name="TextBox 45">
            <a:extLst>
              <a:ext uri="{FF2B5EF4-FFF2-40B4-BE49-F238E27FC236}">
                <a16:creationId xmlns:a16="http://schemas.microsoft.com/office/drawing/2014/main" id="{2DD7C0E1-EB18-4CA1-B22C-01119F6AED29}"/>
              </a:ext>
            </a:extLst>
          </p:cNvPr>
          <p:cNvSpPr txBox="1"/>
          <p:nvPr/>
        </p:nvSpPr>
        <p:spPr>
          <a:xfrm>
            <a:off x="6139351" y="1404064"/>
            <a:ext cx="2617059" cy="307777"/>
          </a:xfrm>
          <a:prstGeom prst="rect">
            <a:avLst/>
          </a:prstGeom>
          <a:noFill/>
        </p:spPr>
        <p:txBody>
          <a:bodyPr wrap="square" rtlCol="0">
            <a:spAutoFit/>
          </a:bodyPr>
          <a:lstStyle/>
          <a:p>
            <a:pPr algn="ctr">
              <a:defRPr/>
            </a:pPr>
            <a:r>
              <a:rPr lang="en-US" sz="1400" b="1" dirty="0">
                <a:solidFill>
                  <a:srgbClr val="4BACC6">
                    <a:lumMod val="75000"/>
                  </a:srgbClr>
                </a:solidFill>
              </a:rPr>
              <a:t>Tenant Security Views</a:t>
            </a:r>
          </a:p>
        </p:txBody>
      </p:sp>
      <p:sp>
        <p:nvSpPr>
          <p:cNvPr id="47" name="TextBox 46">
            <a:extLst>
              <a:ext uri="{FF2B5EF4-FFF2-40B4-BE49-F238E27FC236}">
                <a16:creationId xmlns:a16="http://schemas.microsoft.com/office/drawing/2014/main" id="{60A80669-B919-4A63-9813-0FAECC638F6B}"/>
              </a:ext>
            </a:extLst>
          </p:cNvPr>
          <p:cNvSpPr txBox="1"/>
          <p:nvPr/>
        </p:nvSpPr>
        <p:spPr>
          <a:xfrm>
            <a:off x="3546801" y="6039102"/>
            <a:ext cx="3950299" cy="307777"/>
          </a:xfrm>
          <a:prstGeom prst="rect">
            <a:avLst/>
          </a:prstGeom>
          <a:noFill/>
        </p:spPr>
        <p:txBody>
          <a:bodyPr wrap="square" rtlCol="0">
            <a:spAutoFit/>
          </a:bodyPr>
          <a:lstStyle/>
          <a:p>
            <a:pPr algn="ctr">
              <a:defRPr/>
            </a:pPr>
            <a:r>
              <a:rPr lang="en-US" sz="1400" b="1" dirty="0">
                <a:solidFill>
                  <a:srgbClr val="4BACC6">
                    <a:lumMod val="75000"/>
                  </a:srgbClr>
                </a:solidFill>
              </a:rPr>
              <a:t>Operations Metadata and Auditing</a:t>
            </a:r>
          </a:p>
        </p:txBody>
      </p:sp>
      <p:cxnSp>
        <p:nvCxnSpPr>
          <p:cNvPr id="48" name="Straight Arrow Connector 47">
            <a:extLst>
              <a:ext uri="{FF2B5EF4-FFF2-40B4-BE49-F238E27FC236}">
                <a16:creationId xmlns:a16="http://schemas.microsoft.com/office/drawing/2014/main" id="{AFD12C5D-445F-4655-8DC3-E66360A067E3}"/>
              </a:ext>
            </a:extLst>
          </p:cNvPr>
          <p:cNvCxnSpPr>
            <a:cxnSpLocks/>
          </p:cNvCxnSpPr>
          <p:nvPr/>
        </p:nvCxnSpPr>
        <p:spPr>
          <a:xfrm>
            <a:off x="3509875" y="4630384"/>
            <a:ext cx="139862"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C3C30AD-3E6F-40AD-815A-BA6E4D09C521}"/>
              </a:ext>
            </a:extLst>
          </p:cNvPr>
          <p:cNvCxnSpPr>
            <a:cxnSpLocks/>
          </p:cNvCxnSpPr>
          <p:nvPr/>
        </p:nvCxnSpPr>
        <p:spPr>
          <a:xfrm>
            <a:off x="3509875" y="3324243"/>
            <a:ext cx="133685"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5F45AA1-4872-4826-86A4-B6508F861CD9}"/>
              </a:ext>
            </a:extLst>
          </p:cNvPr>
          <p:cNvCxnSpPr>
            <a:cxnSpLocks/>
          </p:cNvCxnSpPr>
          <p:nvPr/>
        </p:nvCxnSpPr>
        <p:spPr>
          <a:xfrm>
            <a:off x="6845577" y="5284902"/>
            <a:ext cx="0" cy="287388"/>
          </a:xfrm>
          <a:prstGeom prst="straightConnector1">
            <a:avLst/>
          </a:prstGeom>
          <a:ln>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95057EF-A4E8-4700-B4EC-C36657D50E65}"/>
              </a:ext>
            </a:extLst>
          </p:cNvPr>
          <p:cNvCxnSpPr>
            <a:cxnSpLocks/>
          </p:cNvCxnSpPr>
          <p:nvPr/>
        </p:nvCxnSpPr>
        <p:spPr>
          <a:xfrm flipH="1">
            <a:off x="8292008" y="5286236"/>
            <a:ext cx="1" cy="251678"/>
          </a:xfrm>
          <a:prstGeom prst="straightConnector1">
            <a:avLst/>
          </a:prstGeom>
          <a:ln>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4358B79-CF9D-403C-93AA-C591FA0ED734}"/>
              </a:ext>
            </a:extLst>
          </p:cNvPr>
          <p:cNvCxnSpPr>
            <a:cxnSpLocks/>
          </p:cNvCxnSpPr>
          <p:nvPr/>
        </p:nvCxnSpPr>
        <p:spPr>
          <a:xfrm flipH="1">
            <a:off x="3509875" y="5305521"/>
            <a:ext cx="1" cy="286608"/>
          </a:xfrm>
          <a:prstGeom prst="straightConnector1">
            <a:avLst/>
          </a:prstGeom>
          <a:ln>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04F7152-B946-4D19-844C-96DEC7C063C2}"/>
              </a:ext>
            </a:extLst>
          </p:cNvPr>
          <p:cNvCxnSpPr>
            <a:cxnSpLocks/>
          </p:cNvCxnSpPr>
          <p:nvPr/>
        </p:nvCxnSpPr>
        <p:spPr>
          <a:xfrm>
            <a:off x="5317191" y="5297144"/>
            <a:ext cx="0" cy="263040"/>
          </a:xfrm>
          <a:prstGeom prst="straightConnector1">
            <a:avLst/>
          </a:prstGeom>
          <a:ln>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71BFA00-E96E-44D6-AAD7-41412FD8B6D5}"/>
              </a:ext>
            </a:extLst>
          </p:cNvPr>
          <p:cNvCxnSpPr>
            <a:cxnSpLocks/>
          </p:cNvCxnSpPr>
          <p:nvPr/>
        </p:nvCxnSpPr>
        <p:spPr>
          <a:xfrm>
            <a:off x="7401034" y="4308070"/>
            <a:ext cx="332410" cy="1"/>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DF38732-AFA5-4613-AFFB-B052B78A9683}"/>
              </a:ext>
            </a:extLst>
          </p:cNvPr>
          <p:cNvCxnSpPr>
            <a:cxnSpLocks/>
          </p:cNvCxnSpPr>
          <p:nvPr/>
        </p:nvCxnSpPr>
        <p:spPr>
          <a:xfrm>
            <a:off x="7362891" y="4904126"/>
            <a:ext cx="338906" cy="7637"/>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4876ECFA-279E-4185-9852-FCF133A78C99}"/>
              </a:ext>
            </a:extLst>
          </p:cNvPr>
          <p:cNvCxnSpPr>
            <a:cxnSpLocks/>
          </p:cNvCxnSpPr>
          <p:nvPr/>
        </p:nvCxnSpPr>
        <p:spPr>
          <a:xfrm>
            <a:off x="8158909" y="3351869"/>
            <a:ext cx="0" cy="14303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56010BF-38BF-45E2-902A-DF560293D2CA}"/>
              </a:ext>
            </a:extLst>
          </p:cNvPr>
          <p:cNvCxnSpPr>
            <a:cxnSpLocks/>
          </p:cNvCxnSpPr>
          <p:nvPr/>
        </p:nvCxnSpPr>
        <p:spPr>
          <a:xfrm>
            <a:off x="7387903" y="3673818"/>
            <a:ext cx="313894" cy="0"/>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642995C-87AE-488E-9790-54B39EC68AB5}"/>
              </a:ext>
            </a:extLst>
          </p:cNvPr>
          <p:cNvCxnSpPr>
            <a:cxnSpLocks/>
          </p:cNvCxnSpPr>
          <p:nvPr/>
        </p:nvCxnSpPr>
        <p:spPr>
          <a:xfrm flipV="1">
            <a:off x="7344580" y="3060538"/>
            <a:ext cx="357217" cy="7414"/>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034ABCD-1A1E-4A13-9C93-651A4BD341FA}"/>
              </a:ext>
            </a:extLst>
          </p:cNvPr>
          <p:cNvCxnSpPr/>
          <p:nvPr/>
        </p:nvCxnSpPr>
        <p:spPr>
          <a:xfrm>
            <a:off x="7523188" y="3055831"/>
            <a:ext cx="0" cy="617987"/>
          </a:xfrm>
          <a:prstGeom prst="line">
            <a:avLst/>
          </a:prstGeom>
          <a:ln>
            <a:solidFill>
              <a:srgbClr val="009999"/>
            </a:solidFill>
          </a:ln>
        </p:spPr>
        <p:style>
          <a:lnRef idx="1">
            <a:schemeClr val="accent1"/>
          </a:lnRef>
          <a:fillRef idx="0">
            <a:schemeClr val="accent1"/>
          </a:fillRef>
          <a:effectRef idx="0">
            <a:schemeClr val="accent1"/>
          </a:effectRef>
          <a:fontRef idx="minor">
            <a:schemeClr val="tx1"/>
          </a:fontRef>
        </p:style>
      </p:cxnSp>
      <p:sp>
        <p:nvSpPr>
          <p:cNvPr id="60" name="Can 4">
            <a:extLst>
              <a:ext uri="{FF2B5EF4-FFF2-40B4-BE49-F238E27FC236}">
                <a16:creationId xmlns:a16="http://schemas.microsoft.com/office/drawing/2014/main" id="{5039FCFA-6D21-4410-99D3-4DDCC2CAA46A}"/>
              </a:ext>
            </a:extLst>
          </p:cNvPr>
          <p:cNvSpPr/>
          <p:nvPr/>
        </p:nvSpPr>
        <p:spPr>
          <a:xfrm>
            <a:off x="4651708" y="1696272"/>
            <a:ext cx="884309" cy="480313"/>
          </a:xfrm>
          <a:prstGeom prst="can">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dirty="0">
                <a:solidFill>
                  <a:prstClr val="black">
                    <a:lumMod val="75000"/>
                    <a:lumOff val="25000"/>
                  </a:prstClr>
                </a:solidFill>
              </a:rPr>
              <a:t>DQ Log</a:t>
            </a:r>
          </a:p>
        </p:txBody>
      </p:sp>
      <p:sp>
        <p:nvSpPr>
          <p:cNvPr id="61" name="TextBox 60">
            <a:extLst>
              <a:ext uri="{FF2B5EF4-FFF2-40B4-BE49-F238E27FC236}">
                <a16:creationId xmlns:a16="http://schemas.microsoft.com/office/drawing/2014/main" id="{CDC6E69E-4B23-4F4F-A2B0-9A130B82DE29}"/>
              </a:ext>
            </a:extLst>
          </p:cNvPr>
          <p:cNvSpPr txBox="1"/>
          <p:nvPr/>
        </p:nvSpPr>
        <p:spPr>
          <a:xfrm>
            <a:off x="3341544" y="1381703"/>
            <a:ext cx="2617059" cy="307777"/>
          </a:xfrm>
          <a:prstGeom prst="rect">
            <a:avLst/>
          </a:prstGeom>
          <a:noFill/>
        </p:spPr>
        <p:txBody>
          <a:bodyPr wrap="square" rtlCol="0">
            <a:spAutoFit/>
          </a:bodyPr>
          <a:lstStyle/>
          <a:p>
            <a:pPr algn="ctr">
              <a:defRPr/>
            </a:pPr>
            <a:r>
              <a:rPr lang="en-US" sz="1400" b="1" dirty="0">
                <a:solidFill>
                  <a:srgbClr val="4BACC6">
                    <a:lumMod val="75000"/>
                  </a:srgbClr>
                </a:solidFill>
              </a:rPr>
              <a:t>*Data Quality Component</a:t>
            </a:r>
          </a:p>
        </p:txBody>
      </p:sp>
      <p:sp>
        <p:nvSpPr>
          <p:cNvPr id="62" name="TextBox 61">
            <a:extLst>
              <a:ext uri="{FF2B5EF4-FFF2-40B4-BE49-F238E27FC236}">
                <a16:creationId xmlns:a16="http://schemas.microsoft.com/office/drawing/2014/main" id="{BD54DD75-3930-412A-8B7E-0C8CA89177C4}"/>
              </a:ext>
            </a:extLst>
          </p:cNvPr>
          <p:cNvSpPr txBox="1"/>
          <p:nvPr/>
        </p:nvSpPr>
        <p:spPr>
          <a:xfrm>
            <a:off x="2650165" y="5256492"/>
            <a:ext cx="1228242" cy="307777"/>
          </a:xfrm>
          <a:prstGeom prst="rect">
            <a:avLst/>
          </a:prstGeom>
          <a:noFill/>
        </p:spPr>
        <p:txBody>
          <a:bodyPr wrap="square" rtlCol="0">
            <a:spAutoFit/>
          </a:bodyPr>
          <a:lstStyle/>
          <a:p>
            <a:pPr algn="ctr">
              <a:defRPr/>
            </a:pPr>
            <a:r>
              <a:rPr lang="en-US" sz="1400" b="1" dirty="0">
                <a:solidFill>
                  <a:srgbClr val="4BACC6">
                    <a:lumMod val="75000"/>
                  </a:srgbClr>
                </a:solidFill>
              </a:rPr>
              <a:t>PL</a:t>
            </a:r>
          </a:p>
        </p:txBody>
      </p:sp>
      <p:sp>
        <p:nvSpPr>
          <p:cNvPr id="63" name="TextBox 62">
            <a:extLst>
              <a:ext uri="{FF2B5EF4-FFF2-40B4-BE49-F238E27FC236}">
                <a16:creationId xmlns:a16="http://schemas.microsoft.com/office/drawing/2014/main" id="{EA0498E7-DD51-43BD-BF65-ABC478156365}"/>
              </a:ext>
            </a:extLst>
          </p:cNvPr>
          <p:cNvSpPr txBox="1"/>
          <p:nvPr/>
        </p:nvSpPr>
        <p:spPr>
          <a:xfrm>
            <a:off x="4719351" y="5276237"/>
            <a:ext cx="667118" cy="307777"/>
          </a:xfrm>
          <a:prstGeom prst="rect">
            <a:avLst/>
          </a:prstGeom>
          <a:noFill/>
        </p:spPr>
        <p:txBody>
          <a:bodyPr wrap="square" rtlCol="0">
            <a:spAutoFit/>
          </a:bodyPr>
          <a:lstStyle/>
          <a:p>
            <a:pPr algn="ctr">
              <a:defRPr/>
            </a:pPr>
            <a:r>
              <a:rPr lang="en-US" sz="1400" b="1" dirty="0">
                <a:solidFill>
                  <a:srgbClr val="4BACC6">
                    <a:lumMod val="75000"/>
                  </a:srgbClr>
                </a:solidFill>
              </a:rPr>
              <a:t>CL</a:t>
            </a:r>
          </a:p>
        </p:txBody>
      </p:sp>
      <p:sp>
        <p:nvSpPr>
          <p:cNvPr id="64" name="TextBox 63">
            <a:extLst>
              <a:ext uri="{FF2B5EF4-FFF2-40B4-BE49-F238E27FC236}">
                <a16:creationId xmlns:a16="http://schemas.microsoft.com/office/drawing/2014/main" id="{828EAB07-86A7-4004-B6E7-46C743103F2E}"/>
              </a:ext>
            </a:extLst>
          </p:cNvPr>
          <p:cNvSpPr txBox="1"/>
          <p:nvPr/>
        </p:nvSpPr>
        <p:spPr>
          <a:xfrm>
            <a:off x="6255857" y="5276237"/>
            <a:ext cx="714788" cy="307777"/>
          </a:xfrm>
          <a:prstGeom prst="rect">
            <a:avLst/>
          </a:prstGeom>
          <a:noFill/>
        </p:spPr>
        <p:txBody>
          <a:bodyPr wrap="square" rtlCol="0">
            <a:spAutoFit/>
          </a:bodyPr>
          <a:lstStyle/>
          <a:p>
            <a:pPr algn="ctr">
              <a:defRPr/>
            </a:pPr>
            <a:r>
              <a:rPr lang="en-US" sz="1400" b="1" dirty="0">
                <a:solidFill>
                  <a:srgbClr val="4BACC6">
                    <a:lumMod val="75000"/>
                  </a:srgbClr>
                </a:solidFill>
              </a:rPr>
              <a:t>AWM</a:t>
            </a:r>
          </a:p>
        </p:txBody>
      </p:sp>
      <p:sp>
        <p:nvSpPr>
          <p:cNvPr id="65" name="TextBox 64">
            <a:extLst>
              <a:ext uri="{FF2B5EF4-FFF2-40B4-BE49-F238E27FC236}">
                <a16:creationId xmlns:a16="http://schemas.microsoft.com/office/drawing/2014/main" id="{337E7FBC-9774-456E-9503-87A7DB376B55}"/>
              </a:ext>
            </a:extLst>
          </p:cNvPr>
          <p:cNvSpPr txBox="1"/>
          <p:nvPr/>
        </p:nvSpPr>
        <p:spPr>
          <a:xfrm>
            <a:off x="7464834" y="5262124"/>
            <a:ext cx="1011145" cy="307777"/>
          </a:xfrm>
          <a:prstGeom prst="rect">
            <a:avLst/>
          </a:prstGeom>
          <a:noFill/>
        </p:spPr>
        <p:txBody>
          <a:bodyPr wrap="square" rtlCol="0">
            <a:spAutoFit/>
          </a:bodyPr>
          <a:lstStyle/>
          <a:p>
            <a:pPr algn="ctr">
              <a:defRPr/>
            </a:pPr>
            <a:r>
              <a:rPr lang="en-US" sz="1400" b="1" dirty="0">
                <a:solidFill>
                  <a:srgbClr val="4BACC6">
                    <a:lumMod val="75000"/>
                  </a:srgbClr>
                </a:solidFill>
              </a:rPr>
              <a:t>DWM</a:t>
            </a:r>
          </a:p>
        </p:txBody>
      </p:sp>
      <p:grpSp>
        <p:nvGrpSpPr>
          <p:cNvPr id="66" name="Group 65">
            <a:extLst>
              <a:ext uri="{FF2B5EF4-FFF2-40B4-BE49-F238E27FC236}">
                <a16:creationId xmlns:a16="http://schemas.microsoft.com/office/drawing/2014/main" id="{095BCA9F-9487-4DA7-9D1F-8EBDFB06E1C6}"/>
              </a:ext>
            </a:extLst>
          </p:cNvPr>
          <p:cNvGrpSpPr/>
          <p:nvPr/>
        </p:nvGrpSpPr>
        <p:grpSpPr>
          <a:xfrm>
            <a:off x="93881" y="5672281"/>
            <a:ext cx="1010214" cy="436433"/>
            <a:chOff x="182235" y="6010660"/>
            <a:chExt cx="1010214" cy="436433"/>
          </a:xfrm>
        </p:grpSpPr>
        <p:cxnSp>
          <p:nvCxnSpPr>
            <p:cNvPr id="67" name="Straight Arrow Connector 66">
              <a:extLst>
                <a:ext uri="{FF2B5EF4-FFF2-40B4-BE49-F238E27FC236}">
                  <a16:creationId xmlns:a16="http://schemas.microsoft.com/office/drawing/2014/main" id="{94F4342E-43E2-470B-BF93-118971BF084A}"/>
                </a:ext>
              </a:extLst>
            </p:cNvPr>
            <p:cNvCxnSpPr>
              <a:cxnSpLocks/>
            </p:cNvCxnSpPr>
            <p:nvPr/>
          </p:nvCxnSpPr>
          <p:spPr>
            <a:xfrm>
              <a:off x="944208" y="6120734"/>
              <a:ext cx="180000" cy="0"/>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13191246-094E-4544-8CA7-EA9E65206037}"/>
                </a:ext>
              </a:extLst>
            </p:cNvPr>
            <p:cNvCxnSpPr>
              <a:cxnSpLocks/>
            </p:cNvCxnSpPr>
            <p:nvPr/>
          </p:nvCxnSpPr>
          <p:spPr>
            <a:xfrm>
              <a:off x="944208" y="6354942"/>
              <a:ext cx="180000" cy="0"/>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Flowchart: Process 68">
              <a:extLst>
                <a:ext uri="{FF2B5EF4-FFF2-40B4-BE49-F238E27FC236}">
                  <a16:creationId xmlns:a16="http://schemas.microsoft.com/office/drawing/2014/main" id="{3F6186EC-4185-4A6E-BDED-3B7A7D32E14B}"/>
                </a:ext>
              </a:extLst>
            </p:cNvPr>
            <p:cNvSpPr/>
            <p:nvPr/>
          </p:nvSpPr>
          <p:spPr>
            <a:xfrm>
              <a:off x="239850" y="6025521"/>
              <a:ext cx="952599" cy="421572"/>
            </a:xfrm>
            <a:prstGeom prst="flowChartProcess">
              <a:avLst/>
            </a:prstGeom>
            <a:noFill/>
            <a:ln w="3175">
              <a:solidFill>
                <a:schemeClr val="tx1">
                  <a:lumMod val="50000"/>
                  <a:lumOff val="50000"/>
                </a:schemeClr>
              </a:solidFill>
            </a:ln>
            <a:effectLst/>
          </p:spPr>
          <p:style>
            <a:lnRef idx="1">
              <a:schemeClr val="dk1"/>
            </a:lnRef>
            <a:fillRef idx="2">
              <a:schemeClr val="dk1"/>
            </a:fillRef>
            <a:effectRef idx="1">
              <a:schemeClr val="dk1"/>
            </a:effectRef>
            <a:fontRef idx="minor">
              <a:schemeClr val="dk1"/>
            </a:fontRef>
          </p:style>
          <p:txBody>
            <a:bodyPr lIns="0" tIns="91440" rIns="1280160" rtlCol="0" anchor="b" anchorCtr="0">
              <a:noAutofit/>
            </a:bodyPr>
            <a:lstStyle/>
            <a:p>
              <a:r>
                <a:rPr lang="en-US" sz="1600" b="1" dirty="0">
                  <a:solidFill>
                    <a:srgbClr val="4BACC6">
                      <a:lumMod val="75000"/>
                    </a:srgbClr>
                  </a:solidFill>
                </a:rPr>
                <a:t>               </a:t>
              </a:r>
            </a:p>
          </p:txBody>
        </p:sp>
        <p:sp>
          <p:nvSpPr>
            <p:cNvPr id="70" name="TextBox 69">
              <a:extLst>
                <a:ext uri="{FF2B5EF4-FFF2-40B4-BE49-F238E27FC236}">
                  <a16:creationId xmlns:a16="http://schemas.microsoft.com/office/drawing/2014/main" id="{ED57735C-76BC-4C79-B709-60BEA79EE534}"/>
                </a:ext>
              </a:extLst>
            </p:cNvPr>
            <p:cNvSpPr txBox="1"/>
            <p:nvPr/>
          </p:nvSpPr>
          <p:spPr>
            <a:xfrm>
              <a:off x="182235" y="6010660"/>
              <a:ext cx="804765" cy="276999"/>
            </a:xfrm>
            <a:prstGeom prst="rect">
              <a:avLst/>
            </a:prstGeom>
            <a:noFill/>
          </p:spPr>
          <p:txBody>
            <a:bodyPr wrap="square" rtlCol="0">
              <a:spAutoFit/>
            </a:bodyPr>
            <a:lstStyle/>
            <a:p>
              <a:pPr algn="ctr">
                <a:defRPr/>
              </a:pPr>
              <a:r>
                <a:rPr lang="en-US" sz="1200" dirty="0">
                  <a:solidFill>
                    <a:prstClr val="black">
                      <a:lumMod val="75000"/>
                      <a:lumOff val="25000"/>
                    </a:prstClr>
                  </a:solidFill>
                </a:rPr>
                <a:t>ETL</a:t>
              </a:r>
            </a:p>
          </p:txBody>
        </p:sp>
        <p:sp>
          <p:nvSpPr>
            <p:cNvPr id="71" name="TextBox 70">
              <a:extLst>
                <a:ext uri="{FF2B5EF4-FFF2-40B4-BE49-F238E27FC236}">
                  <a16:creationId xmlns:a16="http://schemas.microsoft.com/office/drawing/2014/main" id="{2813F628-539F-4E95-9E23-1293F2CDC2E9}"/>
                </a:ext>
              </a:extLst>
            </p:cNvPr>
            <p:cNvSpPr txBox="1"/>
            <p:nvPr/>
          </p:nvSpPr>
          <p:spPr>
            <a:xfrm>
              <a:off x="183488" y="6170094"/>
              <a:ext cx="804765" cy="276999"/>
            </a:xfrm>
            <a:prstGeom prst="rect">
              <a:avLst/>
            </a:prstGeom>
            <a:noFill/>
          </p:spPr>
          <p:txBody>
            <a:bodyPr wrap="square" rtlCol="0">
              <a:spAutoFit/>
            </a:bodyPr>
            <a:lstStyle/>
            <a:p>
              <a:pPr algn="ctr">
                <a:defRPr/>
              </a:pPr>
              <a:r>
                <a:rPr lang="en-US" sz="1200" dirty="0">
                  <a:solidFill>
                    <a:prstClr val="black">
                      <a:lumMod val="75000"/>
                      <a:lumOff val="25000"/>
                    </a:prstClr>
                  </a:solidFill>
                </a:rPr>
                <a:t>ELT</a:t>
              </a:r>
            </a:p>
          </p:txBody>
        </p:sp>
      </p:grpSp>
      <p:cxnSp>
        <p:nvCxnSpPr>
          <p:cNvPr id="72" name="Straight Arrow Connector 71">
            <a:extLst>
              <a:ext uri="{FF2B5EF4-FFF2-40B4-BE49-F238E27FC236}">
                <a16:creationId xmlns:a16="http://schemas.microsoft.com/office/drawing/2014/main" id="{AB98BD57-627B-4C3B-A360-54F6CD640560}"/>
              </a:ext>
            </a:extLst>
          </p:cNvPr>
          <p:cNvCxnSpPr/>
          <p:nvPr/>
        </p:nvCxnSpPr>
        <p:spPr>
          <a:xfrm flipV="1">
            <a:off x="7222673" y="1063769"/>
            <a:ext cx="0" cy="283306"/>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sp>
        <p:nvSpPr>
          <p:cNvPr id="73" name="Flowchart: Process 72">
            <a:extLst>
              <a:ext uri="{FF2B5EF4-FFF2-40B4-BE49-F238E27FC236}">
                <a16:creationId xmlns:a16="http://schemas.microsoft.com/office/drawing/2014/main" id="{52F0B921-64CA-4235-B113-55A66396C7C4}"/>
              </a:ext>
            </a:extLst>
          </p:cNvPr>
          <p:cNvSpPr/>
          <p:nvPr/>
        </p:nvSpPr>
        <p:spPr>
          <a:xfrm>
            <a:off x="1513381" y="3989715"/>
            <a:ext cx="984809" cy="1307429"/>
          </a:xfrm>
          <a:prstGeom prst="flowChartProcess">
            <a:avLst/>
          </a:prstGeom>
          <a:solidFill>
            <a:schemeClr val="accent5">
              <a:lumMod val="20000"/>
              <a:lumOff val="80000"/>
            </a:schemeClr>
          </a:solidFill>
          <a:ln>
            <a:noFill/>
          </a:ln>
          <a:effectLst/>
        </p:spPr>
        <p:style>
          <a:lnRef idx="3">
            <a:schemeClr val="lt1"/>
          </a:lnRef>
          <a:fillRef idx="1">
            <a:schemeClr val="accent1"/>
          </a:fillRef>
          <a:effectRef idx="1">
            <a:schemeClr val="accent1"/>
          </a:effectRef>
          <a:fontRef idx="minor">
            <a:schemeClr val="lt1"/>
          </a:fontRef>
        </p:style>
        <p:txBody>
          <a:bodyPr rtlCol="0" anchor="b" anchorCtr="0"/>
          <a:lstStyle/>
          <a:p>
            <a:pPr algn="ctr">
              <a:defRPr/>
            </a:pPr>
            <a:endParaRPr lang="en-US" sz="1500" dirty="0">
              <a:solidFill>
                <a:prstClr val="black">
                  <a:lumMod val="75000"/>
                  <a:lumOff val="25000"/>
                </a:prstClr>
              </a:solidFill>
            </a:endParaRPr>
          </a:p>
        </p:txBody>
      </p:sp>
      <p:sp>
        <p:nvSpPr>
          <p:cNvPr id="74" name="Flowchart: Process 73">
            <a:extLst>
              <a:ext uri="{FF2B5EF4-FFF2-40B4-BE49-F238E27FC236}">
                <a16:creationId xmlns:a16="http://schemas.microsoft.com/office/drawing/2014/main" id="{BD56334E-2403-412A-99FF-D7E2F698F324}"/>
              </a:ext>
            </a:extLst>
          </p:cNvPr>
          <p:cNvSpPr/>
          <p:nvPr/>
        </p:nvSpPr>
        <p:spPr>
          <a:xfrm>
            <a:off x="1644974" y="4310282"/>
            <a:ext cx="725649" cy="346476"/>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File Reader</a:t>
            </a:r>
          </a:p>
        </p:txBody>
      </p:sp>
      <p:sp>
        <p:nvSpPr>
          <p:cNvPr id="75" name="Flowchart: Process 74">
            <a:extLst>
              <a:ext uri="{FF2B5EF4-FFF2-40B4-BE49-F238E27FC236}">
                <a16:creationId xmlns:a16="http://schemas.microsoft.com/office/drawing/2014/main" id="{52F700E9-7522-41A0-AC0B-7D71FC18D2DC}"/>
              </a:ext>
            </a:extLst>
          </p:cNvPr>
          <p:cNvSpPr/>
          <p:nvPr/>
        </p:nvSpPr>
        <p:spPr>
          <a:xfrm>
            <a:off x="1651789" y="4798193"/>
            <a:ext cx="725649" cy="367843"/>
          </a:xfrm>
          <a:prstGeom prst="flowChartProcess">
            <a:avLst/>
          </a:prstGeom>
          <a:solidFill>
            <a:schemeClr val="bg1"/>
          </a:solidFill>
          <a:ln w="12700">
            <a:solidFill>
              <a:schemeClr val="bg1">
                <a:lumMod val="9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900" dirty="0">
                <a:solidFill>
                  <a:prstClr val="black">
                    <a:lumMod val="75000"/>
                    <a:lumOff val="25000"/>
                  </a:prstClr>
                </a:solidFill>
              </a:rPr>
              <a:t>File Validator</a:t>
            </a:r>
          </a:p>
        </p:txBody>
      </p:sp>
      <p:cxnSp>
        <p:nvCxnSpPr>
          <p:cNvPr id="76" name="Elbow Connector 75"/>
          <p:cNvCxnSpPr/>
          <p:nvPr/>
        </p:nvCxnSpPr>
        <p:spPr>
          <a:xfrm>
            <a:off x="1172798" y="2470644"/>
            <a:ext cx="1631156" cy="1024264"/>
          </a:xfrm>
          <a:prstGeom prst="bentConnector3">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1172798" y="4687030"/>
            <a:ext cx="340583" cy="0"/>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cxnSpLocks/>
            <a:stCxn id="73" idx="3"/>
          </p:cNvCxnSpPr>
          <p:nvPr/>
        </p:nvCxnSpPr>
        <p:spPr>
          <a:xfrm>
            <a:off x="2498190" y="4643430"/>
            <a:ext cx="295991" cy="10379"/>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9" name="Flowchart: Process 78">
            <a:extLst>
              <a:ext uri="{FF2B5EF4-FFF2-40B4-BE49-F238E27FC236}">
                <a16:creationId xmlns:a16="http://schemas.microsoft.com/office/drawing/2014/main" id="{7BD2AE28-ADA5-4B86-AE43-B11A6BB1241D}"/>
              </a:ext>
            </a:extLst>
          </p:cNvPr>
          <p:cNvSpPr/>
          <p:nvPr/>
        </p:nvSpPr>
        <p:spPr>
          <a:xfrm flipV="1">
            <a:off x="3373103" y="1381955"/>
            <a:ext cx="2390947" cy="823091"/>
          </a:xfrm>
          <a:prstGeom prst="flowChartProcess">
            <a:avLst/>
          </a:prstGeom>
          <a:noFill/>
          <a:ln w="3175">
            <a:solidFill>
              <a:schemeClr val="tx1">
                <a:lumMod val="50000"/>
                <a:lumOff val="50000"/>
              </a:schemeClr>
            </a:solidFill>
          </a:ln>
          <a:effectLst/>
        </p:spPr>
        <p:style>
          <a:lnRef idx="1">
            <a:schemeClr val="dk1"/>
          </a:lnRef>
          <a:fillRef idx="2">
            <a:schemeClr val="dk1"/>
          </a:fillRef>
          <a:effectRef idx="1">
            <a:schemeClr val="dk1"/>
          </a:effectRef>
          <a:fontRef idx="minor">
            <a:schemeClr val="dk1"/>
          </a:fontRef>
        </p:style>
        <p:txBody>
          <a:bodyPr lIns="0" tIns="91440" rIns="1280160" rtlCol="0" anchor="b" anchorCtr="0">
            <a:noAutofit/>
          </a:bodyPr>
          <a:lstStyle/>
          <a:p>
            <a:r>
              <a:rPr lang="en-US" sz="1600" b="1" dirty="0">
                <a:solidFill>
                  <a:srgbClr val="4BACC6">
                    <a:lumMod val="75000"/>
                  </a:srgbClr>
                </a:solidFill>
              </a:rPr>
              <a:t>               </a:t>
            </a:r>
          </a:p>
        </p:txBody>
      </p:sp>
      <p:cxnSp>
        <p:nvCxnSpPr>
          <p:cNvPr id="80" name="Elbow Connector 79"/>
          <p:cNvCxnSpPr/>
          <p:nvPr/>
        </p:nvCxnSpPr>
        <p:spPr>
          <a:xfrm rot="16200000" flipH="1">
            <a:off x="3758667" y="2987766"/>
            <a:ext cx="1814665" cy="199994"/>
          </a:xfrm>
          <a:prstGeom prst="bentConnector2">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16" idx="0"/>
          </p:cNvCxnSpPr>
          <p:nvPr/>
        </p:nvCxnSpPr>
        <p:spPr>
          <a:xfrm flipH="1" flipV="1">
            <a:off x="5311488" y="2201106"/>
            <a:ext cx="5704" cy="549137"/>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81"/>
          <p:cNvCxnSpPr/>
          <p:nvPr/>
        </p:nvCxnSpPr>
        <p:spPr>
          <a:xfrm>
            <a:off x="4354149" y="4073407"/>
            <a:ext cx="435622" cy="301987"/>
          </a:xfrm>
          <a:prstGeom prst="bentConnector3">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5878316" y="3931160"/>
            <a:ext cx="437439" cy="0"/>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H="1">
            <a:off x="3196250" y="3854273"/>
            <a:ext cx="2843" cy="60379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6574601" y="1696272"/>
            <a:ext cx="0" cy="1025772"/>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H="1">
            <a:off x="3910185" y="3861270"/>
            <a:ext cx="2843" cy="60379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644667" y="4033057"/>
            <a:ext cx="987122" cy="246221"/>
          </a:xfrm>
          <a:prstGeom prst="rect">
            <a:avLst/>
          </a:prstGeom>
          <a:noFill/>
        </p:spPr>
        <p:txBody>
          <a:bodyPr wrap="square" rtlCol="0">
            <a:spAutoFit/>
          </a:bodyPr>
          <a:lstStyle/>
          <a:p>
            <a:r>
              <a:rPr lang="en-US" sz="1000" dirty="0" smtClean="0">
                <a:solidFill>
                  <a:srgbClr val="0070C0"/>
                </a:solidFill>
              </a:rPr>
              <a:t>*File </a:t>
            </a:r>
            <a:r>
              <a:rPr lang="en-US" sz="1000" dirty="0">
                <a:solidFill>
                  <a:srgbClr val="0070C0"/>
                </a:solidFill>
              </a:rPr>
              <a:t>Reader</a:t>
            </a:r>
          </a:p>
        </p:txBody>
      </p:sp>
      <p:grpSp>
        <p:nvGrpSpPr>
          <p:cNvPr id="88" name="Group 87">
            <a:extLst>
              <a:ext uri="{FF2B5EF4-FFF2-40B4-BE49-F238E27FC236}">
                <a16:creationId xmlns:a16="http://schemas.microsoft.com/office/drawing/2014/main" id="{4C61F708-2448-4E98-8C87-F137634B62D1}"/>
              </a:ext>
            </a:extLst>
          </p:cNvPr>
          <p:cNvGrpSpPr/>
          <p:nvPr/>
        </p:nvGrpSpPr>
        <p:grpSpPr>
          <a:xfrm>
            <a:off x="64418" y="847745"/>
            <a:ext cx="1104691" cy="4356484"/>
            <a:chOff x="42037" y="1101186"/>
            <a:chExt cx="1104691" cy="4356484"/>
          </a:xfrm>
        </p:grpSpPr>
        <p:sp>
          <p:nvSpPr>
            <p:cNvPr id="89" name="Flowchart: Process 88">
              <a:extLst>
                <a:ext uri="{FF2B5EF4-FFF2-40B4-BE49-F238E27FC236}">
                  <a16:creationId xmlns:a16="http://schemas.microsoft.com/office/drawing/2014/main" id="{5D5E33EF-82E4-4B73-9548-9D07E1ACA602}"/>
                </a:ext>
              </a:extLst>
            </p:cNvPr>
            <p:cNvSpPr/>
            <p:nvPr/>
          </p:nvSpPr>
          <p:spPr>
            <a:xfrm>
              <a:off x="42037" y="5146486"/>
              <a:ext cx="946216" cy="311183"/>
            </a:xfrm>
            <a:prstGeom prst="flowChartProcess">
              <a:avLst/>
            </a:prstGeom>
            <a:noFill/>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1200" b="1" dirty="0">
                  <a:solidFill>
                    <a:prstClr val="black">
                      <a:lumMod val="75000"/>
                      <a:lumOff val="25000"/>
                    </a:prstClr>
                  </a:solidFill>
                </a:rPr>
                <a:t>Files</a:t>
              </a:r>
            </a:p>
          </p:txBody>
        </p:sp>
        <p:sp>
          <p:nvSpPr>
            <p:cNvPr id="90" name="Flowchart: Multidocument 89"/>
            <p:cNvSpPr/>
            <p:nvPr/>
          </p:nvSpPr>
          <p:spPr>
            <a:xfrm>
              <a:off x="167461" y="3942678"/>
              <a:ext cx="881589" cy="494298"/>
            </a:xfrm>
            <a:prstGeom prst="flowChartMultidocument">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prstClr val="black">
                      <a:lumMod val="75000"/>
                      <a:lumOff val="25000"/>
                    </a:prstClr>
                  </a:solidFill>
                </a:rPr>
                <a:t>OptumRX Cognos </a:t>
              </a:r>
            </a:p>
          </p:txBody>
        </p:sp>
        <p:sp>
          <p:nvSpPr>
            <p:cNvPr id="91" name="Flowchart: Multidocument 90"/>
            <p:cNvSpPr/>
            <p:nvPr/>
          </p:nvSpPr>
          <p:spPr>
            <a:xfrm>
              <a:off x="160263" y="4436483"/>
              <a:ext cx="881589" cy="494298"/>
            </a:xfrm>
            <a:prstGeom prst="flowChartMultidocument">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prstClr val="black">
                      <a:lumMod val="75000"/>
                      <a:lumOff val="25000"/>
                    </a:prstClr>
                  </a:solidFill>
                </a:rPr>
                <a:t>OptumRX SharePoint</a:t>
              </a:r>
            </a:p>
          </p:txBody>
        </p:sp>
        <p:sp>
          <p:nvSpPr>
            <p:cNvPr id="92" name="Flowchart: Process 91">
              <a:extLst>
                <a:ext uri="{FF2B5EF4-FFF2-40B4-BE49-F238E27FC236}">
                  <a16:creationId xmlns:a16="http://schemas.microsoft.com/office/drawing/2014/main" id="{507EBA7F-FCEF-4CE0-A942-BAE38DA14462}"/>
                </a:ext>
              </a:extLst>
            </p:cNvPr>
            <p:cNvSpPr/>
            <p:nvPr/>
          </p:nvSpPr>
          <p:spPr>
            <a:xfrm>
              <a:off x="89412" y="3924282"/>
              <a:ext cx="1057316" cy="1533388"/>
            </a:xfrm>
            <a:prstGeom prst="flowChartProcess">
              <a:avLst/>
            </a:prstGeom>
            <a:noFill/>
            <a:ln w="3175">
              <a:solidFill>
                <a:schemeClr val="tx1">
                  <a:lumMod val="50000"/>
                  <a:lumOff val="50000"/>
                </a:schemeClr>
              </a:solidFill>
            </a:ln>
            <a:effectLst/>
          </p:spPr>
          <p:style>
            <a:lnRef idx="1">
              <a:schemeClr val="dk1"/>
            </a:lnRef>
            <a:fillRef idx="2">
              <a:schemeClr val="dk1"/>
            </a:fillRef>
            <a:effectRef idx="1">
              <a:schemeClr val="dk1"/>
            </a:effectRef>
            <a:fontRef idx="minor">
              <a:schemeClr val="dk1"/>
            </a:fontRef>
          </p:style>
          <p:txBody>
            <a:bodyPr lIns="0" tIns="91440" rIns="1280160" rtlCol="0" anchor="b" anchorCtr="0">
              <a:noAutofit/>
            </a:bodyPr>
            <a:lstStyle/>
            <a:p>
              <a:r>
                <a:rPr lang="en-US" sz="1600" b="1" dirty="0">
                  <a:solidFill>
                    <a:srgbClr val="4BACC6">
                      <a:lumMod val="75000"/>
                    </a:srgbClr>
                  </a:solidFill>
                </a:rPr>
                <a:t>               </a:t>
              </a:r>
            </a:p>
          </p:txBody>
        </p:sp>
        <p:cxnSp>
          <p:nvCxnSpPr>
            <p:cNvPr id="93" name="Straight Connector 92"/>
            <p:cNvCxnSpPr/>
            <p:nvPr/>
          </p:nvCxnSpPr>
          <p:spPr>
            <a:xfrm flipH="1">
              <a:off x="572257" y="4914611"/>
              <a:ext cx="2844" cy="26046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4" name="Flowchart: Process 93">
              <a:extLst>
                <a:ext uri="{FF2B5EF4-FFF2-40B4-BE49-F238E27FC236}">
                  <a16:creationId xmlns:a16="http://schemas.microsoft.com/office/drawing/2014/main" id="{5D5E33EF-82E4-4B73-9548-9D07E1ACA602}"/>
                </a:ext>
              </a:extLst>
            </p:cNvPr>
            <p:cNvSpPr/>
            <p:nvPr/>
          </p:nvSpPr>
          <p:spPr>
            <a:xfrm>
              <a:off x="127314" y="1101186"/>
              <a:ext cx="946216" cy="311183"/>
            </a:xfrm>
            <a:prstGeom prst="flowChartProcess">
              <a:avLst/>
            </a:prstGeom>
            <a:noFill/>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1200" b="1" dirty="0">
                  <a:solidFill>
                    <a:prstClr val="black">
                      <a:lumMod val="75000"/>
                      <a:lumOff val="25000"/>
                    </a:prstClr>
                  </a:solidFill>
                </a:rPr>
                <a:t>Source Systems</a:t>
              </a:r>
            </a:p>
          </p:txBody>
        </p:sp>
      </p:grpSp>
      <p:grpSp>
        <p:nvGrpSpPr>
          <p:cNvPr id="95" name="Group 94">
            <a:extLst>
              <a:ext uri="{FF2B5EF4-FFF2-40B4-BE49-F238E27FC236}">
                <a16:creationId xmlns:a16="http://schemas.microsoft.com/office/drawing/2014/main" id="{9CB17620-ADD0-4588-BCEF-97FDEC8445A1}"/>
              </a:ext>
            </a:extLst>
          </p:cNvPr>
          <p:cNvGrpSpPr/>
          <p:nvPr/>
        </p:nvGrpSpPr>
        <p:grpSpPr>
          <a:xfrm>
            <a:off x="112682" y="1220552"/>
            <a:ext cx="1047359" cy="2342277"/>
            <a:chOff x="90301" y="1366194"/>
            <a:chExt cx="1047359" cy="2342277"/>
          </a:xfrm>
        </p:grpSpPr>
        <p:sp>
          <p:nvSpPr>
            <p:cNvPr id="96" name="Can 4">
              <a:extLst>
                <a:ext uri="{FF2B5EF4-FFF2-40B4-BE49-F238E27FC236}">
                  <a16:creationId xmlns:a16="http://schemas.microsoft.com/office/drawing/2014/main" id="{FE87BCCE-861E-4690-B7E4-DF1B60B9CE88}"/>
                </a:ext>
              </a:extLst>
            </p:cNvPr>
            <p:cNvSpPr/>
            <p:nvPr/>
          </p:nvSpPr>
          <p:spPr>
            <a:xfrm>
              <a:off x="250602" y="1489593"/>
              <a:ext cx="699641" cy="480747"/>
            </a:xfrm>
            <a:prstGeom prst="can">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dirty="0">
                  <a:solidFill>
                    <a:prstClr val="black">
                      <a:lumMod val="75000"/>
                      <a:lumOff val="25000"/>
                    </a:prstClr>
                  </a:solidFill>
                </a:rPr>
                <a:t>EPIC</a:t>
              </a:r>
            </a:p>
          </p:txBody>
        </p:sp>
        <p:sp>
          <p:nvSpPr>
            <p:cNvPr id="97" name="Can 4">
              <a:extLst>
                <a:ext uri="{FF2B5EF4-FFF2-40B4-BE49-F238E27FC236}">
                  <a16:creationId xmlns:a16="http://schemas.microsoft.com/office/drawing/2014/main" id="{444ED030-C3D4-4F29-B4B9-D546B8DF11D0}"/>
                </a:ext>
              </a:extLst>
            </p:cNvPr>
            <p:cNvSpPr/>
            <p:nvPr/>
          </p:nvSpPr>
          <p:spPr>
            <a:xfrm>
              <a:off x="253989" y="2019176"/>
              <a:ext cx="699641" cy="480747"/>
            </a:xfrm>
            <a:prstGeom prst="can">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dirty="0">
                  <a:solidFill>
                    <a:prstClr val="black">
                      <a:lumMod val="75000"/>
                      <a:lumOff val="25000"/>
                    </a:prstClr>
                  </a:solidFill>
                </a:rPr>
                <a:t>Facets</a:t>
              </a:r>
            </a:p>
          </p:txBody>
        </p:sp>
        <p:sp>
          <p:nvSpPr>
            <p:cNvPr id="98" name="Flowchart: Process 97">
              <a:extLst>
                <a:ext uri="{FF2B5EF4-FFF2-40B4-BE49-F238E27FC236}">
                  <a16:creationId xmlns:a16="http://schemas.microsoft.com/office/drawing/2014/main" id="{507EBA7F-FCEF-4CE0-A942-BAE38DA14462}"/>
                </a:ext>
              </a:extLst>
            </p:cNvPr>
            <p:cNvSpPr/>
            <p:nvPr/>
          </p:nvSpPr>
          <p:spPr>
            <a:xfrm>
              <a:off x="90301" y="1366194"/>
              <a:ext cx="1047359" cy="2342277"/>
            </a:xfrm>
            <a:prstGeom prst="flowChartProcess">
              <a:avLst/>
            </a:prstGeom>
            <a:noFill/>
            <a:ln w="3175">
              <a:solidFill>
                <a:schemeClr val="tx1">
                  <a:lumMod val="50000"/>
                  <a:lumOff val="50000"/>
                </a:schemeClr>
              </a:solidFill>
            </a:ln>
            <a:effectLst/>
          </p:spPr>
          <p:style>
            <a:lnRef idx="1">
              <a:schemeClr val="dk1"/>
            </a:lnRef>
            <a:fillRef idx="2">
              <a:schemeClr val="dk1"/>
            </a:fillRef>
            <a:effectRef idx="1">
              <a:schemeClr val="dk1"/>
            </a:effectRef>
            <a:fontRef idx="minor">
              <a:schemeClr val="dk1"/>
            </a:fontRef>
          </p:style>
          <p:txBody>
            <a:bodyPr lIns="0" tIns="91440" rIns="1280160" rtlCol="0" anchor="b" anchorCtr="0">
              <a:noAutofit/>
            </a:bodyPr>
            <a:lstStyle/>
            <a:p>
              <a:r>
                <a:rPr lang="en-US" sz="1600" b="1" dirty="0">
                  <a:solidFill>
                    <a:srgbClr val="4BACC6">
                      <a:lumMod val="75000"/>
                    </a:srgbClr>
                  </a:solidFill>
                </a:rPr>
                <a:t>               </a:t>
              </a:r>
            </a:p>
          </p:txBody>
        </p:sp>
        <p:sp>
          <p:nvSpPr>
            <p:cNvPr id="99" name="Can 4">
              <a:extLst>
                <a:ext uri="{FF2B5EF4-FFF2-40B4-BE49-F238E27FC236}">
                  <a16:creationId xmlns:a16="http://schemas.microsoft.com/office/drawing/2014/main" id="{8D1E2599-13F3-4DEE-836C-FCDA7B7F40CE}"/>
                </a:ext>
              </a:extLst>
            </p:cNvPr>
            <p:cNvSpPr/>
            <p:nvPr/>
          </p:nvSpPr>
          <p:spPr>
            <a:xfrm>
              <a:off x="233681" y="2555729"/>
              <a:ext cx="706596" cy="524762"/>
            </a:xfrm>
            <a:prstGeom prst="can">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000" b="1" dirty="0">
                  <a:solidFill>
                    <a:prstClr val="black">
                      <a:lumMod val="75000"/>
                      <a:lumOff val="25000"/>
                    </a:prstClr>
                  </a:solidFill>
                </a:rPr>
                <a:t>MDM/ RDM</a:t>
              </a:r>
            </a:p>
          </p:txBody>
        </p:sp>
        <p:cxnSp>
          <p:nvCxnSpPr>
            <p:cNvPr id="100" name="Straight Connector 99"/>
            <p:cNvCxnSpPr/>
            <p:nvPr/>
          </p:nvCxnSpPr>
          <p:spPr>
            <a:xfrm flipH="1">
              <a:off x="586979" y="3100809"/>
              <a:ext cx="2844" cy="26046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1" name="Flowchart: Process 100">
              <a:extLst>
                <a:ext uri="{FF2B5EF4-FFF2-40B4-BE49-F238E27FC236}">
                  <a16:creationId xmlns:a16="http://schemas.microsoft.com/office/drawing/2014/main" id="{5D5E33EF-82E4-4B73-9548-9D07E1ACA602}"/>
                </a:ext>
              </a:extLst>
            </p:cNvPr>
            <p:cNvSpPr/>
            <p:nvPr/>
          </p:nvSpPr>
          <p:spPr>
            <a:xfrm>
              <a:off x="94270" y="3340404"/>
              <a:ext cx="946216" cy="311183"/>
            </a:xfrm>
            <a:prstGeom prst="flowChartProcess">
              <a:avLst/>
            </a:prstGeom>
            <a:noFill/>
            <a:ln w="12700">
              <a:noFill/>
            </a:ln>
          </p:spPr>
          <p:style>
            <a:lnRef idx="2">
              <a:schemeClr val="dk1"/>
            </a:lnRef>
            <a:fillRef idx="1">
              <a:schemeClr val="lt1"/>
            </a:fillRef>
            <a:effectRef idx="0">
              <a:schemeClr val="dk1"/>
            </a:effectRef>
            <a:fontRef idx="minor">
              <a:schemeClr val="dk1"/>
            </a:fontRef>
          </p:style>
          <p:txBody>
            <a:bodyPr rtlCol="0" anchor="ctr"/>
            <a:lstStyle/>
            <a:p>
              <a:pPr algn="ctr">
                <a:defRPr/>
              </a:pPr>
              <a:r>
                <a:rPr lang="en-US" sz="1200" b="1" dirty="0">
                  <a:solidFill>
                    <a:prstClr val="black">
                      <a:lumMod val="75000"/>
                      <a:lumOff val="25000"/>
                    </a:prstClr>
                  </a:solidFill>
                </a:rPr>
                <a:t>Databases</a:t>
              </a:r>
            </a:p>
          </p:txBody>
        </p:sp>
      </p:grpSp>
      <p:sp>
        <p:nvSpPr>
          <p:cNvPr id="102" name="TextBox 101">
            <a:extLst>
              <a:ext uri="{FF2B5EF4-FFF2-40B4-BE49-F238E27FC236}">
                <a16:creationId xmlns:a16="http://schemas.microsoft.com/office/drawing/2014/main" id="{97BA139C-B844-4748-A039-57B8705772F7}"/>
              </a:ext>
            </a:extLst>
          </p:cNvPr>
          <p:cNvSpPr txBox="1"/>
          <p:nvPr/>
        </p:nvSpPr>
        <p:spPr>
          <a:xfrm>
            <a:off x="39462" y="6212341"/>
            <a:ext cx="1278555" cy="276999"/>
          </a:xfrm>
          <a:prstGeom prst="rect">
            <a:avLst/>
          </a:prstGeom>
          <a:noFill/>
        </p:spPr>
        <p:txBody>
          <a:bodyPr wrap="none" rtlCol="0">
            <a:spAutoFit/>
          </a:bodyPr>
          <a:lstStyle/>
          <a:p>
            <a:pPr>
              <a:defRPr/>
            </a:pPr>
            <a:r>
              <a:rPr lang="en-US" sz="1200" b="1" dirty="0">
                <a:solidFill>
                  <a:srgbClr val="EEECE1">
                    <a:lumMod val="25000"/>
                  </a:srgbClr>
                </a:solidFill>
              </a:rPr>
              <a:t>* CT Accelerators</a:t>
            </a:r>
            <a:endParaRPr lang="en-US" sz="1200" b="1" dirty="0">
              <a:solidFill>
                <a:prstClr val="black"/>
              </a:solidFill>
            </a:endParaRPr>
          </a:p>
        </p:txBody>
      </p:sp>
      <p:sp>
        <p:nvSpPr>
          <p:cNvPr id="103" name="Oval 102"/>
          <p:cNvSpPr/>
          <p:nvPr/>
        </p:nvSpPr>
        <p:spPr>
          <a:xfrm>
            <a:off x="165889" y="847745"/>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1</a:t>
            </a:r>
          </a:p>
        </p:txBody>
      </p:sp>
      <p:sp>
        <p:nvSpPr>
          <p:cNvPr id="104" name="Oval 103"/>
          <p:cNvSpPr/>
          <p:nvPr/>
        </p:nvSpPr>
        <p:spPr>
          <a:xfrm>
            <a:off x="1534041" y="4076530"/>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3</a:t>
            </a:r>
          </a:p>
        </p:txBody>
      </p:sp>
      <p:sp>
        <p:nvSpPr>
          <p:cNvPr id="105" name="Oval 104"/>
          <p:cNvSpPr/>
          <p:nvPr/>
        </p:nvSpPr>
        <p:spPr>
          <a:xfrm>
            <a:off x="2922216" y="5336670"/>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4</a:t>
            </a:r>
          </a:p>
        </p:txBody>
      </p:sp>
      <p:sp>
        <p:nvSpPr>
          <p:cNvPr id="106" name="Oval 105"/>
          <p:cNvSpPr/>
          <p:nvPr/>
        </p:nvSpPr>
        <p:spPr>
          <a:xfrm>
            <a:off x="4755152" y="5348245"/>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5</a:t>
            </a:r>
          </a:p>
        </p:txBody>
      </p:sp>
      <p:sp>
        <p:nvSpPr>
          <p:cNvPr id="107" name="Oval 106"/>
          <p:cNvSpPr/>
          <p:nvPr/>
        </p:nvSpPr>
        <p:spPr>
          <a:xfrm>
            <a:off x="3406249" y="1448238"/>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6</a:t>
            </a:r>
          </a:p>
        </p:txBody>
      </p:sp>
      <p:sp>
        <p:nvSpPr>
          <p:cNvPr id="108" name="Oval 107"/>
          <p:cNvSpPr/>
          <p:nvPr/>
        </p:nvSpPr>
        <p:spPr>
          <a:xfrm>
            <a:off x="6159308" y="5348245"/>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7</a:t>
            </a:r>
          </a:p>
        </p:txBody>
      </p:sp>
      <p:sp>
        <p:nvSpPr>
          <p:cNvPr id="109" name="Oval 108"/>
          <p:cNvSpPr/>
          <p:nvPr/>
        </p:nvSpPr>
        <p:spPr>
          <a:xfrm>
            <a:off x="7510705" y="5336670"/>
            <a:ext cx="199269" cy="155591"/>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8</a:t>
            </a:r>
          </a:p>
        </p:txBody>
      </p:sp>
      <p:sp>
        <p:nvSpPr>
          <p:cNvPr id="110" name="Oval 109"/>
          <p:cNvSpPr/>
          <p:nvPr/>
        </p:nvSpPr>
        <p:spPr>
          <a:xfrm>
            <a:off x="3643560" y="6104330"/>
            <a:ext cx="518774" cy="144015"/>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10</a:t>
            </a:r>
          </a:p>
        </p:txBody>
      </p:sp>
      <p:sp>
        <p:nvSpPr>
          <p:cNvPr id="111" name="Oval 110"/>
          <p:cNvSpPr/>
          <p:nvPr/>
        </p:nvSpPr>
        <p:spPr>
          <a:xfrm>
            <a:off x="6070545" y="1423809"/>
            <a:ext cx="518774" cy="217427"/>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prstClr val="black"/>
                </a:solidFill>
              </a:rPr>
              <a:t>11</a:t>
            </a:r>
          </a:p>
        </p:txBody>
      </p:sp>
      <p:sp>
        <p:nvSpPr>
          <p:cNvPr id="112" name="Oval 111"/>
          <p:cNvSpPr/>
          <p:nvPr/>
        </p:nvSpPr>
        <p:spPr>
          <a:xfrm>
            <a:off x="1390025" y="2254725"/>
            <a:ext cx="518774" cy="177196"/>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strike="sngStrike" dirty="0">
                <a:solidFill>
                  <a:prstClr val="black"/>
                </a:solidFill>
              </a:rPr>
              <a:t>2 </a:t>
            </a:r>
          </a:p>
        </p:txBody>
      </p:sp>
      <p:sp>
        <p:nvSpPr>
          <p:cNvPr id="113" name="TextBox 112">
            <a:extLst>
              <a:ext uri="{FF2B5EF4-FFF2-40B4-BE49-F238E27FC236}">
                <a16:creationId xmlns:a16="http://schemas.microsoft.com/office/drawing/2014/main" id="{2DD7C0E1-EB18-4CA1-B22C-01119F6AED29}"/>
              </a:ext>
            </a:extLst>
          </p:cNvPr>
          <p:cNvSpPr txBox="1"/>
          <p:nvPr/>
        </p:nvSpPr>
        <p:spPr>
          <a:xfrm>
            <a:off x="8031032" y="1999873"/>
            <a:ext cx="523789" cy="261610"/>
          </a:xfrm>
          <a:prstGeom prst="rect">
            <a:avLst/>
          </a:prstGeom>
          <a:noFill/>
          <a:ln>
            <a:solidFill>
              <a:schemeClr val="bg1">
                <a:lumMod val="65000"/>
              </a:schemeClr>
            </a:solidFill>
          </a:ln>
        </p:spPr>
        <p:txBody>
          <a:bodyPr wrap="square" rtlCol="0">
            <a:spAutoFit/>
          </a:bodyPr>
          <a:lstStyle/>
          <a:p>
            <a:pPr algn="ctr">
              <a:defRPr/>
            </a:pPr>
            <a:r>
              <a:rPr lang="en-US" sz="1100" b="1" dirty="0">
                <a:solidFill>
                  <a:srgbClr val="4BACC6">
                    <a:lumMod val="75000"/>
                  </a:srgbClr>
                </a:solidFill>
              </a:rPr>
              <a:t>MDM</a:t>
            </a:r>
          </a:p>
        </p:txBody>
      </p:sp>
      <p:cxnSp>
        <p:nvCxnSpPr>
          <p:cNvPr id="114" name="Straight Arrow Connector 113">
            <a:extLst>
              <a:ext uri="{FF2B5EF4-FFF2-40B4-BE49-F238E27FC236}">
                <a16:creationId xmlns:a16="http://schemas.microsoft.com/office/drawing/2014/main" id="{295057EF-A4E8-4700-B4EC-C36657D50E65}"/>
              </a:ext>
            </a:extLst>
          </p:cNvPr>
          <p:cNvCxnSpPr>
            <a:cxnSpLocks/>
          </p:cNvCxnSpPr>
          <p:nvPr/>
        </p:nvCxnSpPr>
        <p:spPr>
          <a:xfrm>
            <a:off x="8428252" y="2251901"/>
            <a:ext cx="1" cy="444806"/>
          </a:xfrm>
          <a:prstGeom prst="straightConnector1">
            <a:avLst/>
          </a:prstGeom>
          <a:ln>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2DD7C0E1-EB18-4CA1-B22C-01119F6AED29}"/>
              </a:ext>
            </a:extLst>
          </p:cNvPr>
          <p:cNvSpPr txBox="1"/>
          <p:nvPr/>
        </p:nvSpPr>
        <p:spPr>
          <a:xfrm>
            <a:off x="7114661" y="1999873"/>
            <a:ext cx="523789" cy="261610"/>
          </a:xfrm>
          <a:prstGeom prst="rect">
            <a:avLst/>
          </a:prstGeom>
          <a:noFill/>
          <a:ln>
            <a:solidFill>
              <a:schemeClr val="bg1">
                <a:lumMod val="65000"/>
              </a:schemeClr>
            </a:solidFill>
          </a:ln>
        </p:spPr>
        <p:txBody>
          <a:bodyPr wrap="square" rtlCol="0">
            <a:spAutoFit/>
          </a:bodyPr>
          <a:lstStyle/>
          <a:p>
            <a:pPr algn="ctr">
              <a:defRPr/>
            </a:pPr>
            <a:r>
              <a:rPr lang="en-US" sz="1100" b="1" dirty="0">
                <a:solidFill>
                  <a:srgbClr val="4BACC6">
                    <a:lumMod val="75000"/>
                  </a:srgbClr>
                </a:solidFill>
              </a:rPr>
              <a:t>RDM</a:t>
            </a:r>
          </a:p>
        </p:txBody>
      </p:sp>
      <p:cxnSp>
        <p:nvCxnSpPr>
          <p:cNvPr id="116" name="Elbow Connector 115"/>
          <p:cNvCxnSpPr>
            <a:stCxn id="21" idx="0"/>
            <a:endCxn id="115" idx="1"/>
          </p:cNvCxnSpPr>
          <p:nvPr/>
        </p:nvCxnSpPr>
        <p:spPr>
          <a:xfrm rot="5400000" flipH="1" flipV="1">
            <a:off x="6679103" y="2297153"/>
            <a:ext cx="602033" cy="269084"/>
          </a:xfrm>
          <a:prstGeom prst="bentConnector2">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flipV="1">
            <a:off x="8662834" y="1673772"/>
            <a:ext cx="0" cy="1048272"/>
          </a:xfrm>
          <a:prstGeom prst="straightConnector1">
            <a:avLst/>
          </a:prstGeom>
          <a:ln>
            <a:solidFill>
              <a:srgbClr val="009999"/>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Elbow Connector 117"/>
          <p:cNvCxnSpPr>
            <a:stCxn id="115" idx="3"/>
          </p:cNvCxnSpPr>
          <p:nvPr/>
        </p:nvCxnSpPr>
        <p:spPr>
          <a:xfrm>
            <a:off x="7638450" y="2130678"/>
            <a:ext cx="331955" cy="589275"/>
          </a:xfrm>
          <a:prstGeom prst="bentConnector2">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p:cNvSpPr/>
          <p:nvPr/>
        </p:nvSpPr>
        <p:spPr>
          <a:xfrm>
            <a:off x="7099943" y="2287905"/>
            <a:ext cx="518774" cy="217427"/>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prstClr val="black"/>
                </a:solidFill>
              </a:rPr>
              <a:t>9a</a:t>
            </a:r>
            <a:endParaRPr lang="en-IN" sz="1200" b="1" dirty="0">
              <a:solidFill>
                <a:prstClr val="black"/>
              </a:solidFill>
            </a:endParaRPr>
          </a:p>
        </p:txBody>
      </p:sp>
      <p:sp>
        <p:nvSpPr>
          <p:cNvPr id="120" name="Oval 119"/>
          <p:cNvSpPr/>
          <p:nvPr/>
        </p:nvSpPr>
        <p:spPr>
          <a:xfrm>
            <a:off x="8050765" y="1747845"/>
            <a:ext cx="518774" cy="217427"/>
          </a:xfrm>
          <a:prstGeom prst="ellips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b="1" dirty="0">
                <a:solidFill>
                  <a:prstClr val="black"/>
                </a:solidFill>
              </a:rPr>
              <a:t>9b</a:t>
            </a:r>
            <a:endParaRPr lang="en-IN" sz="1200" b="1" dirty="0">
              <a:solidFill>
                <a:prstClr val="black"/>
              </a:solidFill>
            </a:endParaRPr>
          </a:p>
        </p:txBody>
      </p:sp>
    </p:spTree>
    <p:extLst>
      <p:ext uri="{BB962C8B-B14F-4D97-AF65-F5344CB8AC3E}">
        <p14:creationId xmlns:p14="http://schemas.microsoft.com/office/powerpoint/2010/main" val="38161124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3450" y="717942"/>
            <a:ext cx="8238989" cy="747095"/>
          </a:xfrm>
        </p:spPr>
        <p:txBody>
          <a:bodyPr/>
          <a:lstStyle/>
          <a:p>
            <a:r>
              <a:rPr lang="en-US" sz="2800" dirty="0" smtClean="0"/>
              <a:t>IRADW Multi-Tenant Architecture and Security Design Document Review </a:t>
            </a:r>
            <a:r>
              <a:rPr lang="en-US" sz="2800" dirty="0"/>
              <a:t>M</a:t>
            </a:r>
            <a:r>
              <a:rPr lang="en-US" sz="2800" dirty="0" smtClean="0"/>
              <a:t>eetings </a:t>
            </a:r>
            <a:r>
              <a:rPr lang="en-US" sz="2800" dirty="0"/>
              <a:t>C</a:t>
            </a:r>
            <a:r>
              <a:rPr lang="en-US" sz="2800" dirty="0" smtClean="0"/>
              <a:t>onducted so far</a:t>
            </a:r>
            <a:endParaRPr lang="en-US" sz="2800" dirty="0"/>
          </a:p>
        </p:txBody>
      </p:sp>
      <p:sp>
        <p:nvSpPr>
          <p:cNvPr id="4" name="Text Placeholder 3"/>
          <p:cNvSpPr>
            <a:spLocks noGrp="1"/>
          </p:cNvSpPr>
          <p:nvPr>
            <p:ph type="body" sz="quarter" idx="10"/>
          </p:nvPr>
        </p:nvSpPr>
        <p:spPr>
          <a:xfrm>
            <a:off x="293451" y="1629806"/>
            <a:ext cx="8866147" cy="2898068"/>
          </a:xfrm>
        </p:spPr>
        <p:txBody>
          <a:bodyPr>
            <a:normAutofit/>
          </a:bodyPr>
          <a:lstStyle/>
          <a:p>
            <a:pPr marL="457200" indent="-457200">
              <a:buFont typeface="+mj-lt"/>
              <a:buAutoNum type="arabicPeriod"/>
            </a:pPr>
            <a:r>
              <a:rPr lang="en-US" dirty="0"/>
              <a:t>Project sponsor review </a:t>
            </a:r>
          </a:p>
          <a:p>
            <a:pPr marL="457200" indent="-457200">
              <a:buFont typeface="+mj-lt"/>
              <a:buAutoNum type="arabicPeriod"/>
            </a:pPr>
            <a:r>
              <a:rPr lang="en-US" dirty="0" smtClean="0"/>
              <a:t>Enterprise Architect / IT Security </a:t>
            </a:r>
            <a:r>
              <a:rPr lang="en-US" sz="1800" i="1" dirty="0" smtClean="0"/>
              <a:t>(CTO &amp; CSO representation)</a:t>
            </a:r>
          </a:p>
          <a:p>
            <a:pPr marL="457200" indent="-457200">
              <a:buFont typeface="+mj-lt"/>
              <a:buAutoNum type="arabicPeriod"/>
            </a:pPr>
            <a:r>
              <a:rPr lang="en-US" dirty="0" smtClean="0"/>
              <a:t>Project sponsor review along with IT EDW Director</a:t>
            </a:r>
          </a:p>
          <a:p>
            <a:pPr marL="457200" indent="-457200">
              <a:buFont typeface="+mj-lt"/>
              <a:buAutoNum type="arabicPeriod"/>
            </a:pPr>
            <a:r>
              <a:rPr lang="en-US" dirty="0" smtClean="0"/>
              <a:t>PHS </a:t>
            </a:r>
            <a:r>
              <a:rPr lang="en-US" dirty="0"/>
              <a:t>Legal </a:t>
            </a:r>
            <a:r>
              <a:rPr lang="en-US" dirty="0" smtClean="0"/>
              <a:t>Counsel / Privacy Office – Sept 24</a:t>
            </a:r>
            <a:r>
              <a:rPr lang="en-US" baseline="30000" dirty="0" smtClean="0"/>
              <a:t>th</a:t>
            </a:r>
            <a:r>
              <a:rPr lang="en-US" dirty="0" smtClean="0"/>
              <a:t> 2018</a:t>
            </a:r>
          </a:p>
        </p:txBody>
      </p:sp>
      <p:pic>
        <p:nvPicPr>
          <p:cNvPr id="5" name="Picture 4"/>
          <p:cNvPicPr>
            <a:picLocks noChangeAspect="1"/>
          </p:cNvPicPr>
          <p:nvPr/>
        </p:nvPicPr>
        <p:blipFill>
          <a:blip r:embed="rId2"/>
          <a:stretch>
            <a:fillRect/>
          </a:stretch>
        </p:blipFill>
        <p:spPr>
          <a:xfrm>
            <a:off x="6545886" y="139243"/>
            <a:ext cx="2266950" cy="413931"/>
          </a:xfrm>
          <a:prstGeom prst="rect">
            <a:avLst/>
          </a:prstGeom>
        </p:spPr>
      </p:pic>
    </p:spTree>
    <p:extLst>
      <p:ext uri="{BB962C8B-B14F-4D97-AF65-F5344CB8AC3E}">
        <p14:creationId xmlns:p14="http://schemas.microsoft.com/office/powerpoint/2010/main" val="29820716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259297" y="620688"/>
            <a:ext cx="8534400" cy="5760640"/>
          </a:xfrm>
        </p:spPr>
        <p:txBody>
          <a:bodyPr>
            <a:noAutofit/>
          </a:bodyPr>
          <a:lstStyle/>
          <a:p>
            <a:pPr lvl="1"/>
            <a:r>
              <a:rPr lang="en-US" sz="1800" dirty="0" smtClean="0"/>
              <a:t>Leverage existing IT EDW implemented </a:t>
            </a:r>
            <a:r>
              <a:rPr lang="en-US" sz="1800" dirty="0"/>
              <a:t>IBM </a:t>
            </a:r>
            <a:r>
              <a:rPr lang="en-US" sz="1800" dirty="0" smtClean="0"/>
              <a:t>IIS, database platform, Infrastructure </a:t>
            </a:r>
            <a:r>
              <a:rPr lang="en-US" sz="1800" dirty="0"/>
              <a:t>and investments made to date to support PHS business growth </a:t>
            </a:r>
            <a:r>
              <a:rPr lang="en-US" sz="1800" dirty="0" smtClean="0"/>
              <a:t>model </a:t>
            </a:r>
            <a:r>
              <a:rPr lang="en-US" sz="1800" dirty="0"/>
              <a:t>including Fluent Health</a:t>
            </a:r>
          </a:p>
          <a:p>
            <a:pPr lvl="1"/>
            <a:r>
              <a:rPr lang="en-US" sz="1800" dirty="0"/>
              <a:t>Enable organizational readiness for PHS to manage the IBM solution moving forward in line with </a:t>
            </a:r>
            <a:r>
              <a:rPr lang="en-US" sz="1800" dirty="0" smtClean="0"/>
              <a:t>business </a:t>
            </a:r>
            <a:r>
              <a:rPr lang="en-US" sz="1800" dirty="0"/>
              <a:t>growth strategy</a:t>
            </a:r>
          </a:p>
          <a:p>
            <a:pPr lvl="1"/>
            <a:r>
              <a:rPr lang="en-US" sz="1800" dirty="0"/>
              <a:t>Enable the </a:t>
            </a:r>
            <a:r>
              <a:rPr lang="en-US" sz="1800" dirty="0" smtClean="0"/>
              <a:t>IBM Unified Data Model for Healthcare which supports Multi Tenant data model </a:t>
            </a:r>
            <a:r>
              <a:rPr lang="en-US" sz="1800" dirty="0"/>
              <a:t>a</a:t>
            </a:r>
            <a:r>
              <a:rPr lang="en-US" sz="1800" dirty="0" smtClean="0"/>
              <a:t>rchitecture </a:t>
            </a:r>
            <a:r>
              <a:rPr lang="en-US" sz="1800" dirty="0"/>
              <a:t>that is scalable beyond PHS New Mexico </a:t>
            </a:r>
            <a:r>
              <a:rPr lang="en-US" sz="1800" dirty="0" smtClean="0"/>
              <a:t>members &amp; patients population (ex: extend solution to NCPOP)</a:t>
            </a:r>
            <a:endParaRPr lang="en-US" sz="1800" dirty="0"/>
          </a:p>
          <a:p>
            <a:pPr lvl="1"/>
            <a:r>
              <a:rPr lang="en-US" sz="1800" dirty="0"/>
              <a:t>Enable the </a:t>
            </a:r>
            <a:r>
              <a:rPr lang="en-US" sz="1800" dirty="0" smtClean="0"/>
              <a:t>IBM </a:t>
            </a:r>
            <a:r>
              <a:rPr lang="en-US" sz="1800" dirty="0"/>
              <a:t>Unified Data Model for Healthcare to successfully integrate and manage Clinical &amp; Claims data </a:t>
            </a:r>
            <a:r>
              <a:rPr lang="en-US" sz="1800" dirty="0" smtClean="0"/>
              <a:t>(Health Plan &amp; Delivery Systems)</a:t>
            </a:r>
          </a:p>
          <a:p>
            <a:pPr lvl="1"/>
            <a:r>
              <a:rPr lang="en-US" sz="1800" dirty="0" smtClean="0"/>
              <a:t>Design </a:t>
            </a:r>
            <a:r>
              <a:rPr lang="en-US" sz="1800" dirty="0"/>
              <a:t>and Implement Security measures at various stages of </a:t>
            </a:r>
            <a:r>
              <a:rPr lang="en-US" sz="1800" dirty="0" smtClean="0"/>
              <a:t>Enterprise </a:t>
            </a:r>
            <a:r>
              <a:rPr lang="en-US" sz="1800" dirty="0"/>
              <a:t>Data Warehouse Life </a:t>
            </a:r>
            <a:r>
              <a:rPr lang="en-US" sz="1800" dirty="0" smtClean="0"/>
              <a:t>cycle including Data Sharing policies </a:t>
            </a:r>
            <a:r>
              <a:rPr lang="en-US" sz="1800" b="1" i="1" dirty="0" smtClean="0"/>
              <a:t>Reference Number DAN.PHS-E.002 – See </a:t>
            </a:r>
            <a:r>
              <a:rPr lang="en-US" sz="1800" b="1" i="1" dirty="0" smtClean="0">
                <a:hlinkClick r:id="rId2" action="ppaction://hlinksldjump"/>
              </a:rPr>
              <a:t>Appendix Data Sharing Across the Business Units / Capitated Providers</a:t>
            </a:r>
            <a:endParaRPr lang="en-US" sz="1800" b="1" i="1" dirty="0"/>
          </a:p>
          <a:p>
            <a:pPr lvl="1"/>
            <a:r>
              <a:rPr lang="en-US" sz="1800" dirty="0"/>
              <a:t>Design and develop IBM Unified Data Model for Healthcare solution as subject oriented, integrated, time variant and nonvolatile manner to facilitate analytical support</a:t>
            </a:r>
            <a:r>
              <a:rPr lang="en-US" sz="1800" dirty="0" smtClean="0"/>
              <a:t>.</a:t>
            </a:r>
          </a:p>
          <a:p>
            <a:pPr lvl="1"/>
            <a:r>
              <a:rPr lang="en-US" sz="1800" dirty="0" smtClean="0"/>
              <a:t>IBM assessment </a:t>
            </a:r>
            <a:r>
              <a:rPr lang="en-US" sz="1800" i="1" dirty="0" smtClean="0"/>
              <a:t>(on existing approved data infrastructure) </a:t>
            </a:r>
            <a:r>
              <a:rPr lang="en-US" sz="1800" dirty="0" smtClean="0"/>
              <a:t>key findings were taken into consideration – See </a:t>
            </a:r>
            <a:r>
              <a:rPr lang="en-US" sz="1800" b="1" i="1" dirty="0" smtClean="0">
                <a:hlinkClick r:id="rId3" action="ppaction://hlinksldjump"/>
              </a:rPr>
              <a:t>Appendix IBM assessment findings</a:t>
            </a:r>
            <a:endParaRPr lang="en-US" sz="1800" b="1" i="1"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3" name="Title 2"/>
          <p:cNvSpPr>
            <a:spLocks noGrp="1"/>
          </p:cNvSpPr>
          <p:nvPr>
            <p:ph type="title"/>
          </p:nvPr>
        </p:nvSpPr>
        <p:spPr/>
        <p:txBody>
          <a:bodyPr/>
          <a:lstStyle/>
          <a:p>
            <a:pPr lvl="0"/>
            <a:r>
              <a:rPr lang="en-US" sz="3200" dirty="0" smtClean="0"/>
              <a:t>IRADW Architecture Objectives</a:t>
            </a:r>
            <a:endParaRPr lang="en-US" sz="3200" dirty="0"/>
          </a:p>
        </p:txBody>
      </p:sp>
      <p:pic>
        <p:nvPicPr>
          <p:cNvPr id="5" name="Picture 4"/>
          <p:cNvPicPr>
            <a:picLocks noChangeAspect="1"/>
          </p:cNvPicPr>
          <p:nvPr/>
        </p:nvPicPr>
        <p:blipFill>
          <a:blip r:embed="rId4"/>
          <a:stretch>
            <a:fillRect/>
          </a:stretch>
        </p:blipFill>
        <p:spPr>
          <a:xfrm>
            <a:off x="6696236" y="152400"/>
            <a:ext cx="2266950" cy="413931"/>
          </a:xfrm>
          <a:prstGeom prst="rect">
            <a:avLst/>
          </a:prstGeom>
        </p:spPr>
      </p:pic>
    </p:spTree>
    <p:extLst>
      <p:ext uri="{BB962C8B-B14F-4D97-AF65-F5344CB8AC3E}">
        <p14:creationId xmlns:p14="http://schemas.microsoft.com/office/powerpoint/2010/main" val="11322133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143508" y="721214"/>
            <a:ext cx="8534400" cy="5616624"/>
          </a:xfrm>
        </p:spPr>
        <p:txBody>
          <a:bodyPr>
            <a:noAutofit/>
          </a:bodyPr>
          <a:lstStyle/>
          <a:p>
            <a:pPr lvl="1"/>
            <a:r>
              <a:rPr lang="en-US" i="1" dirty="0"/>
              <a:t>Apply consistent methodology and guidelines for all Tenants that are defined by PHS Enterprise. The </a:t>
            </a:r>
            <a:r>
              <a:rPr lang="en-US" i="1" dirty="0" smtClean="0"/>
              <a:t>IBM Unified Data Model for Healthcare deployment </a:t>
            </a:r>
            <a:r>
              <a:rPr lang="en-US" i="1" dirty="0"/>
              <a:t>must be scalable in order to handle future growth. </a:t>
            </a:r>
            <a:endParaRPr lang="en-US" i="1" dirty="0" smtClean="0"/>
          </a:p>
          <a:p>
            <a:pPr lvl="1"/>
            <a:r>
              <a:rPr lang="en-US" i="1" dirty="0" smtClean="0"/>
              <a:t>Multiple </a:t>
            </a:r>
            <a:r>
              <a:rPr lang="en-US" i="1" dirty="0"/>
              <a:t>tenants must co-exist in a single IBM UDMH / PDA infrastructure and must ensure that each </a:t>
            </a:r>
            <a:r>
              <a:rPr lang="en-US" i="1" dirty="0" smtClean="0"/>
              <a:t>tenant can </a:t>
            </a:r>
            <a:r>
              <a:rPr lang="en-US" i="1" dirty="0"/>
              <a:t>access only the data that they are authorized to </a:t>
            </a:r>
            <a:r>
              <a:rPr lang="en-US" i="1" dirty="0" smtClean="0"/>
              <a:t>use</a:t>
            </a:r>
          </a:p>
          <a:p>
            <a:pPr lvl="2">
              <a:buFont typeface="Wingdings" panose="05000000000000000000" pitchFamily="2" charset="2"/>
              <a:buChar char="v"/>
            </a:pPr>
            <a:r>
              <a:rPr lang="en-US" dirty="0"/>
              <a:t>Must develop Tenant onboarding process in </a:t>
            </a:r>
            <a:r>
              <a:rPr lang="en-US" dirty="0" smtClean="0"/>
              <a:t> IRADW Enterprise </a:t>
            </a:r>
            <a:r>
              <a:rPr lang="en-US" dirty="0"/>
              <a:t>Data Warehouse.</a:t>
            </a:r>
          </a:p>
          <a:p>
            <a:pPr lvl="2">
              <a:buFont typeface="Wingdings" panose="05000000000000000000" pitchFamily="2" charset="2"/>
              <a:buChar char="v"/>
            </a:pPr>
            <a:r>
              <a:rPr lang="en-US" dirty="0"/>
              <a:t>Must ensure that each T</a:t>
            </a:r>
            <a:r>
              <a:rPr lang="en-US" dirty="0" smtClean="0"/>
              <a:t>enant </a:t>
            </a:r>
            <a:r>
              <a:rPr lang="en-US" dirty="0"/>
              <a:t>can access only the data that they are authorized to use.</a:t>
            </a:r>
          </a:p>
          <a:p>
            <a:pPr lvl="2">
              <a:buFont typeface="Wingdings" panose="05000000000000000000" pitchFamily="2" charset="2"/>
              <a:buChar char="v"/>
            </a:pPr>
            <a:r>
              <a:rPr lang="en-US" dirty="0"/>
              <a:t>Must have unique identifier for each Tenant. This approach must be enterprise standard</a:t>
            </a:r>
            <a:r>
              <a:rPr lang="en-US" dirty="0" smtClean="0"/>
              <a:t>. See </a:t>
            </a:r>
            <a:r>
              <a:rPr lang="en-US" b="1" i="1" dirty="0" smtClean="0">
                <a:hlinkClick r:id="rId2" action="ppaction://hlinksldjump"/>
              </a:rPr>
              <a:t>Appendix </a:t>
            </a:r>
            <a:r>
              <a:rPr lang="en-US" b="1" i="1" dirty="0">
                <a:hlinkClick r:id="rId2" action="ppaction://hlinksldjump"/>
              </a:rPr>
              <a:t>Organization(s) / Tenant(s) Setup Process in IRADW</a:t>
            </a:r>
            <a:endParaRPr lang="en-US" b="1" i="1" dirty="0"/>
          </a:p>
          <a:p>
            <a:pPr lvl="2">
              <a:buFont typeface="Wingdings" panose="05000000000000000000" pitchFamily="2" charset="2"/>
              <a:buChar char="v"/>
            </a:pPr>
            <a:r>
              <a:rPr lang="en-US" dirty="0"/>
              <a:t>After multi-tenancy is enabled, </a:t>
            </a:r>
            <a:r>
              <a:rPr lang="en-US" dirty="0" smtClean="0"/>
              <a:t>The IT Operations must </a:t>
            </a:r>
            <a:r>
              <a:rPr lang="en-US" dirty="0"/>
              <a:t>record </a:t>
            </a:r>
            <a:r>
              <a:rPr lang="en-US" dirty="0" smtClean="0"/>
              <a:t>user </a:t>
            </a:r>
            <a:r>
              <a:rPr lang="en-US" dirty="0"/>
              <a:t>activities </a:t>
            </a:r>
            <a:r>
              <a:rPr lang="en-US" dirty="0" smtClean="0"/>
              <a:t>using </a:t>
            </a:r>
            <a:r>
              <a:rPr lang="en-US" dirty="0"/>
              <a:t>audit logging capabilities.</a:t>
            </a:r>
          </a:p>
          <a:p>
            <a:pPr lvl="2">
              <a:buFont typeface="Wingdings" panose="05000000000000000000" pitchFamily="2" charset="2"/>
              <a:buChar char="v"/>
            </a:pPr>
            <a:r>
              <a:rPr lang="en-US" dirty="0"/>
              <a:t>Tenant </a:t>
            </a:r>
            <a:r>
              <a:rPr lang="en-US" dirty="0" smtClean="0"/>
              <a:t>metadata </a:t>
            </a:r>
            <a:r>
              <a:rPr lang="en-US" dirty="0"/>
              <a:t>must be managed using the standard administration capabilities.</a:t>
            </a:r>
          </a:p>
          <a:p>
            <a:pPr lvl="2">
              <a:buFont typeface="Wingdings" panose="05000000000000000000" pitchFamily="2" charset="2"/>
              <a:buChar char="v"/>
            </a:pPr>
            <a:r>
              <a:rPr lang="en-US" dirty="0"/>
              <a:t>The containment rules for multitenancy must maintain security and ensure isolation between tenants. Must also ensure that the rules dictate how the content is created and where it can be located</a:t>
            </a:r>
            <a:r>
              <a:rPr lang="en-US" dirty="0" smtClean="0"/>
              <a:t>.</a:t>
            </a:r>
            <a:endParaRPr lang="en-US" dirty="0"/>
          </a:p>
          <a:p>
            <a:pPr defTabSz="785813" eaLnBrk="0" hangingPunct="0">
              <a:spcBef>
                <a:spcPts val="1200"/>
              </a:spcBef>
            </a:pPr>
            <a:endParaRPr lang="en-US" sz="1600" dirty="0"/>
          </a:p>
          <a:p>
            <a:pPr defTabSz="785813" eaLnBrk="0" hangingPunct="0">
              <a:spcBef>
                <a:spcPts val="1200"/>
              </a:spcBef>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3" name="Title 2"/>
          <p:cNvSpPr>
            <a:spLocks noGrp="1"/>
          </p:cNvSpPr>
          <p:nvPr>
            <p:ph type="title"/>
          </p:nvPr>
        </p:nvSpPr>
        <p:spPr>
          <a:xfrm>
            <a:off x="251520" y="215682"/>
            <a:ext cx="6444716" cy="576000"/>
          </a:xfrm>
        </p:spPr>
        <p:txBody>
          <a:bodyPr/>
          <a:lstStyle/>
          <a:p>
            <a:pPr lvl="0"/>
            <a:r>
              <a:rPr lang="en-US" sz="2400" dirty="0" smtClean="0"/>
              <a:t>IRADW Stakeholder Multi-Tenant Requirement(s)</a:t>
            </a:r>
            <a:endParaRPr lang="en-US" sz="2400" dirty="0"/>
          </a:p>
        </p:txBody>
      </p:sp>
      <p:pic>
        <p:nvPicPr>
          <p:cNvPr id="4" name="Picture 3"/>
          <p:cNvPicPr>
            <a:picLocks noChangeAspect="1"/>
          </p:cNvPicPr>
          <p:nvPr/>
        </p:nvPicPr>
        <p:blipFill>
          <a:blip r:embed="rId3"/>
          <a:stretch>
            <a:fillRect/>
          </a:stretch>
        </p:blipFill>
        <p:spPr>
          <a:xfrm>
            <a:off x="6700517" y="296716"/>
            <a:ext cx="2266950" cy="413931"/>
          </a:xfrm>
          <a:prstGeom prst="rect">
            <a:avLst/>
          </a:prstGeom>
        </p:spPr>
      </p:pic>
    </p:spTree>
    <p:extLst>
      <p:ext uri="{BB962C8B-B14F-4D97-AF65-F5344CB8AC3E}">
        <p14:creationId xmlns:p14="http://schemas.microsoft.com/office/powerpoint/2010/main" val="13332028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8" y="176389"/>
            <a:ext cx="6480212" cy="701932"/>
          </a:xfrm>
        </p:spPr>
        <p:txBody>
          <a:bodyPr/>
          <a:lstStyle/>
          <a:p>
            <a:pPr marL="274320">
              <a:spcBef>
                <a:spcPts val="1200"/>
              </a:spcBef>
            </a:pPr>
            <a:r>
              <a:rPr lang="en-US" sz="2400" dirty="0" smtClean="0"/>
              <a:t>Solution Highlights: Multi-Tenancy Data Model Design</a:t>
            </a:r>
            <a:endParaRPr lang="en-IN" sz="2400" dirty="0"/>
          </a:p>
        </p:txBody>
      </p:sp>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235845" y="1016732"/>
            <a:ext cx="8785448" cy="5293752"/>
          </a:xfrm>
        </p:spPr>
        <p:txBody>
          <a:bodyPr>
            <a:noAutofit/>
          </a:bodyPr>
          <a:lstStyle/>
          <a:p>
            <a:pPr defTabSz="785813" eaLnBrk="0" hangingPunct="0">
              <a:spcBef>
                <a:spcPts val="1200"/>
              </a:spcBef>
            </a:pPr>
            <a:r>
              <a:rPr lang="en-US" sz="1600" dirty="0" smtClean="0"/>
              <a:t>Multi-tenant capable data environment </a:t>
            </a:r>
            <a:r>
              <a:rPr lang="en-US" sz="1600" dirty="0"/>
              <a:t>consist of multiple customers or organizations, called </a:t>
            </a:r>
            <a:r>
              <a:rPr lang="en-US" sz="1600" b="1" i="1" dirty="0" smtClean="0"/>
              <a:t>Tenants</a:t>
            </a:r>
            <a:r>
              <a:rPr lang="en-US" sz="1600" dirty="0"/>
              <a:t>.</a:t>
            </a:r>
          </a:p>
          <a:p>
            <a:pPr defTabSz="785813" eaLnBrk="0" hangingPunct="0">
              <a:spcBef>
                <a:spcPts val="1200"/>
              </a:spcBef>
            </a:pPr>
            <a:r>
              <a:rPr lang="en-US" sz="1600" b="1" i="1" dirty="0" smtClean="0"/>
              <a:t>IBM UDMH: </a:t>
            </a:r>
            <a:r>
              <a:rPr lang="en-US" sz="1600" dirty="0" smtClean="0"/>
              <a:t>IBM provides a multi-tenant capable data reservoir with a Unified Data Model for Healthcare (UDMH), which defines a logical model to represent essential entities and relationships of the healthcare industry to help normalize data across data sets for use in Analytics. Multitenancy </a:t>
            </a:r>
            <a:r>
              <a:rPr lang="en-US" sz="1600" dirty="0"/>
              <a:t>is the capability of an application to support multiple </a:t>
            </a:r>
            <a:r>
              <a:rPr lang="en-US" sz="1600" dirty="0" smtClean="0"/>
              <a:t>tenants </a:t>
            </a:r>
            <a:r>
              <a:rPr lang="en-US" sz="1600" dirty="0"/>
              <a:t>from a single deployment. It ensures that within each </a:t>
            </a:r>
            <a:r>
              <a:rPr lang="en-US" sz="1600" dirty="0" smtClean="0"/>
              <a:t>tenant, </a:t>
            </a:r>
            <a:r>
              <a:rPr lang="en-US" sz="1600" dirty="0"/>
              <a:t>users can access only the data that they are authorized to use</a:t>
            </a:r>
            <a:r>
              <a:rPr lang="en-US" sz="1600" dirty="0" smtClean="0"/>
              <a:t>. </a:t>
            </a:r>
          </a:p>
          <a:p>
            <a:pPr defTabSz="785813" eaLnBrk="0" hangingPunct="0">
              <a:spcBef>
                <a:spcPts val="1200"/>
              </a:spcBef>
            </a:pPr>
            <a:r>
              <a:rPr lang="en-US" sz="1600" b="1" dirty="0" smtClean="0"/>
              <a:t>Organizational </a:t>
            </a:r>
            <a:r>
              <a:rPr lang="en-US" sz="1600" b="1" dirty="0"/>
              <a:t>Hierarchy: </a:t>
            </a:r>
            <a:r>
              <a:rPr lang="en-US" sz="1600" dirty="0"/>
              <a:t>An association between two organizations based </a:t>
            </a:r>
            <a:r>
              <a:rPr lang="en-US" sz="1600" dirty="0" smtClean="0"/>
              <a:t>on </a:t>
            </a:r>
            <a:r>
              <a:rPr lang="en-US" sz="1600" dirty="0"/>
              <a:t>management, ownership or reporting hierarchical structure</a:t>
            </a:r>
            <a:r>
              <a:rPr lang="en-US" sz="1600" dirty="0" smtClean="0"/>
              <a:t>. Defining the organizational hierarchy is important in </a:t>
            </a:r>
            <a:r>
              <a:rPr lang="en-US" sz="1600" dirty="0"/>
              <a:t>designing the data access security </a:t>
            </a:r>
            <a:r>
              <a:rPr lang="en-US" sz="1600" dirty="0" smtClean="0"/>
              <a:t>requirements</a:t>
            </a:r>
          </a:p>
          <a:p>
            <a:pPr defTabSz="785813" eaLnBrk="0" hangingPunct="0">
              <a:spcBef>
                <a:spcPts val="1200"/>
              </a:spcBef>
            </a:pPr>
            <a:r>
              <a:rPr lang="en-US" sz="1600" b="1" dirty="0"/>
              <a:t>Tenant: </a:t>
            </a:r>
            <a:r>
              <a:rPr lang="en-US" sz="1600" dirty="0"/>
              <a:t>The legal owner of data. A tenant controls what data any user can access. In this multi-tenant architecture, the tenant number associates every record with the appropriate tenant</a:t>
            </a:r>
            <a:r>
              <a:rPr lang="en-US" sz="1600" dirty="0" smtClean="0"/>
              <a:t>.</a:t>
            </a:r>
          </a:p>
          <a:p>
            <a:pPr defTabSz="785813" eaLnBrk="0" hangingPunct="0">
              <a:spcBef>
                <a:spcPts val="1200"/>
              </a:spcBef>
            </a:pPr>
            <a:r>
              <a:rPr lang="en-US" sz="1600" b="1" dirty="0"/>
              <a:t>Source System: </a:t>
            </a:r>
            <a:r>
              <a:rPr lang="en-US" sz="1600" dirty="0"/>
              <a:t>The details of the source system or </a:t>
            </a:r>
            <a:r>
              <a:rPr lang="en-US" sz="1600" dirty="0" smtClean="0"/>
              <a:t>vendor where the data is sourcing into UDMH</a:t>
            </a:r>
          </a:p>
          <a:p>
            <a:pPr defTabSz="785813" eaLnBrk="0" hangingPunct="0">
              <a:spcBef>
                <a:spcPts val="1200"/>
              </a:spcBef>
            </a:pPr>
            <a:r>
              <a:rPr lang="en-US" sz="1600" b="1" i="1" dirty="0" smtClean="0"/>
              <a:t>IBM RDM: </a:t>
            </a:r>
            <a:r>
              <a:rPr lang="en-US" sz="1600" dirty="0" smtClean="0"/>
              <a:t>Consistent approach to maintain, collect and load the organizational and tenant master </a:t>
            </a:r>
            <a:r>
              <a:rPr lang="en-US" sz="1600" dirty="0"/>
              <a:t>data that provides the governance, process, security, and audit control for managing reference data as an enterprise standard, resulting in fewer errors, reduced business risk, and cost </a:t>
            </a:r>
            <a:r>
              <a:rPr lang="en-US" sz="1600" dirty="0" smtClean="0"/>
              <a:t>savings See </a:t>
            </a:r>
            <a:r>
              <a:rPr lang="en-US" sz="1600" b="1" i="1" dirty="0">
                <a:hlinkClick r:id="rId2" action="ppaction://hlinksldjump"/>
              </a:rPr>
              <a:t>Appendix Organization(s) / Tenant(s) Setup Process in IRADW</a:t>
            </a:r>
            <a:endParaRPr lang="en-US" sz="1600" b="1" i="1"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pic>
        <p:nvPicPr>
          <p:cNvPr id="4" name="Picture 3"/>
          <p:cNvPicPr>
            <a:picLocks noChangeAspect="1"/>
          </p:cNvPicPr>
          <p:nvPr/>
        </p:nvPicPr>
        <p:blipFill>
          <a:blip r:embed="rId3"/>
          <a:stretch>
            <a:fillRect/>
          </a:stretch>
        </p:blipFill>
        <p:spPr>
          <a:xfrm>
            <a:off x="6754343" y="176389"/>
            <a:ext cx="2266950" cy="413931"/>
          </a:xfrm>
          <a:prstGeom prst="rect">
            <a:avLst/>
          </a:prstGeom>
        </p:spPr>
      </p:pic>
    </p:spTree>
    <p:extLst>
      <p:ext uri="{BB962C8B-B14F-4D97-AF65-F5344CB8AC3E}">
        <p14:creationId xmlns:p14="http://schemas.microsoft.com/office/powerpoint/2010/main" val="19906372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10D7E0E-86AD-4294-9E1A-550A04B000E3}"/>
              </a:ext>
            </a:extLst>
          </p:cNvPr>
          <p:cNvSpPr>
            <a:spLocks noGrp="1"/>
          </p:cNvSpPr>
          <p:nvPr>
            <p:ph type="title"/>
          </p:nvPr>
        </p:nvSpPr>
        <p:spPr>
          <a:xfrm>
            <a:off x="355497" y="116632"/>
            <a:ext cx="8433003" cy="579220"/>
          </a:xfrm>
        </p:spPr>
        <p:txBody>
          <a:bodyPr/>
          <a:lstStyle/>
          <a:p>
            <a:r>
              <a:rPr lang="en-US" sz="3200" dirty="0" smtClean="0"/>
              <a:t>Organizational Hierarchy</a:t>
            </a:r>
            <a:br>
              <a:rPr lang="en-US" sz="3200" dirty="0" smtClean="0"/>
            </a:br>
            <a:r>
              <a:rPr lang="en-US" sz="1600" b="0" i="1" dirty="0" smtClean="0"/>
              <a:t>The first building block in Multi-Tenant Data Model Design</a:t>
            </a:r>
            <a:endParaRPr lang="en-US" sz="1600" b="0" i="1" dirty="0"/>
          </a:p>
        </p:txBody>
      </p:sp>
      <p:sp>
        <p:nvSpPr>
          <p:cNvPr id="3" name="TextBox 2"/>
          <p:cNvSpPr txBox="1"/>
          <p:nvPr/>
        </p:nvSpPr>
        <p:spPr>
          <a:xfrm>
            <a:off x="290465" y="5905474"/>
            <a:ext cx="8352928" cy="369332"/>
          </a:xfrm>
          <a:prstGeom prst="rect">
            <a:avLst/>
          </a:prstGeom>
          <a:noFill/>
        </p:spPr>
        <p:txBody>
          <a:bodyPr wrap="square" rtlCol="0">
            <a:spAutoFit/>
          </a:bodyPr>
          <a:lstStyle/>
          <a:p>
            <a:r>
              <a:rPr lang="en-US" i="1" dirty="0" smtClean="0">
                <a:solidFill>
                  <a:srgbClr val="FF0000"/>
                </a:solidFill>
              </a:rPr>
              <a:t>* Organization / Company / Tenant must have valid federal tax identifier</a:t>
            </a:r>
            <a:endParaRPr lang="en-US" i="1" dirty="0">
              <a:solidFill>
                <a:srgbClr val="FF0000"/>
              </a:solidFill>
            </a:endParaRPr>
          </a:p>
        </p:txBody>
      </p:sp>
      <p:pic>
        <p:nvPicPr>
          <p:cNvPr id="6" name="Picture 5"/>
          <p:cNvPicPr>
            <a:picLocks noChangeAspect="1"/>
          </p:cNvPicPr>
          <p:nvPr/>
        </p:nvPicPr>
        <p:blipFill>
          <a:blip r:embed="rId2"/>
          <a:stretch>
            <a:fillRect/>
          </a:stretch>
        </p:blipFill>
        <p:spPr>
          <a:xfrm>
            <a:off x="6732240" y="281921"/>
            <a:ext cx="2266950" cy="413931"/>
          </a:xfrm>
          <a:prstGeom prst="rect">
            <a:avLst/>
          </a:prstGeom>
        </p:spPr>
      </p:pic>
      <p:pic>
        <p:nvPicPr>
          <p:cNvPr id="2" name="Picture 1"/>
          <p:cNvPicPr>
            <a:picLocks noChangeAspect="1"/>
          </p:cNvPicPr>
          <p:nvPr/>
        </p:nvPicPr>
        <p:blipFill>
          <a:blip r:embed="rId3"/>
          <a:stretch>
            <a:fillRect/>
          </a:stretch>
        </p:blipFill>
        <p:spPr>
          <a:xfrm>
            <a:off x="-1" y="861140"/>
            <a:ext cx="9144001" cy="4944124"/>
          </a:xfrm>
          <a:prstGeom prst="rect">
            <a:avLst/>
          </a:prstGeom>
        </p:spPr>
      </p:pic>
    </p:spTree>
    <p:extLst>
      <p:ext uri="{BB962C8B-B14F-4D97-AF65-F5344CB8AC3E}">
        <p14:creationId xmlns:p14="http://schemas.microsoft.com/office/powerpoint/2010/main" val="19756556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37496" y="328004"/>
            <a:ext cx="8410968" cy="738664"/>
          </a:xfrm>
        </p:spPr>
        <p:txBody>
          <a:bodyPr/>
          <a:lstStyle/>
          <a:p>
            <a:r>
              <a:rPr lang="en-US" sz="2400" dirty="0"/>
              <a:t>IBM UDMH - Organization Logical Data Model</a:t>
            </a:r>
            <a:br>
              <a:rPr lang="en-US" sz="2400" dirty="0"/>
            </a:br>
            <a:r>
              <a:rPr lang="en-US" sz="1200" b="0" dirty="0"/>
              <a:t>A logical data model or logical schema is a data model of a specific problem domain expressed independently of a particular database management product but in terms of data structures such as relational tables and columns.</a:t>
            </a:r>
            <a:endParaRPr lang="en-US" sz="1200" b="0" i="1" dirty="0"/>
          </a:p>
        </p:txBody>
      </p:sp>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4294967295"/>
          </p:nvPr>
        </p:nvSpPr>
        <p:spPr>
          <a:xfrm>
            <a:off x="0" y="1143000"/>
            <a:ext cx="8534400" cy="4949825"/>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pic>
        <p:nvPicPr>
          <p:cNvPr id="3" name="Picture 2">
            <a:extLst>
              <a:ext uri="{FF2B5EF4-FFF2-40B4-BE49-F238E27FC236}">
                <a16:creationId xmlns:a16="http://schemas.microsoft.com/office/drawing/2014/main" id="{AE4A338C-51FF-4533-B4EB-746607BEDEF7}"/>
              </a:ext>
            </a:extLst>
          </p:cNvPr>
          <p:cNvPicPr>
            <a:picLocks noChangeAspect="1"/>
          </p:cNvPicPr>
          <p:nvPr/>
        </p:nvPicPr>
        <p:blipFill>
          <a:blip r:embed="rId2"/>
          <a:stretch>
            <a:fillRect/>
          </a:stretch>
        </p:blipFill>
        <p:spPr>
          <a:xfrm>
            <a:off x="863588" y="1143000"/>
            <a:ext cx="7380820" cy="4446239"/>
          </a:xfrm>
          <a:prstGeom prst="rect">
            <a:avLst/>
          </a:prstGeom>
        </p:spPr>
      </p:pic>
      <p:pic>
        <p:nvPicPr>
          <p:cNvPr id="9" name="Picture 8"/>
          <p:cNvPicPr>
            <a:picLocks noChangeAspect="1"/>
          </p:cNvPicPr>
          <p:nvPr/>
        </p:nvPicPr>
        <p:blipFill>
          <a:blip r:embed="rId3"/>
          <a:stretch>
            <a:fillRect/>
          </a:stretch>
        </p:blipFill>
        <p:spPr>
          <a:xfrm>
            <a:off x="5541988" y="5931617"/>
            <a:ext cx="3600450" cy="771914"/>
          </a:xfrm>
          <a:prstGeom prst="rect">
            <a:avLst/>
          </a:prstGeom>
        </p:spPr>
      </p:pic>
      <p:sp>
        <p:nvSpPr>
          <p:cNvPr id="10" name="TextBox 9"/>
          <p:cNvSpPr txBox="1"/>
          <p:nvPr/>
        </p:nvSpPr>
        <p:spPr>
          <a:xfrm>
            <a:off x="1562" y="5669086"/>
            <a:ext cx="7740860" cy="1000274"/>
          </a:xfrm>
          <a:prstGeom prst="rect">
            <a:avLst/>
          </a:prstGeom>
          <a:noFill/>
        </p:spPr>
        <p:txBody>
          <a:bodyPr wrap="square" rtlCol="0">
            <a:spAutoFit/>
          </a:bodyPr>
          <a:lstStyle/>
          <a:p>
            <a:pPr marL="342900" defTabSz="785813" eaLnBrk="0" hangingPunct="0">
              <a:buFont typeface="Wingdings" pitchFamily="2" charset="2"/>
              <a:buChar char="§"/>
            </a:pPr>
            <a:r>
              <a:rPr lang="en-US" sz="1600" b="1" dirty="0">
                <a:solidFill>
                  <a:schemeClr val="tx1">
                    <a:lumMod val="75000"/>
                    <a:lumOff val="25000"/>
                  </a:schemeClr>
                </a:solidFill>
              </a:rPr>
              <a:t>Anchor: </a:t>
            </a:r>
            <a:r>
              <a:rPr lang="en-US" sz="1600" dirty="0">
                <a:solidFill>
                  <a:schemeClr val="tx1">
                    <a:lumMod val="75000"/>
                    <a:lumOff val="25000"/>
                  </a:schemeClr>
                </a:solidFill>
              </a:rPr>
              <a:t>Anchor contain a list of unique business keys with low propensity to change</a:t>
            </a:r>
            <a:r>
              <a:rPr lang="en-US" sz="1600" dirty="0" smtClean="0">
                <a:solidFill>
                  <a:schemeClr val="tx1">
                    <a:lumMod val="75000"/>
                    <a:lumOff val="25000"/>
                  </a:schemeClr>
                </a:solidFill>
              </a:rPr>
              <a:t>.</a:t>
            </a:r>
          </a:p>
          <a:p>
            <a:pPr marL="342900" defTabSz="785813" eaLnBrk="0" hangingPunct="0">
              <a:buFont typeface="Wingdings" pitchFamily="2" charset="2"/>
              <a:buChar char="§"/>
            </a:pPr>
            <a:r>
              <a:rPr lang="en-US" sz="1600" b="1" dirty="0" smtClean="0">
                <a:solidFill>
                  <a:schemeClr val="tx1">
                    <a:lumMod val="75000"/>
                    <a:lumOff val="25000"/>
                  </a:schemeClr>
                </a:solidFill>
              </a:rPr>
              <a:t>Detail: </a:t>
            </a:r>
            <a:r>
              <a:rPr lang="en-US" sz="1600" dirty="0" smtClean="0">
                <a:solidFill>
                  <a:schemeClr val="tx1">
                    <a:lumMod val="75000"/>
                    <a:lumOff val="25000"/>
                  </a:schemeClr>
                </a:solidFill>
              </a:rPr>
              <a:t>Detail contain attributes about the Anchor</a:t>
            </a:r>
          </a:p>
          <a:p>
            <a:pPr marL="342900" defTabSz="785813" eaLnBrk="0" hangingPunct="0">
              <a:buFont typeface="Wingdings" pitchFamily="2" charset="2"/>
              <a:buChar char="§"/>
            </a:pPr>
            <a:r>
              <a:rPr lang="en-US" sz="1600" b="1" dirty="0" smtClean="0">
                <a:solidFill>
                  <a:schemeClr val="tx1">
                    <a:lumMod val="75000"/>
                    <a:lumOff val="25000"/>
                  </a:schemeClr>
                </a:solidFill>
              </a:rPr>
              <a:t>Associative</a:t>
            </a:r>
            <a:r>
              <a:rPr lang="en-US" sz="1600" b="1" dirty="0">
                <a:solidFill>
                  <a:schemeClr val="tx1">
                    <a:lumMod val="75000"/>
                    <a:lumOff val="25000"/>
                  </a:schemeClr>
                </a:solidFill>
              </a:rPr>
              <a:t>: </a:t>
            </a:r>
            <a:r>
              <a:rPr lang="en-US" sz="1600" dirty="0">
                <a:solidFill>
                  <a:schemeClr val="tx1">
                    <a:lumMod val="75000"/>
                    <a:lumOff val="25000"/>
                  </a:schemeClr>
                </a:solidFill>
              </a:rPr>
              <a:t>Store relationships between anchors</a:t>
            </a:r>
          </a:p>
          <a:p>
            <a:endParaRPr lang="en-US" sz="1100" dirty="0"/>
          </a:p>
        </p:txBody>
      </p:sp>
      <p:sp>
        <p:nvSpPr>
          <p:cNvPr id="2" name="TextBox 1"/>
          <p:cNvSpPr txBox="1"/>
          <p:nvPr/>
        </p:nvSpPr>
        <p:spPr>
          <a:xfrm>
            <a:off x="6182507" y="1143000"/>
            <a:ext cx="2808312" cy="738664"/>
          </a:xfrm>
          <a:prstGeom prst="rect">
            <a:avLst/>
          </a:prstGeom>
          <a:noFill/>
        </p:spPr>
        <p:txBody>
          <a:bodyPr wrap="square" rtlCol="0">
            <a:spAutoFit/>
          </a:bodyPr>
          <a:lstStyle/>
          <a:p>
            <a:r>
              <a:rPr lang="en-US" sz="1400" b="1" u="sng" dirty="0" smtClean="0">
                <a:solidFill>
                  <a:srgbClr val="FF0000"/>
                </a:solidFill>
              </a:rPr>
              <a:t>Note: </a:t>
            </a:r>
            <a:r>
              <a:rPr lang="en-US" sz="1400" dirty="0">
                <a:solidFill>
                  <a:srgbClr val="FF0000"/>
                </a:solidFill>
              </a:rPr>
              <a:t>Organizational </a:t>
            </a:r>
            <a:r>
              <a:rPr lang="en-US" sz="1400" dirty="0" smtClean="0">
                <a:solidFill>
                  <a:srgbClr val="FF0000"/>
                </a:solidFill>
              </a:rPr>
              <a:t>Hierarchy information will feed into this data model </a:t>
            </a:r>
            <a:endParaRPr lang="en-US" sz="1400" dirty="0">
              <a:solidFill>
                <a:srgbClr val="FF0000"/>
              </a:solidFill>
            </a:endParaRPr>
          </a:p>
        </p:txBody>
      </p:sp>
      <p:pic>
        <p:nvPicPr>
          <p:cNvPr id="12" name="Picture 11"/>
          <p:cNvPicPr>
            <a:picLocks noChangeAspect="1"/>
          </p:cNvPicPr>
          <p:nvPr/>
        </p:nvPicPr>
        <p:blipFill>
          <a:blip r:embed="rId4"/>
          <a:stretch>
            <a:fillRect/>
          </a:stretch>
        </p:blipFill>
        <p:spPr>
          <a:xfrm>
            <a:off x="6608947" y="168968"/>
            <a:ext cx="2266950" cy="413931"/>
          </a:xfrm>
          <a:prstGeom prst="rect">
            <a:avLst/>
          </a:prstGeom>
        </p:spPr>
      </p:pic>
    </p:spTree>
    <p:extLst>
      <p:ext uri="{BB962C8B-B14F-4D97-AF65-F5344CB8AC3E}">
        <p14:creationId xmlns:p14="http://schemas.microsoft.com/office/powerpoint/2010/main" val="11381310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7238" y="447524"/>
            <a:ext cx="8534400" cy="5825792"/>
          </a:xfrm>
        </p:spPr>
        <p:txBody>
          <a:bodyPr>
            <a:noAutofit/>
          </a:bodyPr>
          <a:lstStyle/>
          <a:p>
            <a:pPr defTabSz="785813" eaLnBrk="0" hangingPunct="0">
              <a:spcBef>
                <a:spcPts val="1200"/>
              </a:spcBef>
            </a:pPr>
            <a:r>
              <a:rPr lang="en-US" sz="2000" dirty="0" smtClean="0"/>
              <a:t>Organization </a:t>
            </a:r>
            <a:r>
              <a:rPr lang="en-US" sz="2000" dirty="0"/>
              <a:t>Table</a:t>
            </a:r>
          </a:p>
          <a:p>
            <a:pPr defTabSz="785813" eaLnBrk="0" hangingPunct="0">
              <a:spcBef>
                <a:spcPts val="1200"/>
              </a:spcBef>
            </a:pPr>
            <a:endParaRPr lang="en-US" sz="1600" dirty="0">
              <a:solidFill>
                <a:schemeClr val="dk1"/>
              </a:solidFill>
            </a:endParaRPr>
          </a:p>
          <a:p>
            <a:pPr defTabSz="785813" eaLnBrk="0" hangingPunct="0">
              <a:spcBef>
                <a:spcPts val="1200"/>
              </a:spcBef>
            </a:pPr>
            <a:endParaRPr lang="en-US" sz="1600" dirty="0">
              <a:solidFill>
                <a:schemeClr val="dk1"/>
              </a:solidFill>
            </a:endParaRPr>
          </a:p>
          <a:p>
            <a:pPr defTabSz="785813" eaLnBrk="0" hangingPunct="0">
              <a:spcBef>
                <a:spcPts val="1200"/>
              </a:spcBef>
            </a:pPr>
            <a:endParaRPr lang="en-US" sz="1600" dirty="0">
              <a:solidFill>
                <a:schemeClr val="dk1"/>
              </a:solidFill>
            </a:endParaRPr>
          </a:p>
          <a:p>
            <a:pPr marL="0" indent="0" defTabSz="785813" eaLnBrk="0" hangingPunct="0">
              <a:spcBef>
                <a:spcPts val="1200"/>
              </a:spcBef>
              <a:buNone/>
            </a:pPr>
            <a:endParaRPr lang="en-US" sz="1200" dirty="0">
              <a:solidFill>
                <a:schemeClr val="tx1"/>
              </a:solidFill>
            </a:endParaRPr>
          </a:p>
          <a:p>
            <a:pPr defTabSz="785813" eaLnBrk="0" hangingPunct="0">
              <a:spcBef>
                <a:spcPts val="1200"/>
              </a:spcBef>
            </a:pPr>
            <a:endParaRPr lang="en-US" sz="1400" dirty="0" smtClean="0">
              <a:solidFill>
                <a:schemeClr val="accent6">
                  <a:lumMod val="50000"/>
                </a:schemeClr>
              </a:solidFill>
            </a:endParaRPr>
          </a:p>
          <a:p>
            <a:pPr lvl="1">
              <a:spcBef>
                <a:spcPts val="600"/>
              </a:spcBef>
              <a:spcAft>
                <a:spcPts val="600"/>
              </a:spcAft>
            </a:pPr>
            <a:r>
              <a:rPr lang="en-US" sz="1400" dirty="0"/>
              <a:t>PHS to confirm to Type Codes</a:t>
            </a:r>
          </a:p>
          <a:p>
            <a:pPr>
              <a:spcBef>
                <a:spcPts val="600"/>
              </a:spcBef>
              <a:spcAft>
                <a:spcPts val="600"/>
              </a:spcAft>
            </a:pPr>
            <a:r>
              <a:rPr lang="en-US" sz="2000" dirty="0" smtClean="0"/>
              <a:t>Organization Hierarchy</a:t>
            </a:r>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marL="457200" lvl="1" indent="0" defTabSz="785813" eaLnBrk="0" hangingPunct="0">
              <a:spcBef>
                <a:spcPts val="600"/>
              </a:spcBef>
              <a:spcAft>
                <a:spcPts val="300"/>
              </a:spcAft>
              <a:buNone/>
            </a:pPr>
            <a:endParaRPr lang="en-US" sz="1600" dirty="0"/>
          </a:p>
          <a:p>
            <a:pPr marL="457200" lvl="1" indent="0" defTabSz="785813" eaLnBrk="0" hangingPunct="0">
              <a:spcBef>
                <a:spcPts val="600"/>
              </a:spcBef>
              <a:spcAft>
                <a:spcPts val="300"/>
              </a:spcAft>
              <a:buNone/>
            </a:pPr>
            <a:endParaRPr lang="en-US" sz="1600" dirty="0"/>
          </a:p>
        </p:txBody>
      </p:sp>
      <p:graphicFrame>
        <p:nvGraphicFramePr>
          <p:cNvPr id="5" name="Table 4"/>
          <p:cNvGraphicFramePr>
            <a:graphicFrameLocks noGrp="1"/>
          </p:cNvGraphicFramePr>
          <p:nvPr>
            <p:extLst>
              <p:ext uri="{D42A27DB-BD31-4B8C-83A1-F6EECF244321}">
                <p14:modId xmlns:p14="http://schemas.microsoft.com/office/powerpoint/2010/main" val="2857893038"/>
              </p:ext>
            </p:extLst>
          </p:nvPr>
        </p:nvGraphicFramePr>
        <p:xfrm>
          <a:off x="503548" y="823871"/>
          <a:ext cx="4857175" cy="2241249"/>
        </p:xfrm>
        <a:graphic>
          <a:graphicData uri="http://schemas.openxmlformats.org/drawingml/2006/table">
            <a:tbl>
              <a:tblPr firstRow="1" bandRow="1">
                <a:tableStyleId>{5C22544A-7EE6-4342-B048-85BDC9FD1C3A}</a:tableStyleId>
              </a:tblPr>
              <a:tblGrid>
                <a:gridCol w="1076755">
                  <a:extLst>
                    <a:ext uri="{9D8B030D-6E8A-4147-A177-3AD203B41FA5}">
                      <a16:colId xmlns:a16="http://schemas.microsoft.com/office/drawing/2014/main" val="2883784282"/>
                    </a:ext>
                  </a:extLst>
                </a:gridCol>
                <a:gridCol w="1440160">
                  <a:extLst>
                    <a:ext uri="{9D8B030D-6E8A-4147-A177-3AD203B41FA5}">
                      <a16:colId xmlns:a16="http://schemas.microsoft.com/office/drawing/2014/main" val="1834345013"/>
                    </a:ext>
                  </a:extLst>
                </a:gridCol>
                <a:gridCol w="2340260">
                  <a:extLst>
                    <a:ext uri="{9D8B030D-6E8A-4147-A177-3AD203B41FA5}">
                      <a16:colId xmlns:a16="http://schemas.microsoft.com/office/drawing/2014/main" val="3195665625"/>
                    </a:ext>
                  </a:extLst>
                </a:gridCol>
              </a:tblGrid>
              <a:tr h="288032">
                <a:tc>
                  <a:txBody>
                    <a:bodyPr/>
                    <a:lstStyle/>
                    <a:p>
                      <a:r>
                        <a:rPr lang="en-US" sz="1200" dirty="0"/>
                        <a:t>Org SK</a:t>
                      </a:r>
                    </a:p>
                  </a:txBody>
                  <a:tcPr/>
                </a:tc>
                <a:tc>
                  <a:txBody>
                    <a:bodyPr/>
                    <a:lstStyle/>
                    <a:p>
                      <a:r>
                        <a:rPr lang="en-US" sz="1200" dirty="0"/>
                        <a:t>Org Bk</a:t>
                      </a:r>
                    </a:p>
                  </a:txBody>
                  <a:tcPr/>
                </a:tc>
                <a:tc>
                  <a:txBody>
                    <a:bodyPr/>
                    <a:lstStyle/>
                    <a:p>
                      <a:r>
                        <a:rPr lang="en-US" sz="1200" dirty="0"/>
                        <a:t>Type Code </a:t>
                      </a:r>
                    </a:p>
                  </a:txBody>
                  <a:tcPr/>
                </a:tc>
                <a:extLst>
                  <a:ext uri="{0D108BD9-81ED-4DB2-BD59-A6C34878D82A}">
                    <a16:rowId xmlns:a16="http://schemas.microsoft.com/office/drawing/2014/main" val="2490319590"/>
                  </a:ext>
                </a:extLst>
              </a:tr>
              <a:tr h="279031">
                <a:tc>
                  <a:txBody>
                    <a:bodyPr/>
                    <a:lstStyle/>
                    <a:p>
                      <a:r>
                        <a:rPr lang="en-US" sz="1200" dirty="0" smtClean="0"/>
                        <a:t>80</a:t>
                      </a:r>
                      <a:endParaRPr lang="en-US" sz="1200" dirty="0"/>
                    </a:p>
                  </a:txBody>
                  <a:tcPr/>
                </a:tc>
                <a:tc>
                  <a:txBody>
                    <a:bodyPr/>
                    <a:lstStyle/>
                    <a:p>
                      <a:r>
                        <a:rPr lang="en-US" sz="1200" dirty="0" smtClean="0"/>
                        <a:t>PHS</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Parent </a:t>
                      </a:r>
                      <a:r>
                        <a:rPr lang="en-US" sz="1200" dirty="0" smtClean="0"/>
                        <a:t>Health Care Company</a:t>
                      </a:r>
                    </a:p>
                  </a:txBody>
                  <a:tcPr/>
                </a:tc>
                <a:extLst>
                  <a:ext uri="{0D108BD9-81ED-4DB2-BD59-A6C34878D82A}">
                    <a16:rowId xmlns:a16="http://schemas.microsoft.com/office/drawing/2014/main" val="4167932083"/>
                  </a:ext>
                </a:extLst>
              </a:tr>
              <a:tr h="279031">
                <a:tc>
                  <a:txBody>
                    <a:bodyPr/>
                    <a:lstStyle/>
                    <a:p>
                      <a:r>
                        <a:rPr lang="en-US" sz="1200" dirty="0" smtClean="0"/>
                        <a:t>81</a:t>
                      </a:r>
                      <a:endParaRPr lang="en-US" sz="1200" dirty="0"/>
                    </a:p>
                  </a:txBody>
                  <a:tcPr/>
                </a:tc>
                <a:tc>
                  <a:txBody>
                    <a:bodyPr/>
                    <a:lstStyle/>
                    <a:p>
                      <a:r>
                        <a:rPr lang="en-US" sz="1200" dirty="0" smtClean="0"/>
                        <a:t>PHS_H</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Health Care Company</a:t>
                      </a:r>
                      <a:endParaRPr lang="en-US" sz="1200" dirty="0"/>
                    </a:p>
                  </a:txBody>
                  <a:tcPr/>
                </a:tc>
                <a:extLst>
                  <a:ext uri="{0D108BD9-81ED-4DB2-BD59-A6C34878D82A}">
                    <a16:rowId xmlns:a16="http://schemas.microsoft.com/office/drawing/2014/main" val="2460927531"/>
                  </a:ext>
                </a:extLst>
              </a:tr>
              <a:tr h="279031">
                <a:tc>
                  <a:txBody>
                    <a:bodyPr/>
                    <a:lstStyle/>
                    <a:p>
                      <a:r>
                        <a:rPr lang="en-US" sz="1200" dirty="0"/>
                        <a:t>82</a:t>
                      </a:r>
                    </a:p>
                  </a:txBody>
                  <a:tcPr/>
                </a:tc>
                <a:tc>
                  <a:txBody>
                    <a:bodyPr/>
                    <a:lstStyle/>
                    <a:p>
                      <a:r>
                        <a:rPr lang="en-US" sz="1200" dirty="0" smtClean="0"/>
                        <a:t>PHS_D</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Tenant</a:t>
                      </a:r>
                      <a:endParaRPr lang="en-US" sz="1200" dirty="0"/>
                    </a:p>
                  </a:txBody>
                  <a:tcPr/>
                </a:tc>
                <a:extLst>
                  <a:ext uri="{0D108BD9-81ED-4DB2-BD59-A6C34878D82A}">
                    <a16:rowId xmlns:a16="http://schemas.microsoft.com/office/drawing/2014/main" val="775611007"/>
                  </a:ext>
                </a:extLst>
              </a:tr>
              <a:tr h="279031">
                <a:tc>
                  <a:txBody>
                    <a:bodyPr/>
                    <a:lstStyle/>
                    <a:p>
                      <a:r>
                        <a:rPr lang="en-US" sz="1200" dirty="0"/>
                        <a:t>83</a:t>
                      </a:r>
                    </a:p>
                  </a:txBody>
                  <a:tcPr/>
                </a:tc>
                <a:tc>
                  <a:txBody>
                    <a:bodyPr/>
                    <a:lstStyle/>
                    <a:p>
                      <a:r>
                        <a:rPr lang="en-US" sz="1200" dirty="0"/>
                        <a:t>FLUENT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Health Care Company</a:t>
                      </a:r>
                    </a:p>
                  </a:txBody>
                  <a:tcPr/>
                </a:tc>
                <a:extLst>
                  <a:ext uri="{0D108BD9-81ED-4DB2-BD59-A6C34878D82A}">
                    <a16:rowId xmlns:a16="http://schemas.microsoft.com/office/drawing/2014/main" val="4161663270"/>
                  </a:ext>
                </a:extLst>
              </a:tr>
              <a:tr h="279031">
                <a:tc>
                  <a:txBody>
                    <a:bodyPr/>
                    <a:lstStyle/>
                    <a:p>
                      <a:r>
                        <a:rPr lang="en-US" sz="1200" dirty="0"/>
                        <a:t>84</a:t>
                      </a:r>
                    </a:p>
                  </a:txBody>
                  <a:tcPr/>
                </a:tc>
                <a:tc>
                  <a:txBody>
                    <a:bodyPr/>
                    <a:lstStyle/>
                    <a:p>
                      <a:r>
                        <a:rPr lang="en-US" sz="1200" dirty="0"/>
                        <a:t>PNI</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Tenant</a:t>
                      </a:r>
                      <a:endParaRPr lang="en-US" sz="1200" dirty="0"/>
                    </a:p>
                  </a:txBody>
                  <a:tcPr/>
                </a:tc>
                <a:extLst>
                  <a:ext uri="{0D108BD9-81ED-4DB2-BD59-A6C34878D82A}">
                    <a16:rowId xmlns:a16="http://schemas.microsoft.com/office/drawing/2014/main" val="338499946"/>
                  </a:ext>
                </a:extLst>
              </a:tr>
              <a:tr h="279031">
                <a:tc>
                  <a:txBody>
                    <a:bodyPr/>
                    <a:lstStyle/>
                    <a:p>
                      <a:r>
                        <a:rPr lang="en-US" sz="1200" dirty="0"/>
                        <a:t>87</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dk1"/>
                          </a:solidFill>
                          <a:effectLst/>
                          <a:latin typeface="+mn-lt"/>
                          <a:ea typeface="+mn-ea"/>
                          <a:cs typeface="+mn-cs"/>
                        </a:rPr>
                        <a:t>NCPOP</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Tenant</a:t>
                      </a:r>
                      <a:endParaRPr lang="en-US" sz="1200" dirty="0"/>
                    </a:p>
                  </a:txBody>
                  <a:tcPr/>
                </a:tc>
                <a:extLst>
                  <a:ext uri="{0D108BD9-81ED-4DB2-BD59-A6C34878D82A}">
                    <a16:rowId xmlns:a16="http://schemas.microsoft.com/office/drawing/2014/main" val="4094665766"/>
                  </a:ext>
                </a:extLst>
              </a:tr>
              <a:tr h="279031">
                <a:tc>
                  <a:txBody>
                    <a:bodyPr/>
                    <a:lstStyle/>
                    <a:p>
                      <a:r>
                        <a:rPr lang="en-US" sz="1200" dirty="0" smtClean="0"/>
                        <a:t>88</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PLPCC</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Tenant</a:t>
                      </a:r>
                      <a:endParaRPr lang="en-US" sz="1200" dirty="0"/>
                    </a:p>
                  </a:txBody>
                  <a:tcPr/>
                </a:tc>
                <a:extLst>
                  <a:ext uri="{0D108BD9-81ED-4DB2-BD59-A6C34878D82A}">
                    <a16:rowId xmlns:a16="http://schemas.microsoft.com/office/drawing/2014/main" val="3336732989"/>
                  </a:ext>
                </a:extLst>
              </a:tr>
            </a:tbl>
          </a:graphicData>
        </a:graphic>
      </p:graphicFrame>
      <p:graphicFrame>
        <p:nvGraphicFramePr>
          <p:cNvPr id="3" name="Table 2">
            <a:extLst>
              <a:ext uri="{FF2B5EF4-FFF2-40B4-BE49-F238E27FC236}">
                <a16:creationId xmlns:a16="http://schemas.microsoft.com/office/drawing/2014/main" id="{657E0BA2-1E21-47C6-B064-C71C4A07A359}"/>
              </a:ext>
            </a:extLst>
          </p:cNvPr>
          <p:cNvGraphicFramePr>
            <a:graphicFrameLocks noGrp="1"/>
          </p:cNvGraphicFramePr>
          <p:nvPr>
            <p:extLst>
              <p:ext uri="{D42A27DB-BD31-4B8C-83A1-F6EECF244321}">
                <p14:modId xmlns:p14="http://schemas.microsoft.com/office/powerpoint/2010/main" val="239810337"/>
              </p:ext>
            </p:extLst>
          </p:nvPr>
        </p:nvGraphicFramePr>
        <p:xfrm>
          <a:off x="386873" y="3388325"/>
          <a:ext cx="8358673" cy="2773680"/>
        </p:xfrm>
        <a:graphic>
          <a:graphicData uri="http://schemas.openxmlformats.org/drawingml/2006/table">
            <a:tbl>
              <a:tblPr firstRow="1" bandRow="1">
                <a:tableStyleId>{5C22544A-7EE6-4342-B048-85BDC9FD1C3A}</a:tableStyleId>
              </a:tblPr>
              <a:tblGrid>
                <a:gridCol w="1083332">
                  <a:extLst>
                    <a:ext uri="{9D8B030D-6E8A-4147-A177-3AD203B41FA5}">
                      <a16:colId xmlns:a16="http://schemas.microsoft.com/office/drawing/2014/main" val="1154150938"/>
                    </a:ext>
                  </a:extLst>
                </a:gridCol>
                <a:gridCol w="1148049">
                  <a:extLst>
                    <a:ext uri="{9D8B030D-6E8A-4147-A177-3AD203B41FA5}">
                      <a16:colId xmlns:a16="http://schemas.microsoft.com/office/drawing/2014/main" val="2033928410"/>
                    </a:ext>
                  </a:extLst>
                </a:gridCol>
                <a:gridCol w="3467348">
                  <a:extLst>
                    <a:ext uri="{9D8B030D-6E8A-4147-A177-3AD203B41FA5}">
                      <a16:colId xmlns:a16="http://schemas.microsoft.com/office/drawing/2014/main" val="4116628247"/>
                    </a:ext>
                  </a:extLst>
                </a:gridCol>
                <a:gridCol w="900321">
                  <a:extLst>
                    <a:ext uri="{9D8B030D-6E8A-4147-A177-3AD203B41FA5}">
                      <a16:colId xmlns:a16="http://schemas.microsoft.com/office/drawing/2014/main" val="2257696892"/>
                    </a:ext>
                  </a:extLst>
                </a:gridCol>
                <a:gridCol w="803306">
                  <a:extLst>
                    <a:ext uri="{9D8B030D-6E8A-4147-A177-3AD203B41FA5}">
                      <a16:colId xmlns:a16="http://schemas.microsoft.com/office/drawing/2014/main" val="2634694010"/>
                    </a:ext>
                  </a:extLst>
                </a:gridCol>
                <a:gridCol w="956317">
                  <a:extLst>
                    <a:ext uri="{9D8B030D-6E8A-4147-A177-3AD203B41FA5}">
                      <a16:colId xmlns:a16="http://schemas.microsoft.com/office/drawing/2014/main" val="322565548"/>
                    </a:ext>
                  </a:extLst>
                </a:gridCol>
              </a:tblGrid>
              <a:tr h="4643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Parent Org </a:t>
                      </a:r>
                      <a:r>
                        <a:rPr lang="en-US" sz="1400" b="1" kern="1200" dirty="0" smtClean="0">
                          <a:solidFill>
                            <a:schemeClr val="lt1"/>
                          </a:solidFill>
                          <a:latin typeface="+mn-lt"/>
                          <a:ea typeface="+mn-ea"/>
                          <a:cs typeface="+mn-cs"/>
                        </a:rPr>
                        <a:t>BK</a:t>
                      </a:r>
                      <a:endParaRPr lang="en-US" sz="1400" b="1" kern="1200" dirty="0">
                        <a:solidFill>
                          <a:schemeClr val="lt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Child Org </a:t>
                      </a:r>
                      <a:r>
                        <a:rPr lang="en-US" sz="1400" b="1" kern="1200" dirty="0" smtClean="0">
                          <a:solidFill>
                            <a:schemeClr val="lt1"/>
                          </a:solidFill>
                          <a:latin typeface="+mn-lt"/>
                          <a:ea typeface="+mn-ea"/>
                          <a:cs typeface="+mn-cs"/>
                        </a:rPr>
                        <a:t>BK</a:t>
                      </a:r>
                      <a:endParaRPr lang="en-US" sz="1400" b="1" kern="1200" dirty="0">
                        <a:solidFill>
                          <a:schemeClr val="lt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Relationship Type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Valid from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Valid 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Level Desc</a:t>
                      </a:r>
                    </a:p>
                  </a:txBody>
                  <a:tcPr/>
                </a:tc>
                <a:extLst>
                  <a:ext uri="{0D108BD9-81ED-4DB2-BD59-A6C34878D82A}">
                    <a16:rowId xmlns:a16="http://schemas.microsoft.com/office/drawing/2014/main" val="4246728121"/>
                  </a:ext>
                </a:extLst>
              </a:tr>
              <a:tr h="4643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PHS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PHS_H</a:t>
                      </a:r>
                      <a:endParaRPr lang="en-US"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Parent Health Care Company</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 </a:t>
                      </a:r>
                      <a:r>
                        <a:rPr lang="en-US" sz="1400" kern="1200" dirty="0">
                          <a:solidFill>
                            <a:schemeClr val="dk1"/>
                          </a:solidFill>
                          <a:latin typeface="+mn-lt"/>
                          <a:ea typeface="+mn-ea"/>
                          <a:cs typeface="+mn-cs"/>
                        </a:rPr>
                        <a:t>2 </a:t>
                      </a:r>
                      <a:r>
                        <a:rPr lang="en-US" sz="1400" kern="1200" dirty="0" smtClean="0">
                          <a:solidFill>
                            <a:schemeClr val="dk1"/>
                          </a:solidFill>
                          <a:latin typeface="+mn-lt"/>
                          <a:ea typeface="+mn-ea"/>
                          <a:cs typeface="+mn-cs"/>
                        </a:rPr>
                        <a:t>Health Care Company</a:t>
                      </a:r>
                      <a:endParaRPr lang="en-US"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25045393"/>
                  </a:ext>
                </a:extLst>
              </a:tr>
              <a:tr h="2731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PHS_H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PHS_D</a:t>
                      </a: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Health Care Company</a:t>
                      </a:r>
                      <a:r>
                        <a:rPr lang="en-US" sz="1400" kern="1200" dirty="0">
                          <a:solidFill>
                            <a:schemeClr val="dk1"/>
                          </a:solidFill>
                          <a:latin typeface="+mn-lt"/>
                          <a:ea typeface="+mn-ea"/>
                          <a:cs typeface="+mn-cs"/>
                        </a:rPr>
                        <a:t> </a:t>
                      </a:r>
                      <a:r>
                        <a:rPr lang="en-US" sz="1400" kern="1200" dirty="0" smtClean="0">
                          <a:solidFill>
                            <a:schemeClr val="dk1"/>
                          </a:solidFill>
                          <a:latin typeface="+mn-lt"/>
                          <a:ea typeface="+mn-ea"/>
                          <a:cs typeface="+mn-cs"/>
                        </a:rPr>
                        <a:t>2 Tenant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76157010"/>
                  </a:ext>
                </a:extLst>
              </a:tr>
              <a:tr h="46435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PHS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FLUENT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Parent Health Care Company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 </a:t>
                      </a:r>
                      <a:r>
                        <a:rPr lang="en-US" sz="1400" kern="1200" dirty="0">
                          <a:solidFill>
                            <a:schemeClr val="dk1"/>
                          </a:solidFill>
                          <a:latin typeface="+mn-lt"/>
                          <a:ea typeface="+mn-ea"/>
                          <a:cs typeface="+mn-cs"/>
                        </a:rPr>
                        <a:t>2 Health Care company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294370371"/>
                  </a:ext>
                </a:extLst>
              </a:tr>
              <a:tr h="2731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FLUENT</a:t>
                      </a: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PNI</a:t>
                      </a: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Health Care company 2 </a:t>
                      </a:r>
                      <a:r>
                        <a:rPr lang="en-US" sz="1400" kern="1200" dirty="0" smtClean="0">
                          <a:solidFill>
                            <a:schemeClr val="dk1"/>
                          </a:solidFill>
                          <a:latin typeface="+mn-lt"/>
                          <a:ea typeface="+mn-ea"/>
                          <a:cs typeface="+mn-cs"/>
                        </a:rPr>
                        <a:t>Tenant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856808302"/>
                  </a:ext>
                </a:extLst>
              </a:tr>
              <a:tr h="2731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FLUENT</a:t>
                      </a: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NCPOP</a:t>
                      </a:r>
                      <a:endParaRPr lang="en-US"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Health Care company 2 </a:t>
                      </a:r>
                      <a:r>
                        <a:rPr lang="en-US" sz="1400" kern="1200" dirty="0" smtClean="0">
                          <a:solidFill>
                            <a:schemeClr val="dk1"/>
                          </a:solidFill>
                          <a:latin typeface="+mn-lt"/>
                          <a:ea typeface="+mn-ea"/>
                          <a:cs typeface="+mn-cs"/>
                        </a:rPr>
                        <a:t>Tenant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275088030"/>
                  </a:ext>
                </a:extLst>
              </a:tr>
              <a:tr h="2731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FLUENT</a:t>
                      </a: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latin typeface="+mn-lt"/>
                          <a:ea typeface="+mn-ea"/>
                          <a:cs typeface="+mn-cs"/>
                        </a:rPr>
                        <a:t>PLPCC</a:t>
                      </a:r>
                      <a:endParaRPr lang="en-US"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Health Care company 2 </a:t>
                      </a:r>
                      <a:r>
                        <a:rPr lang="en-US" sz="1400" kern="1200" dirty="0" smtClean="0">
                          <a:solidFill>
                            <a:schemeClr val="dk1"/>
                          </a:solidFill>
                          <a:latin typeface="+mn-lt"/>
                          <a:ea typeface="+mn-ea"/>
                          <a:cs typeface="+mn-cs"/>
                        </a:rPr>
                        <a:t>Tenant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66978257"/>
                  </a:ext>
                </a:extLst>
              </a:tr>
            </a:tbl>
          </a:graphicData>
        </a:graphic>
      </p:graphicFrame>
      <p:sp>
        <p:nvSpPr>
          <p:cNvPr id="6" name="Title 1"/>
          <p:cNvSpPr txBox="1">
            <a:spLocks/>
          </p:cNvSpPr>
          <p:nvPr/>
        </p:nvSpPr>
        <p:spPr>
          <a:xfrm>
            <a:off x="228600" y="77951"/>
            <a:ext cx="5459524" cy="44752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400" dirty="0"/>
              <a:t>Organization Logical Data </a:t>
            </a:r>
            <a:r>
              <a:rPr lang="en-US" sz="2400" dirty="0" smtClean="0"/>
              <a:t>Model</a:t>
            </a:r>
            <a:r>
              <a:rPr lang="en-US" sz="2400" dirty="0"/>
              <a:t> </a:t>
            </a:r>
            <a:r>
              <a:rPr lang="en-US" sz="2400" dirty="0" smtClean="0"/>
              <a:t>Cont’d..</a:t>
            </a:r>
            <a:endParaRPr lang="en-US" sz="2400" dirty="0"/>
          </a:p>
        </p:txBody>
      </p:sp>
      <p:sp>
        <p:nvSpPr>
          <p:cNvPr id="2" name="Rectangle 1"/>
          <p:cNvSpPr/>
          <p:nvPr/>
        </p:nvSpPr>
        <p:spPr>
          <a:xfrm>
            <a:off x="1791270" y="6331321"/>
            <a:ext cx="6954276" cy="307777"/>
          </a:xfrm>
          <a:prstGeom prst="rect">
            <a:avLst/>
          </a:prstGeom>
        </p:spPr>
        <p:txBody>
          <a:bodyPr wrap="none">
            <a:spAutoFit/>
          </a:bodyPr>
          <a:lstStyle/>
          <a:p>
            <a:pPr lvl="1">
              <a:spcBef>
                <a:spcPts val="600"/>
              </a:spcBef>
              <a:spcAft>
                <a:spcPts val="600"/>
              </a:spcAft>
            </a:pPr>
            <a:r>
              <a:rPr lang="en-US" sz="1400" dirty="0">
                <a:solidFill>
                  <a:srgbClr val="FF0000"/>
                </a:solidFill>
              </a:rPr>
              <a:t>*PHS to provide Business </a:t>
            </a:r>
            <a:r>
              <a:rPr lang="en-US" sz="1400" dirty="0" smtClean="0">
                <a:solidFill>
                  <a:srgbClr val="FF0000"/>
                </a:solidFill>
              </a:rPr>
              <a:t>Keys. The business keys represented here only for conceptual</a:t>
            </a:r>
            <a:endParaRPr lang="en-US" sz="1400" dirty="0">
              <a:solidFill>
                <a:srgbClr val="FF0000"/>
              </a:solidFill>
            </a:endParaRPr>
          </a:p>
        </p:txBody>
      </p:sp>
      <p:sp>
        <p:nvSpPr>
          <p:cNvPr id="4" name="TextBox 3"/>
          <p:cNvSpPr txBox="1"/>
          <p:nvPr/>
        </p:nvSpPr>
        <p:spPr>
          <a:xfrm>
            <a:off x="5688124" y="1944495"/>
            <a:ext cx="3349824" cy="738664"/>
          </a:xfrm>
          <a:prstGeom prst="rect">
            <a:avLst/>
          </a:prstGeom>
          <a:noFill/>
        </p:spPr>
        <p:txBody>
          <a:bodyPr wrap="square" rtlCol="0">
            <a:spAutoFit/>
          </a:bodyPr>
          <a:lstStyle/>
          <a:p>
            <a:r>
              <a:rPr lang="en-US" sz="1400" b="1" i="1" u="sng" dirty="0" smtClean="0">
                <a:solidFill>
                  <a:srgbClr val="FF0000"/>
                </a:solidFill>
              </a:rPr>
              <a:t>Note: </a:t>
            </a:r>
            <a:r>
              <a:rPr lang="en-US" sz="1400" dirty="0" smtClean="0">
                <a:solidFill>
                  <a:srgbClr val="FF0000"/>
                </a:solidFill>
              </a:rPr>
              <a:t>Organizational hierarchy is valuable information to report on the type of relationship between these organizations</a:t>
            </a:r>
            <a:endParaRPr lang="en-US" sz="1400" dirty="0">
              <a:solidFill>
                <a:srgbClr val="FF0000"/>
              </a:solidFill>
            </a:endParaRPr>
          </a:p>
        </p:txBody>
      </p:sp>
      <p:pic>
        <p:nvPicPr>
          <p:cNvPr id="10" name="Picture 9"/>
          <p:cNvPicPr>
            <a:picLocks noChangeAspect="1"/>
          </p:cNvPicPr>
          <p:nvPr/>
        </p:nvPicPr>
        <p:blipFill>
          <a:blip r:embed="rId2"/>
          <a:stretch>
            <a:fillRect/>
          </a:stretch>
        </p:blipFill>
        <p:spPr>
          <a:xfrm>
            <a:off x="6770998" y="155901"/>
            <a:ext cx="2266950" cy="413931"/>
          </a:xfrm>
          <a:prstGeom prst="rect">
            <a:avLst/>
          </a:prstGeom>
        </p:spPr>
      </p:pic>
    </p:spTree>
    <p:extLst>
      <p:ext uri="{BB962C8B-B14F-4D97-AF65-F5344CB8AC3E}">
        <p14:creationId xmlns:p14="http://schemas.microsoft.com/office/powerpoint/2010/main" val="39414923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256680" y="1221569"/>
            <a:ext cx="8534400" cy="5486400"/>
          </a:xfrm>
        </p:spPr>
        <p:txBody>
          <a:bodyPr>
            <a:noAutofit/>
          </a:bodyPr>
          <a:lstStyle/>
          <a:p>
            <a:pPr defTabSz="785813" eaLnBrk="0" hangingPunct="0">
              <a:spcBef>
                <a:spcPts val="1200"/>
              </a:spcBef>
            </a:pPr>
            <a:r>
              <a:rPr lang="en-US" sz="2000" b="1" dirty="0"/>
              <a:t>Org Hierarchy </a:t>
            </a:r>
            <a:r>
              <a:rPr lang="en-US" sz="2000" b="1" dirty="0" smtClean="0"/>
              <a:t>basic report example</a:t>
            </a:r>
            <a:endParaRPr lang="en-US" sz="2000" b="1"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marL="457200" lvl="1" indent="0" defTabSz="785813" eaLnBrk="0" hangingPunct="0">
              <a:spcBef>
                <a:spcPts val="600"/>
              </a:spcBef>
              <a:spcAft>
                <a:spcPts val="300"/>
              </a:spcAft>
              <a:buNone/>
            </a:pPr>
            <a:endParaRPr lang="en-US" sz="2800" b="1" dirty="0"/>
          </a:p>
          <a:p>
            <a:pPr marL="342900" lvl="1" indent="-342900" defTabSz="785813" eaLnBrk="0" hangingPunct="0">
              <a:spcBef>
                <a:spcPts val="1200"/>
              </a:spcBef>
              <a:spcAft>
                <a:spcPts val="300"/>
              </a:spcAft>
              <a:buFont typeface="Wingdings" pitchFamily="2" charset="2"/>
              <a:buChar char="§"/>
            </a:pPr>
            <a:r>
              <a:rPr lang="en-US" b="1" dirty="0" smtClean="0"/>
              <a:t>List of Tenants</a:t>
            </a:r>
            <a:endParaRPr lang="en-US" b="1" dirty="0"/>
          </a:p>
          <a:p>
            <a:pPr lvl="1">
              <a:spcBef>
                <a:spcPts val="600"/>
              </a:spcBef>
              <a:spcAft>
                <a:spcPts val="600"/>
              </a:spcAft>
            </a:pPr>
            <a:r>
              <a:rPr lang="en-US" sz="1400" b="1" dirty="0" smtClean="0">
                <a:solidFill>
                  <a:schemeClr val="tx1"/>
                </a:solidFill>
              </a:rPr>
              <a:t>PHS</a:t>
            </a:r>
          </a:p>
          <a:p>
            <a:pPr lvl="1">
              <a:spcBef>
                <a:spcPts val="600"/>
              </a:spcBef>
              <a:spcAft>
                <a:spcPts val="600"/>
              </a:spcAft>
            </a:pPr>
            <a:r>
              <a:rPr lang="en-US" sz="1400" b="1" dirty="0" smtClean="0"/>
              <a:t>PHS_D </a:t>
            </a:r>
            <a:r>
              <a:rPr lang="en-US" sz="1400" dirty="0" smtClean="0"/>
              <a:t>(Presbyterian Delivery System)</a:t>
            </a:r>
            <a:endParaRPr lang="en-US" sz="1400" dirty="0"/>
          </a:p>
          <a:p>
            <a:pPr lvl="1">
              <a:spcBef>
                <a:spcPts val="600"/>
              </a:spcBef>
              <a:spcAft>
                <a:spcPts val="600"/>
              </a:spcAft>
            </a:pPr>
            <a:r>
              <a:rPr lang="en-US" sz="1400" b="1" dirty="0" smtClean="0"/>
              <a:t>PNI </a:t>
            </a:r>
            <a:r>
              <a:rPr lang="en-US" sz="1400" dirty="0" smtClean="0"/>
              <a:t>(Presbyterian Network Inc.)</a:t>
            </a:r>
            <a:endParaRPr lang="en-US" sz="1400" dirty="0"/>
          </a:p>
          <a:p>
            <a:pPr lvl="1">
              <a:spcBef>
                <a:spcPts val="600"/>
              </a:spcBef>
              <a:spcAft>
                <a:spcPts val="600"/>
              </a:spcAft>
            </a:pPr>
            <a:r>
              <a:rPr lang="en-US" sz="1400" b="1" dirty="0" smtClean="0"/>
              <a:t>NCPOP (</a:t>
            </a:r>
            <a:r>
              <a:rPr lang="en-US" sz="1400" dirty="0"/>
              <a:t>North Carolina Provider Owned </a:t>
            </a:r>
            <a:r>
              <a:rPr lang="en-US" sz="1400" dirty="0" smtClean="0"/>
              <a:t>Plans)</a:t>
            </a:r>
          </a:p>
          <a:p>
            <a:pPr lvl="1">
              <a:spcBef>
                <a:spcPts val="600"/>
              </a:spcBef>
              <a:spcAft>
                <a:spcPts val="600"/>
              </a:spcAft>
            </a:pPr>
            <a:r>
              <a:rPr lang="en-US" sz="1400" b="1" dirty="0"/>
              <a:t>PLPCC </a:t>
            </a:r>
            <a:r>
              <a:rPr lang="en-US" sz="1400" dirty="0"/>
              <a:t>(Provider Led, Patient Centered </a:t>
            </a:r>
            <a:r>
              <a:rPr lang="en-US" sz="1400" dirty="0" smtClean="0"/>
              <a:t>Care)</a:t>
            </a:r>
            <a:endParaRPr lang="en-US" sz="1400" dirty="0"/>
          </a:p>
          <a:p>
            <a:pPr marL="457200" lvl="1" indent="0" defTabSz="785813" eaLnBrk="0" hangingPunct="0">
              <a:spcBef>
                <a:spcPts val="600"/>
              </a:spcBef>
              <a:spcAft>
                <a:spcPts val="300"/>
              </a:spcAft>
              <a:buNone/>
            </a:pPr>
            <a:endParaRPr lang="en-US" sz="1600" dirty="0"/>
          </a:p>
          <a:p>
            <a:pPr marL="457200" lvl="1" indent="0" defTabSz="785813" eaLnBrk="0" hangingPunct="0">
              <a:spcBef>
                <a:spcPts val="600"/>
              </a:spcBef>
              <a:spcAft>
                <a:spcPts val="300"/>
              </a:spcAft>
              <a:buNone/>
            </a:pPr>
            <a:endParaRPr lang="en-US" sz="1600" dirty="0"/>
          </a:p>
        </p:txBody>
      </p:sp>
      <p:graphicFrame>
        <p:nvGraphicFramePr>
          <p:cNvPr id="5" name="Table 4"/>
          <p:cNvGraphicFramePr>
            <a:graphicFrameLocks noGrp="1"/>
          </p:cNvGraphicFramePr>
          <p:nvPr>
            <p:extLst>
              <p:ext uri="{D42A27DB-BD31-4B8C-83A1-F6EECF244321}">
                <p14:modId xmlns:p14="http://schemas.microsoft.com/office/powerpoint/2010/main" val="2007084232"/>
              </p:ext>
            </p:extLst>
          </p:nvPr>
        </p:nvGraphicFramePr>
        <p:xfrm>
          <a:off x="611560" y="1624967"/>
          <a:ext cx="6876763" cy="1969446"/>
        </p:xfrm>
        <a:graphic>
          <a:graphicData uri="http://schemas.openxmlformats.org/drawingml/2006/table">
            <a:tbl>
              <a:tblPr firstRow="1" bandRow="1">
                <a:tableStyleId>{5C22544A-7EE6-4342-B048-85BDC9FD1C3A}</a:tableStyleId>
              </a:tblPr>
              <a:tblGrid>
                <a:gridCol w="2365859">
                  <a:extLst>
                    <a:ext uri="{9D8B030D-6E8A-4147-A177-3AD203B41FA5}">
                      <a16:colId xmlns:a16="http://schemas.microsoft.com/office/drawing/2014/main" val="2883784282"/>
                    </a:ext>
                  </a:extLst>
                </a:gridCol>
                <a:gridCol w="851709">
                  <a:extLst>
                    <a:ext uri="{9D8B030D-6E8A-4147-A177-3AD203B41FA5}">
                      <a16:colId xmlns:a16="http://schemas.microsoft.com/office/drawing/2014/main" val="1134863683"/>
                    </a:ext>
                  </a:extLst>
                </a:gridCol>
                <a:gridCol w="851709">
                  <a:extLst>
                    <a:ext uri="{9D8B030D-6E8A-4147-A177-3AD203B41FA5}">
                      <a16:colId xmlns:a16="http://schemas.microsoft.com/office/drawing/2014/main" val="1834345013"/>
                    </a:ext>
                  </a:extLst>
                </a:gridCol>
                <a:gridCol w="851709">
                  <a:extLst>
                    <a:ext uri="{9D8B030D-6E8A-4147-A177-3AD203B41FA5}">
                      <a16:colId xmlns:a16="http://schemas.microsoft.com/office/drawing/2014/main" val="220765441"/>
                    </a:ext>
                  </a:extLst>
                </a:gridCol>
                <a:gridCol w="851709">
                  <a:extLst>
                    <a:ext uri="{9D8B030D-6E8A-4147-A177-3AD203B41FA5}">
                      <a16:colId xmlns:a16="http://schemas.microsoft.com/office/drawing/2014/main" val="2496377944"/>
                    </a:ext>
                  </a:extLst>
                </a:gridCol>
                <a:gridCol w="1104068">
                  <a:extLst>
                    <a:ext uri="{9D8B030D-6E8A-4147-A177-3AD203B41FA5}">
                      <a16:colId xmlns:a16="http://schemas.microsoft.com/office/drawing/2014/main" val="1585806360"/>
                    </a:ext>
                  </a:extLst>
                </a:gridCol>
              </a:tblGrid>
              <a:tr h="401289">
                <a:tc>
                  <a:txBody>
                    <a:bodyPr/>
                    <a:lstStyle/>
                    <a:p>
                      <a:pPr marL="0" algn="l" defTabSz="914400" rtl="0" eaLnBrk="1" latinLnBrk="0" hangingPunct="1"/>
                      <a:r>
                        <a:rPr lang="en-US" sz="1400" b="1" kern="1200" dirty="0">
                          <a:solidFill>
                            <a:schemeClr val="lt1"/>
                          </a:solidFill>
                          <a:latin typeface="+mn-lt"/>
                          <a:ea typeface="+mn-ea"/>
                          <a:cs typeface="+mn-cs"/>
                        </a:rPr>
                        <a:t>Org Type</a:t>
                      </a:r>
                    </a:p>
                  </a:txBody>
                  <a:tcPr/>
                </a:tc>
                <a:tc>
                  <a:txBody>
                    <a:bodyPr/>
                    <a:lstStyle/>
                    <a:p>
                      <a:pPr marL="0" algn="l" defTabSz="914400" rtl="0" eaLnBrk="1" latinLnBrk="0" hangingPunct="1"/>
                      <a:r>
                        <a:rPr lang="en-US" sz="1400" b="1" kern="1200" dirty="0" smtClean="0">
                          <a:solidFill>
                            <a:schemeClr val="bg1"/>
                          </a:solidFill>
                          <a:latin typeface="+mn-lt"/>
                          <a:ea typeface="+mn-ea"/>
                          <a:cs typeface="+mn-cs"/>
                        </a:rPr>
                        <a:t>Branch 1</a:t>
                      </a:r>
                      <a:endParaRPr lang="en-US" sz="1400" b="1" kern="1200" dirty="0">
                        <a:solidFill>
                          <a:schemeClr val="bg1"/>
                        </a:solidFill>
                        <a:latin typeface="+mn-lt"/>
                        <a:ea typeface="+mn-ea"/>
                        <a:cs typeface="+mn-cs"/>
                      </a:endParaRPr>
                    </a:p>
                  </a:txBody>
                  <a:tcPr/>
                </a:tc>
                <a:tc>
                  <a:txBody>
                    <a:bodyPr/>
                    <a:lstStyle/>
                    <a:p>
                      <a:pPr marL="0" algn="l" defTabSz="914400" rtl="0" eaLnBrk="1" latinLnBrk="0" hangingPunct="1"/>
                      <a:r>
                        <a:rPr lang="en-US" sz="1400" b="1" kern="1200" dirty="0">
                          <a:solidFill>
                            <a:schemeClr val="lt1"/>
                          </a:solidFill>
                          <a:latin typeface="+mn-lt"/>
                          <a:ea typeface="+mn-ea"/>
                          <a:cs typeface="+mn-cs"/>
                        </a:rPr>
                        <a:t>Branch </a:t>
                      </a:r>
                      <a:r>
                        <a:rPr lang="en-US" sz="1400" b="1" kern="1200" dirty="0" smtClean="0">
                          <a:solidFill>
                            <a:schemeClr val="lt1"/>
                          </a:solidFill>
                          <a:latin typeface="+mn-lt"/>
                          <a:ea typeface="+mn-ea"/>
                          <a:cs typeface="+mn-cs"/>
                        </a:rPr>
                        <a:t>2</a:t>
                      </a:r>
                      <a:endParaRPr lang="en-US" sz="1400" b="1" kern="1200" dirty="0">
                        <a:solidFill>
                          <a:schemeClr val="lt1"/>
                        </a:solidFill>
                        <a:latin typeface="+mn-lt"/>
                        <a:ea typeface="+mn-ea"/>
                        <a:cs typeface="+mn-cs"/>
                      </a:endParaRPr>
                    </a:p>
                  </a:txBody>
                  <a:tcPr/>
                </a:tc>
                <a:tc>
                  <a:txBody>
                    <a:bodyPr/>
                    <a:lstStyle/>
                    <a:p>
                      <a:pPr marL="0" algn="l" defTabSz="914400" rtl="0" eaLnBrk="1" latinLnBrk="0" hangingPunct="1"/>
                      <a:r>
                        <a:rPr lang="en-US" sz="1400" b="1" kern="1200" dirty="0" smtClean="0">
                          <a:solidFill>
                            <a:schemeClr val="lt1"/>
                          </a:solidFill>
                          <a:latin typeface="+mn-lt"/>
                          <a:ea typeface="+mn-ea"/>
                          <a:cs typeface="+mn-cs"/>
                        </a:rPr>
                        <a:t>Branc</a:t>
                      </a:r>
                      <a:r>
                        <a:rPr lang="en-US" sz="1400" b="1" kern="1200" baseline="0" dirty="0" smtClean="0">
                          <a:solidFill>
                            <a:schemeClr val="lt1"/>
                          </a:solidFill>
                          <a:latin typeface="+mn-lt"/>
                          <a:ea typeface="+mn-ea"/>
                          <a:cs typeface="+mn-cs"/>
                        </a:rPr>
                        <a:t>h 3</a:t>
                      </a:r>
                      <a:endParaRPr lang="en-US" sz="1400" b="1" kern="1200" dirty="0">
                        <a:solidFill>
                          <a:schemeClr val="lt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lt1"/>
                          </a:solidFill>
                          <a:latin typeface="+mn-lt"/>
                          <a:ea typeface="+mn-ea"/>
                          <a:cs typeface="+mn-cs"/>
                        </a:rPr>
                        <a:t>Branch </a:t>
                      </a:r>
                      <a:r>
                        <a:rPr lang="en-US" sz="1400" b="1" kern="1200" dirty="0" smtClean="0">
                          <a:solidFill>
                            <a:schemeClr val="lt1"/>
                          </a:solidFill>
                          <a:latin typeface="+mn-lt"/>
                          <a:ea typeface="+mn-ea"/>
                          <a:cs typeface="+mn-cs"/>
                        </a:rPr>
                        <a:t>4</a:t>
                      </a:r>
                      <a:endParaRPr lang="en-US" sz="1400" b="1" kern="1200" dirty="0">
                        <a:solidFill>
                          <a:schemeClr val="lt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kern="1200" dirty="0" smtClean="0">
                          <a:solidFill>
                            <a:schemeClr val="lt1"/>
                          </a:solidFill>
                          <a:latin typeface="+mn-lt"/>
                          <a:ea typeface="+mn-ea"/>
                          <a:cs typeface="+mn-cs"/>
                        </a:rPr>
                        <a:t>Branch 5</a:t>
                      </a:r>
                      <a:endParaRPr lang="en-US" sz="1400" b="1" kern="1200" dirty="0">
                        <a:solidFill>
                          <a:schemeClr val="lt1"/>
                        </a:solidFill>
                        <a:latin typeface="+mn-lt"/>
                        <a:ea typeface="+mn-ea"/>
                        <a:cs typeface="+mn-cs"/>
                      </a:endParaRPr>
                    </a:p>
                  </a:txBody>
                  <a:tcPr/>
                </a:tc>
                <a:extLst>
                  <a:ext uri="{0D108BD9-81ED-4DB2-BD59-A6C34878D82A}">
                    <a16:rowId xmlns:a16="http://schemas.microsoft.com/office/drawing/2014/main" val="2490319590"/>
                  </a:ext>
                </a:extLst>
              </a:tr>
              <a:tr h="46029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Parent </a:t>
                      </a:r>
                      <a:r>
                        <a:rPr lang="en-US" sz="1400" b="0" dirty="0" smtClean="0">
                          <a:solidFill>
                            <a:schemeClr val="tx1"/>
                          </a:solidFill>
                        </a:rPr>
                        <a:t>Health Care Company</a:t>
                      </a:r>
                    </a:p>
                    <a:p>
                      <a:endParaRPr lang="en-US" sz="1400" b="0" dirty="0">
                        <a:solidFill>
                          <a:schemeClr val="tx1"/>
                        </a:solidFill>
                      </a:endParaRPr>
                    </a:p>
                  </a:txBody>
                  <a:tcPr/>
                </a:tc>
                <a:tc>
                  <a:txBody>
                    <a:bodyPr/>
                    <a:lstStyle/>
                    <a:p>
                      <a:r>
                        <a:rPr lang="en-US" sz="1400" b="0" dirty="0" smtClean="0">
                          <a:solidFill>
                            <a:schemeClr val="tx1"/>
                          </a:solidFill>
                        </a:rPr>
                        <a:t>PHS</a:t>
                      </a:r>
                      <a:endParaRPr lang="en-US" sz="1400" b="0" dirty="0">
                        <a:solidFill>
                          <a:schemeClr val="tx1"/>
                        </a:solidFill>
                      </a:endParaRPr>
                    </a:p>
                  </a:txBody>
                  <a:tcPr/>
                </a:tc>
                <a:tc>
                  <a:txBody>
                    <a:bodyPr/>
                    <a:lstStyle/>
                    <a:p>
                      <a:r>
                        <a:rPr lang="en-US" sz="1400" b="0" kern="1200" dirty="0">
                          <a:solidFill>
                            <a:schemeClr val="tx1"/>
                          </a:solidFill>
                          <a:effectLst/>
                          <a:latin typeface="+mn-lt"/>
                          <a:ea typeface="+mn-ea"/>
                          <a:cs typeface="+mn-cs"/>
                        </a:rPr>
                        <a:t>PHS</a:t>
                      </a:r>
                      <a:endParaRPr lang="en-US"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latin typeface="+mn-lt"/>
                          <a:ea typeface="+mn-ea"/>
                          <a:cs typeface="+mn-cs"/>
                        </a:rPr>
                        <a:t>PHS</a:t>
                      </a:r>
                      <a:endParaRPr lang="en-US" sz="1400" b="0" dirty="0">
                        <a:solidFill>
                          <a:schemeClr val="tx1"/>
                        </a:solidFill>
                      </a:endParaRPr>
                    </a:p>
                    <a:p>
                      <a:endParaRPr lang="en-US"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latin typeface="+mn-lt"/>
                          <a:ea typeface="+mn-ea"/>
                          <a:cs typeface="+mn-cs"/>
                        </a:rPr>
                        <a:t>PHS</a:t>
                      </a:r>
                      <a:endParaRPr lang="en-US"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kern="1200" dirty="0">
                          <a:solidFill>
                            <a:schemeClr val="tx1"/>
                          </a:solidFill>
                          <a:effectLst/>
                          <a:latin typeface="+mn-lt"/>
                          <a:ea typeface="+mn-ea"/>
                          <a:cs typeface="+mn-cs"/>
                        </a:rPr>
                        <a:t>PHS</a:t>
                      </a:r>
                      <a:endParaRPr lang="en-US" sz="1400" b="0" dirty="0">
                        <a:solidFill>
                          <a:schemeClr val="tx1"/>
                        </a:solidFill>
                      </a:endParaRPr>
                    </a:p>
                  </a:txBody>
                  <a:tcPr/>
                </a:tc>
                <a:extLst>
                  <a:ext uri="{0D108BD9-81ED-4DB2-BD59-A6C34878D82A}">
                    <a16:rowId xmlns:a16="http://schemas.microsoft.com/office/drawing/2014/main" val="4167932083"/>
                  </a:ext>
                </a:extLst>
              </a:tr>
              <a:tr h="421238">
                <a:tc>
                  <a:txBody>
                    <a:bodyPr/>
                    <a:lstStyle/>
                    <a:p>
                      <a:r>
                        <a:rPr lang="en-US" sz="1400" b="0" dirty="0">
                          <a:solidFill>
                            <a:schemeClr val="tx1"/>
                          </a:solidFill>
                        </a:rPr>
                        <a:t>Health Care Company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PHS</a:t>
                      </a:r>
                    </a:p>
                  </a:txBody>
                  <a:tcPr/>
                </a:tc>
                <a:tc>
                  <a:txBody>
                    <a:bodyPr/>
                    <a:lstStyle/>
                    <a:p>
                      <a:r>
                        <a:rPr lang="en-US" sz="1400" b="0" dirty="0" smtClean="0">
                          <a:solidFill>
                            <a:schemeClr val="tx1"/>
                          </a:solidFill>
                        </a:rPr>
                        <a:t>PHS_H</a:t>
                      </a:r>
                      <a:endParaRPr lang="en-US" sz="1400" b="0" dirty="0">
                        <a:solidFill>
                          <a:schemeClr val="tx1"/>
                        </a:solidFill>
                      </a:endParaRPr>
                    </a:p>
                  </a:txBody>
                  <a:tcPr/>
                </a:tc>
                <a:tc>
                  <a:txBody>
                    <a:bodyPr/>
                    <a:lstStyle/>
                    <a:p>
                      <a:r>
                        <a:rPr lang="en-US" sz="1400" b="0" kern="1200" dirty="0">
                          <a:solidFill>
                            <a:schemeClr val="tx1"/>
                          </a:solidFill>
                          <a:effectLst/>
                          <a:latin typeface="+mn-lt"/>
                          <a:ea typeface="+mn-ea"/>
                          <a:cs typeface="+mn-cs"/>
                        </a:rPr>
                        <a:t>FLUENT </a:t>
                      </a:r>
                      <a:r>
                        <a:rPr lang="en-US" sz="1400" b="0" kern="1200" baseline="0" dirty="0">
                          <a:solidFill>
                            <a:schemeClr val="tx1"/>
                          </a:solidFill>
                          <a:effectLst/>
                          <a:latin typeface="+mn-lt"/>
                          <a:ea typeface="+mn-ea"/>
                          <a:cs typeface="+mn-cs"/>
                        </a:rPr>
                        <a:t> </a:t>
                      </a:r>
                      <a:endParaRPr lang="en-US" sz="1400" b="0" dirty="0">
                        <a:solidFill>
                          <a:schemeClr val="tx1"/>
                        </a:solidFill>
                      </a:endParaRPr>
                    </a:p>
                  </a:txBody>
                  <a:tcPr/>
                </a:tc>
                <a:tc>
                  <a:txBody>
                    <a:bodyPr/>
                    <a:lstStyle/>
                    <a:p>
                      <a:r>
                        <a:rPr lang="en-US" sz="1400" b="0" dirty="0">
                          <a:solidFill>
                            <a:schemeClr val="tx1"/>
                          </a:solidFill>
                        </a:rPr>
                        <a:t>FLUENT</a:t>
                      </a:r>
                    </a:p>
                  </a:txBody>
                  <a:tcPr/>
                </a:tc>
                <a:tc>
                  <a:txBody>
                    <a:bodyPr/>
                    <a:lstStyle/>
                    <a:p>
                      <a:r>
                        <a:rPr lang="en-US" sz="1400" b="0" dirty="0">
                          <a:solidFill>
                            <a:schemeClr val="tx1"/>
                          </a:solidFill>
                        </a:rPr>
                        <a:t>FLUENT</a:t>
                      </a:r>
                    </a:p>
                  </a:txBody>
                  <a:tcPr/>
                </a:tc>
                <a:extLst>
                  <a:ext uri="{0D108BD9-81ED-4DB2-BD59-A6C34878D82A}">
                    <a16:rowId xmlns:a16="http://schemas.microsoft.com/office/drawing/2014/main" val="775611007"/>
                  </a:ext>
                </a:extLst>
              </a:tr>
              <a:tr h="6287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Tenant</a:t>
                      </a:r>
                      <a:endParaRPr lang="en-US" sz="1400" b="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PHS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kern="1200" dirty="0" smtClean="0">
                          <a:solidFill>
                            <a:schemeClr val="tx1"/>
                          </a:solidFill>
                          <a:effectLst/>
                          <a:latin typeface="+mn-lt"/>
                          <a:ea typeface="+mn-ea"/>
                          <a:cs typeface="+mn-cs"/>
                        </a:rPr>
                        <a:t>PHS_D</a:t>
                      </a:r>
                      <a:endParaRPr lang="en-US" sz="1400" b="0" dirty="0" smtClean="0">
                        <a:solidFill>
                          <a:schemeClr val="tx1"/>
                        </a:solidFill>
                      </a:endParaRPr>
                    </a:p>
                    <a:p>
                      <a:endParaRPr lang="en-US" sz="1400" b="0" dirty="0">
                        <a:solidFill>
                          <a:schemeClr val="tx1"/>
                        </a:solidFill>
                      </a:endParaRPr>
                    </a:p>
                  </a:txBody>
                  <a:tcPr/>
                </a:tc>
                <a:tc>
                  <a:txBody>
                    <a:bodyPr/>
                    <a:lstStyle/>
                    <a:p>
                      <a:r>
                        <a:rPr lang="en-US" sz="1400" b="0" dirty="0">
                          <a:solidFill>
                            <a:schemeClr val="tx1"/>
                          </a:solidFill>
                        </a:rPr>
                        <a:t>PNI</a:t>
                      </a:r>
                    </a:p>
                  </a:txBody>
                  <a:tcPr/>
                </a:tc>
                <a:tc>
                  <a:txBody>
                    <a:bodyPr/>
                    <a:lstStyle/>
                    <a:p>
                      <a:r>
                        <a:rPr lang="en-US" sz="1400" b="0" dirty="0" smtClean="0">
                          <a:solidFill>
                            <a:schemeClr val="tx1"/>
                          </a:solidFill>
                        </a:rPr>
                        <a:t>NCPOP</a:t>
                      </a:r>
                      <a:endParaRPr lang="en-US" sz="1400" b="0" dirty="0">
                        <a:solidFill>
                          <a:schemeClr val="tx1"/>
                        </a:solidFill>
                      </a:endParaRPr>
                    </a:p>
                  </a:txBody>
                  <a:tcPr/>
                </a:tc>
                <a:tc>
                  <a:txBody>
                    <a:bodyPr/>
                    <a:lstStyle/>
                    <a:p>
                      <a:r>
                        <a:rPr lang="en-US" sz="1400" b="0" dirty="0" smtClean="0">
                          <a:solidFill>
                            <a:schemeClr val="tx1"/>
                          </a:solidFill>
                        </a:rPr>
                        <a:t>PLPCC</a:t>
                      </a:r>
                      <a:endParaRPr lang="en-US" sz="1400" b="0" dirty="0">
                        <a:solidFill>
                          <a:schemeClr val="tx1"/>
                        </a:solidFill>
                      </a:endParaRPr>
                    </a:p>
                  </a:txBody>
                  <a:tcPr/>
                </a:tc>
                <a:extLst>
                  <a:ext uri="{0D108BD9-81ED-4DB2-BD59-A6C34878D82A}">
                    <a16:rowId xmlns:a16="http://schemas.microsoft.com/office/drawing/2014/main" val="4161663270"/>
                  </a:ext>
                </a:extLst>
              </a:tr>
            </a:tbl>
          </a:graphicData>
        </a:graphic>
      </p:graphicFrame>
      <p:sp>
        <p:nvSpPr>
          <p:cNvPr id="6" name="Title 1"/>
          <p:cNvSpPr txBox="1">
            <a:spLocks/>
          </p:cNvSpPr>
          <p:nvPr/>
        </p:nvSpPr>
        <p:spPr>
          <a:xfrm>
            <a:off x="256680" y="59579"/>
            <a:ext cx="5639544"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400" dirty="0"/>
              <a:t>Organization Logical Data Model </a:t>
            </a:r>
            <a:r>
              <a:rPr lang="en-US" sz="2400" dirty="0" smtClean="0"/>
              <a:t>Cont’d..</a:t>
            </a:r>
            <a:endParaRPr lang="en-US" sz="2400" dirty="0"/>
          </a:p>
        </p:txBody>
      </p:sp>
      <p:sp>
        <p:nvSpPr>
          <p:cNvPr id="7" name="TextBox 6"/>
          <p:cNvSpPr txBox="1"/>
          <p:nvPr/>
        </p:nvSpPr>
        <p:spPr>
          <a:xfrm>
            <a:off x="5508104" y="900048"/>
            <a:ext cx="2863044" cy="523220"/>
          </a:xfrm>
          <a:prstGeom prst="rect">
            <a:avLst/>
          </a:prstGeom>
          <a:noFill/>
        </p:spPr>
        <p:txBody>
          <a:bodyPr wrap="square" rtlCol="0">
            <a:spAutoFit/>
          </a:bodyPr>
          <a:lstStyle/>
          <a:p>
            <a:r>
              <a:rPr lang="en-US" sz="1400" b="1" i="1" u="sng" dirty="0" smtClean="0">
                <a:solidFill>
                  <a:srgbClr val="FF0000"/>
                </a:solidFill>
              </a:rPr>
              <a:t>Note: </a:t>
            </a:r>
            <a:r>
              <a:rPr lang="en-US" sz="1400" dirty="0" smtClean="0">
                <a:solidFill>
                  <a:srgbClr val="FF0000"/>
                </a:solidFill>
              </a:rPr>
              <a:t>Example of output report from Organization data model </a:t>
            </a:r>
            <a:endParaRPr lang="en-US" sz="1400" dirty="0">
              <a:solidFill>
                <a:srgbClr val="FF0000"/>
              </a:solidFill>
            </a:endParaRPr>
          </a:p>
        </p:txBody>
      </p:sp>
      <p:pic>
        <p:nvPicPr>
          <p:cNvPr id="10" name="Picture 9"/>
          <p:cNvPicPr>
            <a:picLocks noChangeAspect="1"/>
          </p:cNvPicPr>
          <p:nvPr/>
        </p:nvPicPr>
        <p:blipFill>
          <a:blip r:embed="rId2"/>
          <a:stretch>
            <a:fillRect/>
          </a:stretch>
        </p:blipFill>
        <p:spPr>
          <a:xfrm>
            <a:off x="6528735" y="221648"/>
            <a:ext cx="2266950" cy="413931"/>
          </a:xfrm>
          <a:prstGeom prst="rect">
            <a:avLst/>
          </a:prstGeom>
        </p:spPr>
      </p:pic>
    </p:spTree>
    <p:extLst>
      <p:ext uri="{BB962C8B-B14F-4D97-AF65-F5344CB8AC3E}">
        <p14:creationId xmlns:p14="http://schemas.microsoft.com/office/powerpoint/2010/main" val="15975374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22076" y="1683060"/>
            <a:ext cx="8534400" cy="4986300"/>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pic>
        <p:nvPicPr>
          <p:cNvPr id="3" name="Picture 2"/>
          <p:cNvPicPr>
            <a:picLocks noChangeAspect="1"/>
          </p:cNvPicPr>
          <p:nvPr/>
        </p:nvPicPr>
        <p:blipFill>
          <a:blip r:embed="rId2"/>
          <a:stretch>
            <a:fillRect/>
          </a:stretch>
        </p:blipFill>
        <p:spPr>
          <a:xfrm>
            <a:off x="210493" y="1201740"/>
            <a:ext cx="8651764" cy="5128646"/>
          </a:xfrm>
          <a:prstGeom prst="rect">
            <a:avLst/>
          </a:prstGeom>
          <a:solidFill>
            <a:schemeClr val="accent1"/>
          </a:solidFill>
        </p:spPr>
      </p:pic>
      <p:sp>
        <p:nvSpPr>
          <p:cNvPr id="4" name="Rectangle 3"/>
          <p:cNvSpPr/>
          <p:nvPr/>
        </p:nvSpPr>
        <p:spPr>
          <a:xfrm>
            <a:off x="4507597" y="1164066"/>
            <a:ext cx="2592288" cy="648072"/>
          </a:xfrm>
          <a:prstGeom prst="rect">
            <a:avLst/>
          </a:prstGeom>
          <a:solidFill>
            <a:schemeClr val="tx1">
              <a:lumMod val="50000"/>
              <a:lumOff val="50000"/>
              <a:alpha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5503080" y="4116394"/>
            <a:ext cx="2556285" cy="648072"/>
          </a:xfrm>
          <a:prstGeom prst="rect">
            <a:avLst/>
          </a:prstGeom>
          <a:solidFill>
            <a:schemeClr val="tx1">
              <a:lumMod val="50000"/>
              <a:lumOff val="50000"/>
              <a:alpha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4134929" y="2028162"/>
            <a:ext cx="4699248" cy="651910"/>
          </a:xfrm>
          <a:prstGeom prst="rect">
            <a:avLst/>
          </a:prstGeom>
          <a:solidFill>
            <a:schemeClr val="tx1">
              <a:lumMod val="50000"/>
              <a:lumOff val="50000"/>
              <a:alpha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6712632" y="5872064"/>
            <a:ext cx="377317" cy="352773"/>
          </a:xfrm>
          <a:prstGeom prst="rect">
            <a:avLst/>
          </a:prstGeom>
          <a:solidFill>
            <a:schemeClr val="tx1">
              <a:lumMod val="50000"/>
              <a:lumOff val="50000"/>
              <a:alpha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7065433" y="5894563"/>
            <a:ext cx="1648260" cy="307777"/>
          </a:xfrm>
          <a:prstGeom prst="rect">
            <a:avLst/>
          </a:prstGeom>
          <a:noFill/>
        </p:spPr>
        <p:txBody>
          <a:bodyPr wrap="square" rtlCol="0">
            <a:spAutoFit/>
          </a:bodyPr>
          <a:lstStyle/>
          <a:p>
            <a:r>
              <a:rPr lang="en-US" sz="1400" dirty="0" smtClean="0"/>
              <a:t>Data Security topic</a:t>
            </a:r>
            <a:endParaRPr lang="en-US" sz="1400" dirty="0"/>
          </a:p>
        </p:txBody>
      </p:sp>
      <p:sp>
        <p:nvSpPr>
          <p:cNvPr id="11" name="Rectangle 10"/>
          <p:cNvSpPr/>
          <p:nvPr/>
        </p:nvSpPr>
        <p:spPr>
          <a:xfrm>
            <a:off x="5503079" y="3324306"/>
            <a:ext cx="2556285" cy="648072"/>
          </a:xfrm>
          <a:prstGeom prst="rect">
            <a:avLst/>
          </a:prstGeom>
          <a:solidFill>
            <a:schemeClr val="tx1">
              <a:lumMod val="50000"/>
              <a:lumOff val="50000"/>
              <a:alpha val="5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1"/>
          <p:cNvSpPr txBox="1">
            <a:spLocks/>
          </p:cNvSpPr>
          <p:nvPr/>
        </p:nvSpPr>
        <p:spPr>
          <a:xfrm>
            <a:off x="228600" y="152635"/>
            <a:ext cx="6503640" cy="973779"/>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400" dirty="0"/>
              <a:t>IBM UDMH - </a:t>
            </a:r>
            <a:r>
              <a:rPr lang="en-US" sz="2400" dirty="0" smtClean="0"/>
              <a:t>Tenant Entity-relationship Model</a:t>
            </a:r>
          </a:p>
          <a:p>
            <a:r>
              <a:rPr lang="en-US" sz="1200" b="0" i="1" dirty="0" smtClean="0"/>
              <a:t>The second building block </a:t>
            </a:r>
            <a:r>
              <a:rPr lang="en-US" sz="1200" b="0" i="1" dirty="0"/>
              <a:t>in Multi-Tenant Data Model </a:t>
            </a:r>
            <a:r>
              <a:rPr lang="en-US" sz="1200" b="0" i="1" dirty="0" smtClean="0"/>
              <a:t>Design. An </a:t>
            </a:r>
            <a:r>
              <a:rPr lang="en-US" sz="1200" b="0" i="1" dirty="0"/>
              <a:t>entity–relationship model describes interrelated things of interest in a specific domain of knowledge. A basic ER model is composed of entity types and specifies relationships that can exist between instances of those entity types</a:t>
            </a:r>
          </a:p>
        </p:txBody>
      </p:sp>
      <p:pic>
        <p:nvPicPr>
          <p:cNvPr id="12" name="Picture 11"/>
          <p:cNvPicPr>
            <a:picLocks noChangeAspect="1"/>
          </p:cNvPicPr>
          <p:nvPr/>
        </p:nvPicPr>
        <p:blipFill>
          <a:blip r:embed="rId3"/>
          <a:stretch>
            <a:fillRect/>
          </a:stretch>
        </p:blipFill>
        <p:spPr>
          <a:xfrm>
            <a:off x="6264188" y="6454636"/>
            <a:ext cx="2266950" cy="413931"/>
          </a:xfrm>
          <a:prstGeom prst="rect">
            <a:avLst/>
          </a:prstGeom>
        </p:spPr>
      </p:pic>
      <p:pic>
        <p:nvPicPr>
          <p:cNvPr id="14" name="Picture 13"/>
          <p:cNvPicPr>
            <a:picLocks noChangeAspect="1"/>
          </p:cNvPicPr>
          <p:nvPr/>
        </p:nvPicPr>
        <p:blipFill>
          <a:blip r:embed="rId3"/>
          <a:stretch>
            <a:fillRect/>
          </a:stretch>
        </p:blipFill>
        <p:spPr>
          <a:xfrm>
            <a:off x="6732240" y="224644"/>
            <a:ext cx="2266950" cy="413931"/>
          </a:xfrm>
          <a:prstGeom prst="rect">
            <a:avLst/>
          </a:prstGeom>
        </p:spPr>
      </p:pic>
    </p:spTree>
    <p:extLst>
      <p:ext uri="{BB962C8B-B14F-4D97-AF65-F5344CB8AC3E}">
        <p14:creationId xmlns:p14="http://schemas.microsoft.com/office/powerpoint/2010/main" val="21700686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22076" y="1683060"/>
            <a:ext cx="8534400" cy="4986300"/>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13" name="Title 1"/>
          <p:cNvSpPr txBox="1">
            <a:spLocks/>
          </p:cNvSpPr>
          <p:nvPr/>
        </p:nvSpPr>
        <p:spPr>
          <a:xfrm>
            <a:off x="228600" y="152636"/>
            <a:ext cx="8562480" cy="72008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800" dirty="0"/>
              <a:t>IBM UDMH - </a:t>
            </a:r>
            <a:r>
              <a:rPr lang="en-US" sz="2800" dirty="0" smtClean="0"/>
              <a:t>Tenant </a:t>
            </a:r>
            <a:r>
              <a:rPr lang="en-US" sz="2800" dirty="0"/>
              <a:t>Logical Data </a:t>
            </a:r>
            <a:r>
              <a:rPr lang="en-US" sz="2800" dirty="0" smtClean="0"/>
              <a:t>Model</a:t>
            </a:r>
          </a:p>
          <a:p>
            <a:r>
              <a:rPr lang="en-US" sz="1100" b="0" i="1" dirty="0"/>
              <a:t>A logical data model or logical schema is a data model of a specific problem domain expressed independently </a:t>
            </a:r>
            <a:endParaRPr lang="en-US" sz="1100" b="0" i="1" dirty="0" smtClean="0"/>
          </a:p>
          <a:p>
            <a:r>
              <a:rPr lang="en-US" sz="1100" b="0" i="1" dirty="0" smtClean="0"/>
              <a:t>of </a:t>
            </a:r>
            <a:r>
              <a:rPr lang="en-US" sz="1100" b="0" i="1" dirty="0"/>
              <a:t>a particular database management product but in terms of data structures such as relational tables and columns</a:t>
            </a:r>
            <a:r>
              <a:rPr lang="en-US" sz="1100" b="0" i="1" dirty="0" smtClean="0"/>
              <a:t>.</a:t>
            </a:r>
            <a:endParaRPr lang="en-US" sz="1100" b="0" i="1" dirty="0"/>
          </a:p>
        </p:txBody>
      </p:sp>
      <p:pic>
        <p:nvPicPr>
          <p:cNvPr id="12" name="Picture 11"/>
          <p:cNvPicPr>
            <a:picLocks noChangeAspect="1"/>
          </p:cNvPicPr>
          <p:nvPr/>
        </p:nvPicPr>
        <p:blipFill>
          <a:blip r:embed="rId2"/>
          <a:stretch>
            <a:fillRect/>
          </a:stretch>
        </p:blipFill>
        <p:spPr>
          <a:xfrm>
            <a:off x="339988" y="1047034"/>
            <a:ext cx="6228692" cy="4606390"/>
          </a:xfrm>
          <a:prstGeom prst="rect">
            <a:avLst/>
          </a:prstGeom>
        </p:spPr>
      </p:pic>
      <p:pic>
        <p:nvPicPr>
          <p:cNvPr id="14" name="Picture 13"/>
          <p:cNvPicPr>
            <a:picLocks noChangeAspect="1"/>
          </p:cNvPicPr>
          <p:nvPr/>
        </p:nvPicPr>
        <p:blipFill>
          <a:blip r:embed="rId3"/>
          <a:stretch>
            <a:fillRect/>
          </a:stretch>
        </p:blipFill>
        <p:spPr>
          <a:xfrm>
            <a:off x="5541988" y="5887775"/>
            <a:ext cx="3600450" cy="771914"/>
          </a:xfrm>
          <a:prstGeom prst="rect">
            <a:avLst/>
          </a:prstGeom>
        </p:spPr>
      </p:pic>
      <p:sp>
        <p:nvSpPr>
          <p:cNvPr id="15" name="TextBox 14"/>
          <p:cNvSpPr txBox="1"/>
          <p:nvPr/>
        </p:nvSpPr>
        <p:spPr>
          <a:xfrm>
            <a:off x="1562" y="5625244"/>
            <a:ext cx="7740860" cy="1000274"/>
          </a:xfrm>
          <a:prstGeom prst="rect">
            <a:avLst/>
          </a:prstGeom>
          <a:noFill/>
        </p:spPr>
        <p:txBody>
          <a:bodyPr wrap="square" rtlCol="0">
            <a:spAutoFit/>
          </a:bodyPr>
          <a:lstStyle/>
          <a:p>
            <a:pPr marL="342900" defTabSz="785813" eaLnBrk="0" hangingPunct="0">
              <a:buFont typeface="Wingdings" pitchFamily="2" charset="2"/>
              <a:buChar char="§"/>
            </a:pPr>
            <a:r>
              <a:rPr lang="en-US" sz="1600" b="1" dirty="0">
                <a:solidFill>
                  <a:schemeClr val="tx1">
                    <a:lumMod val="75000"/>
                    <a:lumOff val="25000"/>
                  </a:schemeClr>
                </a:solidFill>
              </a:rPr>
              <a:t>Anchor: </a:t>
            </a:r>
            <a:r>
              <a:rPr lang="en-US" sz="1600" dirty="0">
                <a:solidFill>
                  <a:schemeClr val="tx1">
                    <a:lumMod val="75000"/>
                    <a:lumOff val="25000"/>
                  </a:schemeClr>
                </a:solidFill>
              </a:rPr>
              <a:t>Anchor contain a list of unique business keys with low propensity to change</a:t>
            </a:r>
            <a:r>
              <a:rPr lang="en-US" sz="1600" dirty="0" smtClean="0">
                <a:solidFill>
                  <a:schemeClr val="tx1">
                    <a:lumMod val="75000"/>
                    <a:lumOff val="25000"/>
                  </a:schemeClr>
                </a:solidFill>
              </a:rPr>
              <a:t>.</a:t>
            </a:r>
          </a:p>
          <a:p>
            <a:pPr marL="342900" defTabSz="785813" eaLnBrk="0" hangingPunct="0">
              <a:buFont typeface="Wingdings" pitchFamily="2" charset="2"/>
              <a:buChar char="§"/>
            </a:pPr>
            <a:r>
              <a:rPr lang="en-US" sz="1600" b="1" dirty="0" smtClean="0">
                <a:solidFill>
                  <a:schemeClr val="tx1">
                    <a:lumMod val="75000"/>
                    <a:lumOff val="25000"/>
                  </a:schemeClr>
                </a:solidFill>
              </a:rPr>
              <a:t>Detail: </a:t>
            </a:r>
            <a:r>
              <a:rPr lang="en-US" sz="1600" dirty="0" smtClean="0">
                <a:solidFill>
                  <a:schemeClr val="tx1">
                    <a:lumMod val="75000"/>
                    <a:lumOff val="25000"/>
                  </a:schemeClr>
                </a:solidFill>
              </a:rPr>
              <a:t>Detail contain attributes about the Anchor</a:t>
            </a:r>
          </a:p>
          <a:p>
            <a:pPr marL="342900" defTabSz="785813" eaLnBrk="0" hangingPunct="0">
              <a:buFont typeface="Wingdings" pitchFamily="2" charset="2"/>
              <a:buChar char="§"/>
            </a:pPr>
            <a:r>
              <a:rPr lang="en-US" sz="1600" b="1" dirty="0" smtClean="0">
                <a:solidFill>
                  <a:schemeClr val="tx1">
                    <a:lumMod val="75000"/>
                    <a:lumOff val="25000"/>
                  </a:schemeClr>
                </a:solidFill>
              </a:rPr>
              <a:t>Associative</a:t>
            </a:r>
            <a:r>
              <a:rPr lang="en-US" sz="1600" b="1" dirty="0">
                <a:solidFill>
                  <a:schemeClr val="tx1">
                    <a:lumMod val="75000"/>
                    <a:lumOff val="25000"/>
                  </a:schemeClr>
                </a:solidFill>
              </a:rPr>
              <a:t>: </a:t>
            </a:r>
            <a:r>
              <a:rPr lang="en-US" sz="1600" dirty="0">
                <a:solidFill>
                  <a:schemeClr val="tx1">
                    <a:lumMod val="75000"/>
                    <a:lumOff val="25000"/>
                  </a:schemeClr>
                </a:solidFill>
              </a:rPr>
              <a:t>Store relationships between anchors</a:t>
            </a:r>
          </a:p>
          <a:p>
            <a:endParaRPr lang="en-US" sz="1100" dirty="0"/>
          </a:p>
        </p:txBody>
      </p:sp>
      <p:sp>
        <p:nvSpPr>
          <p:cNvPr id="7" name="TextBox 6"/>
          <p:cNvSpPr txBox="1"/>
          <p:nvPr/>
        </p:nvSpPr>
        <p:spPr>
          <a:xfrm>
            <a:off x="6418304" y="1500954"/>
            <a:ext cx="2808312" cy="523220"/>
          </a:xfrm>
          <a:prstGeom prst="rect">
            <a:avLst/>
          </a:prstGeom>
          <a:noFill/>
        </p:spPr>
        <p:txBody>
          <a:bodyPr wrap="square" rtlCol="0">
            <a:spAutoFit/>
          </a:bodyPr>
          <a:lstStyle/>
          <a:p>
            <a:r>
              <a:rPr lang="en-US" sz="1400" b="1" u="sng" dirty="0" smtClean="0">
                <a:solidFill>
                  <a:srgbClr val="FF0000"/>
                </a:solidFill>
              </a:rPr>
              <a:t>Note: </a:t>
            </a:r>
            <a:r>
              <a:rPr lang="en-US" sz="1400" dirty="0" smtClean="0">
                <a:solidFill>
                  <a:srgbClr val="FF0000"/>
                </a:solidFill>
              </a:rPr>
              <a:t>Tenant information will feed into this data model </a:t>
            </a:r>
            <a:endParaRPr lang="en-US" sz="1400" dirty="0">
              <a:solidFill>
                <a:srgbClr val="FF0000"/>
              </a:solidFill>
            </a:endParaRPr>
          </a:p>
        </p:txBody>
      </p:sp>
      <p:pic>
        <p:nvPicPr>
          <p:cNvPr id="10" name="Picture 9"/>
          <p:cNvPicPr>
            <a:picLocks noChangeAspect="1"/>
          </p:cNvPicPr>
          <p:nvPr/>
        </p:nvPicPr>
        <p:blipFill>
          <a:blip r:embed="rId4"/>
          <a:stretch>
            <a:fillRect/>
          </a:stretch>
        </p:blipFill>
        <p:spPr>
          <a:xfrm>
            <a:off x="6732240" y="281921"/>
            <a:ext cx="2266950" cy="413931"/>
          </a:xfrm>
          <a:prstGeom prst="rect">
            <a:avLst/>
          </a:prstGeom>
        </p:spPr>
      </p:pic>
    </p:spTree>
    <p:extLst>
      <p:ext uri="{BB962C8B-B14F-4D97-AF65-F5344CB8AC3E}">
        <p14:creationId xmlns:p14="http://schemas.microsoft.com/office/powerpoint/2010/main" val="25911763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115785190"/>
              </p:ext>
            </p:extLst>
          </p:nvPr>
        </p:nvGraphicFramePr>
        <p:xfrm>
          <a:off x="725835" y="667461"/>
          <a:ext cx="3065860" cy="2086450"/>
        </p:xfrm>
        <a:graphic>
          <a:graphicData uri="http://schemas.openxmlformats.org/drawingml/2006/table">
            <a:tbl>
              <a:tblPr firstRow="1" bandRow="1">
                <a:tableStyleId>{5C22544A-7EE6-4342-B048-85BDC9FD1C3A}</a:tableStyleId>
              </a:tblPr>
              <a:tblGrid>
                <a:gridCol w="1019026">
                  <a:extLst>
                    <a:ext uri="{9D8B030D-6E8A-4147-A177-3AD203B41FA5}">
                      <a16:colId xmlns:a16="http://schemas.microsoft.com/office/drawing/2014/main" val="2672971796"/>
                    </a:ext>
                  </a:extLst>
                </a:gridCol>
                <a:gridCol w="2046834">
                  <a:extLst>
                    <a:ext uri="{9D8B030D-6E8A-4147-A177-3AD203B41FA5}">
                      <a16:colId xmlns:a16="http://schemas.microsoft.com/office/drawing/2014/main" val="269747904"/>
                    </a:ext>
                  </a:extLst>
                </a:gridCol>
              </a:tblGrid>
              <a:tr h="250254">
                <a:tc>
                  <a:txBody>
                    <a:bodyPr/>
                    <a:lstStyle/>
                    <a:p>
                      <a:r>
                        <a:rPr lang="en-US" sz="1600" dirty="0"/>
                        <a:t>Tenant </a:t>
                      </a:r>
                      <a:r>
                        <a:rPr lang="en-US" sz="1600" dirty="0" err="1"/>
                        <a:t>Sk</a:t>
                      </a:r>
                      <a:endParaRPr lang="en-US" sz="1600" dirty="0"/>
                    </a:p>
                  </a:txBody>
                  <a:tcPr/>
                </a:tc>
                <a:tc>
                  <a:txBody>
                    <a:bodyPr/>
                    <a:lstStyle/>
                    <a:p>
                      <a:r>
                        <a:rPr lang="en-US" sz="1600" dirty="0"/>
                        <a:t>Tenant BK *</a:t>
                      </a:r>
                    </a:p>
                  </a:txBody>
                  <a:tcPr/>
                </a:tc>
                <a:extLst>
                  <a:ext uri="{0D108BD9-81ED-4DB2-BD59-A6C34878D82A}">
                    <a16:rowId xmlns:a16="http://schemas.microsoft.com/office/drawing/2014/main" val="3147509334"/>
                  </a:ext>
                </a:extLst>
              </a:tr>
              <a:tr h="350234">
                <a:tc>
                  <a:txBody>
                    <a:bodyPr/>
                    <a:lstStyle/>
                    <a:p>
                      <a:r>
                        <a:rPr lang="en-US" sz="1600" dirty="0"/>
                        <a:t>1001</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dirty="0" smtClean="0"/>
                        <a:t>PHS_D</a:t>
                      </a:r>
                      <a:endParaRPr lang="en-US" sz="1400" dirty="0"/>
                    </a:p>
                  </a:txBody>
                  <a:tcPr/>
                </a:tc>
                <a:extLst>
                  <a:ext uri="{0D108BD9-81ED-4DB2-BD59-A6C34878D82A}">
                    <a16:rowId xmlns:a16="http://schemas.microsoft.com/office/drawing/2014/main" val="3540630122"/>
                  </a:ext>
                </a:extLst>
              </a:tr>
              <a:tr h="350234">
                <a:tc>
                  <a:txBody>
                    <a:bodyPr/>
                    <a:lstStyle/>
                    <a:p>
                      <a:r>
                        <a:rPr lang="en-US" sz="1600" dirty="0"/>
                        <a:t>1002</a:t>
                      </a:r>
                    </a:p>
                  </a:txBody>
                  <a:tcPr/>
                </a:tc>
                <a:tc>
                  <a:txBody>
                    <a:bodyPr/>
                    <a:lstStyle/>
                    <a:p>
                      <a:r>
                        <a:rPr lang="en-US" sz="1600" dirty="0" smtClean="0"/>
                        <a:t>PNI</a:t>
                      </a:r>
                      <a:endParaRPr lang="en-US" sz="1600" dirty="0"/>
                    </a:p>
                  </a:txBody>
                  <a:tcPr/>
                </a:tc>
                <a:extLst>
                  <a:ext uri="{0D108BD9-81ED-4DB2-BD59-A6C34878D82A}">
                    <a16:rowId xmlns:a16="http://schemas.microsoft.com/office/drawing/2014/main" val="1381593496"/>
                  </a:ext>
                </a:extLst>
              </a:tr>
              <a:tr h="350234">
                <a:tc>
                  <a:txBody>
                    <a:bodyPr/>
                    <a:lstStyle/>
                    <a:p>
                      <a:r>
                        <a:rPr lang="en-US" sz="1600" dirty="0" smtClean="0"/>
                        <a:t>1003</a:t>
                      </a:r>
                      <a:endParaRPr lang="en-US" sz="1600" dirty="0"/>
                    </a:p>
                  </a:txBody>
                  <a:tcPr/>
                </a:tc>
                <a:tc>
                  <a:txBody>
                    <a:bodyPr/>
                    <a:lstStyle/>
                    <a:p>
                      <a:r>
                        <a:rPr lang="en-US" sz="1600" baseline="0" dirty="0" smtClean="0"/>
                        <a:t>NCPOP</a:t>
                      </a:r>
                      <a:endParaRPr lang="en-US" sz="1600" dirty="0"/>
                    </a:p>
                  </a:txBody>
                  <a:tcPr/>
                </a:tc>
                <a:extLst>
                  <a:ext uri="{0D108BD9-81ED-4DB2-BD59-A6C34878D82A}">
                    <a16:rowId xmlns:a16="http://schemas.microsoft.com/office/drawing/2014/main" val="2172419221"/>
                  </a:ext>
                </a:extLst>
              </a:tr>
              <a:tr h="350234">
                <a:tc>
                  <a:txBody>
                    <a:bodyPr/>
                    <a:lstStyle/>
                    <a:p>
                      <a:r>
                        <a:rPr lang="en-US" sz="1600" dirty="0" smtClean="0"/>
                        <a:t>1004</a:t>
                      </a:r>
                      <a:endParaRPr lang="en-US" sz="1600" dirty="0"/>
                    </a:p>
                  </a:txBody>
                  <a:tcPr/>
                </a:tc>
                <a:tc>
                  <a:txBody>
                    <a:bodyPr/>
                    <a:lstStyle/>
                    <a:p>
                      <a:r>
                        <a:rPr lang="en-US" sz="1600" dirty="0" smtClean="0"/>
                        <a:t>PLPCC</a:t>
                      </a:r>
                      <a:endParaRPr lang="en-US" sz="1600" dirty="0"/>
                    </a:p>
                  </a:txBody>
                  <a:tcPr/>
                </a:tc>
                <a:extLst>
                  <a:ext uri="{0D108BD9-81ED-4DB2-BD59-A6C34878D82A}">
                    <a16:rowId xmlns:a16="http://schemas.microsoft.com/office/drawing/2014/main" val="595515069"/>
                  </a:ext>
                </a:extLst>
              </a:tr>
              <a:tr h="350234">
                <a:tc>
                  <a:txBody>
                    <a:bodyPr/>
                    <a:lstStyle/>
                    <a:p>
                      <a:r>
                        <a:rPr lang="en-US" sz="1600" dirty="0" smtClean="0">
                          <a:solidFill>
                            <a:schemeClr val="tx1"/>
                          </a:solidFill>
                        </a:rPr>
                        <a:t>1005</a:t>
                      </a:r>
                      <a:endParaRPr lang="en-US" sz="1600" dirty="0">
                        <a:solidFill>
                          <a:schemeClr val="tx1"/>
                        </a:solidFill>
                      </a:endParaRPr>
                    </a:p>
                  </a:txBody>
                  <a:tcPr/>
                </a:tc>
                <a:tc>
                  <a:txBody>
                    <a:bodyPr/>
                    <a:lstStyle/>
                    <a:p>
                      <a:r>
                        <a:rPr lang="en-US" sz="1600" dirty="0" smtClean="0">
                          <a:solidFill>
                            <a:schemeClr val="tx1"/>
                          </a:solidFill>
                        </a:rPr>
                        <a:t>PHS</a:t>
                      </a:r>
                      <a:endParaRPr lang="en-US" sz="1600" dirty="0">
                        <a:solidFill>
                          <a:schemeClr val="tx1"/>
                        </a:solidFill>
                      </a:endParaRPr>
                    </a:p>
                  </a:txBody>
                  <a:tcPr/>
                </a:tc>
                <a:extLst>
                  <a:ext uri="{0D108BD9-81ED-4DB2-BD59-A6C34878D82A}">
                    <a16:rowId xmlns:a16="http://schemas.microsoft.com/office/drawing/2014/main" val="2925590243"/>
                  </a:ext>
                </a:extLst>
              </a:tr>
            </a:tbl>
          </a:graphicData>
        </a:graphic>
      </p:graphicFrame>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68157" y="2933345"/>
            <a:ext cx="8900404" cy="3336751"/>
          </a:xfrm>
        </p:spPr>
        <p:txBody>
          <a:bodyPr>
            <a:noAutofit/>
          </a:bodyPr>
          <a:lstStyle/>
          <a:p>
            <a:pPr defTabSz="785813" eaLnBrk="0" hangingPunct="0">
              <a:spcBef>
                <a:spcPts val="1200"/>
              </a:spcBef>
            </a:pPr>
            <a:r>
              <a:rPr lang="en-US" sz="2000" b="1" dirty="0" smtClean="0"/>
              <a:t>Tenant </a:t>
            </a:r>
            <a:r>
              <a:rPr lang="en-US" sz="2000" b="1" dirty="0"/>
              <a:t>Table</a:t>
            </a:r>
          </a:p>
          <a:p>
            <a:pPr defTabSz="785813" eaLnBrk="0" hangingPunct="0">
              <a:spcBef>
                <a:spcPts val="1200"/>
              </a:spcBef>
            </a:pPr>
            <a:endParaRPr lang="en-US" sz="1600" dirty="0" smtClean="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smtClean="0"/>
          </a:p>
          <a:p>
            <a:pPr defTabSz="785813" eaLnBrk="0" hangingPunct="0">
              <a:spcBef>
                <a:spcPts val="1200"/>
              </a:spcBef>
            </a:pPr>
            <a:endParaRPr lang="en-US" sz="1600" dirty="0"/>
          </a:p>
          <a:p>
            <a:pPr defTabSz="785813" eaLnBrk="0" hangingPunct="0">
              <a:spcBef>
                <a:spcPts val="1200"/>
              </a:spcBef>
            </a:pPr>
            <a:endParaRPr lang="en-US" sz="2000" b="1" dirty="0" smtClean="0"/>
          </a:p>
          <a:p>
            <a:pPr defTabSz="785813" eaLnBrk="0" hangingPunct="0">
              <a:spcBef>
                <a:spcPts val="1200"/>
              </a:spcBef>
            </a:pPr>
            <a:r>
              <a:rPr lang="en-US" sz="2000" b="1" dirty="0" smtClean="0"/>
              <a:t> </a:t>
            </a:r>
            <a:r>
              <a:rPr lang="en-US" sz="2000" b="1" dirty="0"/>
              <a:t>Detail Table</a:t>
            </a:r>
          </a:p>
          <a:p>
            <a:pPr lvl="1" defTabSz="785813" eaLnBrk="0" hangingPunct="0">
              <a:spcBef>
                <a:spcPts val="600"/>
              </a:spcBef>
              <a:spcAft>
                <a:spcPts val="300"/>
              </a:spcAft>
              <a:buFont typeface="Courier New" panose="02070309020205020404" pitchFamily="49" charset="0"/>
              <a:buChar char="o"/>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marL="457200" lvl="1" indent="0" defTabSz="785813" eaLnBrk="0" hangingPunct="0">
              <a:spcBef>
                <a:spcPts val="600"/>
              </a:spcBef>
              <a:spcAft>
                <a:spcPts val="300"/>
              </a:spcAft>
              <a:buNone/>
            </a:pPr>
            <a:endParaRPr lang="en-US" sz="1600" dirty="0" smtClean="0"/>
          </a:p>
        </p:txBody>
      </p:sp>
      <p:graphicFrame>
        <p:nvGraphicFramePr>
          <p:cNvPr id="5" name="Table 4"/>
          <p:cNvGraphicFramePr>
            <a:graphicFrameLocks noGrp="1"/>
          </p:cNvGraphicFramePr>
          <p:nvPr>
            <p:extLst>
              <p:ext uri="{D42A27DB-BD31-4B8C-83A1-F6EECF244321}">
                <p14:modId xmlns:p14="http://schemas.microsoft.com/office/powerpoint/2010/main" val="1681642634"/>
              </p:ext>
            </p:extLst>
          </p:nvPr>
        </p:nvGraphicFramePr>
        <p:xfrm>
          <a:off x="709061" y="3495695"/>
          <a:ext cx="8048754" cy="2255520"/>
        </p:xfrm>
        <a:graphic>
          <a:graphicData uri="http://schemas.openxmlformats.org/drawingml/2006/table">
            <a:tbl>
              <a:tblPr firstRow="1" bandRow="1">
                <a:tableStyleId>{5C22544A-7EE6-4342-B048-85BDC9FD1C3A}</a:tableStyleId>
              </a:tblPr>
              <a:tblGrid>
                <a:gridCol w="1093369">
                  <a:extLst>
                    <a:ext uri="{9D8B030D-6E8A-4147-A177-3AD203B41FA5}">
                      <a16:colId xmlns:a16="http://schemas.microsoft.com/office/drawing/2014/main" val="196916845"/>
                    </a:ext>
                  </a:extLst>
                </a:gridCol>
                <a:gridCol w="1152128">
                  <a:extLst>
                    <a:ext uri="{9D8B030D-6E8A-4147-A177-3AD203B41FA5}">
                      <a16:colId xmlns:a16="http://schemas.microsoft.com/office/drawing/2014/main" val="2008813907"/>
                    </a:ext>
                  </a:extLst>
                </a:gridCol>
                <a:gridCol w="936104">
                  <a:extLst>
                    <a:ext uri="{9D8B030D-6E8A-4147-A177-3AD203B41FA5}">
                      <a16:colId xmlns:a16="http://schemas.microsoft.com/office/drawing/2014/main" val="1481504220"/>
                    </a:ext>
                  </a:extLst>
                </a:gridCol>
                <a:gridCol w="3348372">
                  <a:extLst>
                    <a:ext uri="{9D8B030D-6E8A-4147-A177-3AD203B41FA5}">
                      <a16:colId xmlns:a16="http://schemas.microsoft.com/office/drawing/2014/main" val="3853195039"/>
                    </a:ext>
                  </a:extLst>
                </a:gridCol>
                <a:gridCol w="1518781">
                  <a:extLst>
                    <a:ext uri="{9D8B030D-6E8A-4147-A177-3AD203B41FA5}">
                      <a16:colId xmlns:a16="http://schemas.microsoft.com/office/drawing/2014/main" val="1321158695"/>
                    </a:ext>
                  </a:extLst>
                </a:gridCol>
              </a:tblGrid>
              <a:tr h="474782">
                <a:tc>
                  <a:txBody>
                    <a:bodyPr/>
                    <a:lstStyle/>
                    <a:p>
                      <a:r>
                        <a:rPr lang="en-US" sz="1600" dirty="0"/>
                        <a:t>Tenant </a:t>
                      </a:r>
                      <a:r>
                        <a:rPr lang="en-US" sz="1600" dirty="0" err="1"/>
                        <a:t>Sk</a:t>
                      </a:r>
                      <a:endParaRPr lang="en-US" sz="1600" dirty="0"/>
                    </a:p>
                  </a:txBody>
                  <a:tcPr/>
                </a:tc>
                <a:tc>
                  <a:txBody>
                    <a:bodyPr/>
                    <a:lstStyle/>
                    <a:p>
                      <a:r>
                        <a:rPr lang="en-US" sz="1600" dirty="0"/>
                        <a:t>Valid From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Valid To</a:t>
                      </a:r>
                    </a:p>
                    <a:p>
                      <a:endParaRPr lang="en-US" sz="1600" dirty="0"/>
                    </a:p>
                  </a:txBody>
                  <a:tcPr/>
                </a:tc>
                <a:tc>
                  <a:txBody>
                    <a:bodyPr/>
                    <a:lstStyle/>
                    <a:p>
                      <a:pPr marL="0" algn="l" defTabSz="914400" rtl="0" eaLnBrk="1" latinLnBrk="0" hangingPunct="1"/>
                      <a:r>
                        <a:rPr lang="en-US" sz="1600" b="1" kern="1200" dirty="0">
                          <a:solidFill>
                            <a:schemeClr val="lt1"/>
                          </a:solidFill>
                          <a:latin typeface="+mn-lt"/>
                          <a:ea typeface="+mn-ea"/>
                          <a:cs typeface="+mn-cs"/>
                        </a:rPr>
                        <a:t>Tenant Name</a:t>
                      </a:r>
                    </a:p>
                  </a:txBody>
                  <a:tcPr/>
                </a:tc>
                <a:tc>
                  <a:txBody>
                    <a:bodyPr/>
                    <a:lstStyle/>
                    <a:p>
                      <a:r>
                        <a:rPr lang="en-US" sz="1600" dirty="0" smtClean="0"/>
                        <a:t>Display Name *</a:t>
                      </a:r>
                      <a:endParaRPr lang="en-US" sz="1600" dirty="0"/>
                    </a:p>
                  </a:txBody>
                  <a:tcPr/>
                </a:tc>
                <a:extLst>
                  <a:ext uri="{0D108BD9-81ED-4DB2-BD59-A6C34878D82A}">
                    <a16:rowId xmlns:a16="http://schemas.microsoft.com/office/drawing/2014/main" val="3011713230"/>
                  </a:ext>
                </a:extLst>
              </a:tr>
              <a:tr h="304027">
                <a:tc>
                  <a:txBody>
                    <a:bodyPr/>
                    <a:lstStyle/>
                    <a:p>
                      <a:r>
                        <a:rPr lang="en-US" sz="1600" dirty="0"/>
                        <a:t>1001</a:t>
                      </a:r>
                    </a:p>
                  </a:txBody>
                  <a:tcPr/>
                </a:tc>
                <a:tc>
                  <a:txBody>
                    <a:bodyPr/>
                    <a:lstStyle/>
                    <a:p>
                      <a:r>
                        <a:rPr lang="en-US" sz="1600" dirty="0"/>
                        <a:t>8/1/2018</a:t>
                      </a:r>
                    </a:p>
                  </a:txBody>
                  <a:tcPr/>
                </a:tc>
                <a:tc>
                  <a:txBody>
                    <a:bodyPr/>
                    <a:lstStyle/>
                    <a:p>
                      <a:endParaRPr lang="en-US" sz="1600"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rPr>
                        <a:t>Presbyterian</a:t>
                      </a:r>
                      <a:r>
                        <a:rPr lang="en-US" sz="1600" baseline="0" dirty="0">
                          <a:solidFill>
                            <a:schemeClr val="tx1"/>
                          </a:solidFill>
                        </a:rPr>
                        <a:t> Delivery Services</a:t>
                      </a:r>
                      <a:endParaRPr lang="en-US" sz="1600" dirty="0">
                        <a:solidFill>
                          <a:schemeClr val="tx1"/>
                        </a:solidFill>
                      </a:endParaRPr>
                    </a:p>
                  </a:txBody>
                  <a:tcPr/>
                </a:tc>
                <a:tc>
                  <a:txBody>
                    <a:bodyPr/>
                    <a:lstStyle/>
                    <a:p>
                      <a:r>
                        <a:rPr lang="en-US" sz="1600" dirty="0" smtClean="0"/>
                        <a:t>PHS_D</a:t>
                      </a:r>
                      <a:endParaRPr lang="en-US" sz="1600" dirty="0"/>
                    </a:p>
                  </a:txBody>
                  <a:tcPr/>
                </a:tc>
                <a:extLst>
                  <a:ext uri="{0D108BD9-81ED-4DB2-BD59-A6C34878D82A}">
                    <a16:rowId xmlns:a16="http://schemas.microsoft.com/office/drawing/2014/main" val="3193151956"/>
                  </a:ext>
                </a:extLst>
              </a:tr>
              <a:tr h="304027">
                <a:tc>
                  <a:txBody>
                    <a:bodyPr/>
                    <a:lstStyle/>
                    <a:p>
                      <a:r>
                        <a:rPr lang="en-US" sz="1600" dirty="0"/>
                        <a:t>1002</a:t>
                      </a:r>
                    </a:p>
                  </a:txBody>
                  <a:tcPr/>
                </a:tc>
                <a:tc>
                  <a:txBody>
                    <a:bodyPr/>
                    <a:lstStyle/>
                    <a:p>
                      <a:r>
                        <a:rPr lang="en-US" sz="1600" dirty="0"/>
                        <a:t>8/1/2018</a:t>
                      </a:r>
                    </a:p>
                  </a:txBody>
                  <a:tcPr/>
                </a:tc>
                <a:tc>
                  <a:txBody>
                    <a:bodyPr/>
                    <a:lstStyle/>
                    <a:p>
                      <a:endParaRPr lang="en-US" sz="1600" dirty="0"/>
                    </a:p>
                  </a:txBody>
                  <a:tcPr/>
                </a:tc>
                <a:tc>
                  <a:txBody>
                    <a:bodyPr/>
                    <a:lstStyle/>
                    <a:p>
                      <a:r>
                        <a:rPr lang="en-US" sz="1600" dirty="0">
                          <a:solidFill>
                            <a:schemeClr val="tx1"/>
                          </a:solidFill>
                        </a:rPr>
                        <a:t>Presbyterian </a:t>
                      </a:r>
                      <a:r>
                        <a:rPr lang="en-US" sz="1600" dirty="0" smtClean="0">
                          <a:solidFill>
                            <a:schemeClr val="tx1"/>
                          </a:solidFill>
                        </a:rPr>
                        <a:t>Network</a:t>
                      </a:r>
                      <a:r>
                        <a:rPr lang="en-US" sz="1600" baseline="0" dirty="0" smtClean="0">
                          <a:solidFill>
                            <a:schemeClr val="tx1"/>
                          </a:solidFill>
                        </a:rPr>
                        <a:t> Inc.</a:t>
                      </a:r>
                      <a:endParaRPr lang="en-US" sz="1600" dirty="0">
                        <a:solidFill>
                          <a:schemeClr val="tx1"/>
                        </a:solidFill>
                      </a:endParaRPr>
                    </a:p>
                  </a:txBody>
                  <a:tcPr/>
                </a:tc>
                <a:tc>
                  <a:txBody>
                    <a:bodyPr/>
                    <a:lstStyle/>
                    <a:p>
                      <a:r>
                        <a:rPr lang="en-US" sz="1600" dirty="0" smtClean="0"/>
                        <a:t>PNI</a:t>
                      </a:r>
                      <a:endParaRPr lang="en-US" sz="1600" dirty="0"/>
                    </a:p>
                  </a:txBody>
                  <a:tcPr/>
                </a:tc>
                <a:extLst>
                  <a:ext uri="{0D108BD9-81ED-4DB2-BD59-A6C34878D82A}">
                    <a16:rowId xmlns:a16="http://schemas.microsoft.com/office/drawing/2014/main" val="2717459987"/>
                  </a:ext>
                </a:extLst>
              </a:tr>
              <a:tr h="296554">
                <a:tc>
                  <a:txBody>
                    <a:bodyPr/>
                    <a:lstStyle/>
                    <a:p>
                      <a:r>
                        <a:rPr lang="en-US" sz="1600" dirty="0" smtClean="0"/>
                        <a:t>1003</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North Carolina Provider Owned Plans</a:t>
                      </a:r>
                      <a:endParaRPr lang="en-US" sz="1600" dirty="0">
                        <a:solidFill>
                          <a:schemeClr val="tx1"/>
                        </a:solidFill>
                      </a:endParaRPr>
                    </a:p>
                  </a:txBody>
                  <a:tcPr/>
                </a:tc>
                <a:tc>
                  <a:txBody>
                    <a:bodyPr/>
                    <a:lstStyle/>
                    <a:p>
                      <a:r>
                        <a:rPr lang="en-US" sz="1600" baseline="0" dirty="0" smtClean="0"/>
                        <a:t>NCPOP</a:t>
                      </a:r>
                      <a:endParaRPr lang="en-US" sz="1600" dirty="0"/>
                    </a:p>
                  </a:txBody>
                  <a:tcPr/>
                </a:tc>
                <a:extLst>
                  <a:ext uri="{0D108BD9-81ED-4DB2-BD59-A6C34878D82A}">
                    <a16:rowId xmlns:a16="http://schemas.microsoft.com/office/drawing/2014/main" val="4207455686"/>
                  </a:ext>
                </a:extLst>
              </a:tr>
              <a:tr h="296554">
                <a:tc>
                  <a:txBody>
                    <a:bodyPr/>
                    <a:lstStyle/>
                    <a:p>
                      <a:r>
                        <a:rPr lang="en-US" sz="1600" dirty="0" smtClean="0"/>
                        <a:t>1004</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Provider Led Plan Patient Care</a:t>
                      </a:r>
                      <a:endParaRPr lang="en-US" sz="1600" dirty="0">
                        <a:solidFill>
                          <a:schemeClr val="tx1"/>
                        </a:solidFill>
                      </a:endParaRPr>
                    </a:p>
                  </a:txBody>
                  <a:tcPr/>
                </a:tc>
                <a:tc>
                  <a:txBody>
                    <a:bodyPr/>
                    <a:lstStyle/>
                    <a:p>
                      <a:r>
                        <a:rPr lang="en-US" sz="1600" dirty="0" smtClean="0"/>
                        <a:t>PLPCC</a:t>
                      </a:r>
                      <a:endParaRPr lang="en-US" sz="1600" dirty="0"/>
                    </a:p>
                  </a:txBody>
                  <a:tcPr/>
                </a:tc>
                <a:extLst>
                  <a:ext uri="{0D108BD9-81ED-4DB2-BD59-A6C34878D82A}">
                    <a16:rowId xmlns:a16="http://schemas.microsoft.com/office/drawing/2014/main" val="1825085047"/>
                  </a:ext>
                </a:extLst>
              </a:tr>
              <a:tr h="296554">
                <a:tc>
                  <a:txBody>
                    <a:bodyPr/>
                    <a:lstStyle/>
                    <a:p>
                      <a:r>
                        <a:rPr lang="en-US" sz="1600" dirty="0" smtClean="0"/>
                        <a:t>1005</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smtClean="0"/>
                        <a:t>8/1/2018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dirty="0" smtClean="0"/>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smtClean="0">
                          <a:solidFill>
                            <a:schemeClr val="tx1"/>
                          </a:solidFill>
                        </a:rPr>
                        <a:t>Presbyterian Healthcare Services</a:t>
                      </a:r>
                      <a:endParaRPr lang="en-US" sz="1600" dirty="0">
                        <a:solidFill>
                          <a:schemeClr val="tx1"/>
                        </a:solidFill>
                      </a:endParaRPr>
                    </a:p>
                  </a:txBody>
                  <a:tcPr/>
                </a:tc>
                <a:tc>
                  <a:txBody>
                    <a:bodyPr/>
                    <a:lstStyle/>
                    <a:p>
                      <a:r>
                        <a:rPr lang="en-US" sz="1600" dirty="0" smtClean="0"/>
                        <a:t>PHS</a:t>
                      </a:r>
                      <a:endParaRPr lang="en-US" sz="1600" dirty="0"/>
                    </a:p>
                  </a:txBody>
                  <a:tcPr/>
                </a:tc>
                <a:extLst>
                  <a:ext uri="{0D108BD9-81ED-4DB2-BD59-A6C34878D82A}">
                    <a16:rowId xmlns:a16="http://schemas.microsoft.com/office/drawing/2014/main" val="1627520304"/>
                  </a:ext>
                </a:extLst>
              </a:tr>
            </a:tbl>
          </a:graphicData>
        </a:graphic>
      </p:graphicFrame>
      <p:sp>
        <p:nvSpPr>
          <p:cNvPr id="6" name="Title 1"/>
          <p:cNvSpPr txBox="1">
            <a:spLocks/>
          </p:cNvSpPr>
          <p:nvPr/>
        </p:nvSpPr>
        <p:spPr>
          <a:xfrm>
            <a:off x="228600" y="126510"/>
            <a:ext cx="6395628" cy="45817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400" dirty="0"/>
              <a:t>IBM UDMH - Tenant Logical Data </a:t>
            </a:r>
            <a:r>
              <a:rPr lang="en-US" sz="2400" dirty="0" smtClean="0"/>
              <a:t>Model</a:t>
            </a:r>
            <a:r>
              <a:rPr lang="en-US" sz="2400" dirty="0"/>
              <a:t> </a:t>
            </a:r>
            <a:r>
              <a:rPr lang="en-US" sz="2400" dirty="0" smtClean="0"/>
              <a:t>Cont’d…</a:t>
            </a:r>
            <a:endParaRPr lang="en-US" sz="2400" dirty="0"/>
          </a:p>
        </p:txBody>
      </p:sp>
      <p:sp>
        <p:nvSpPr>
          <p:cNvPr id="4" name="Rectangle 3"/>
          <p:cNvSpPr/>
          <p:nvPr/>
        </p:nvSpPr>
        <p:spPr>
          <a:xfrm>
            <a:off x="2447764" y="5967289"/>
            <a:ext cx="3388813" cy="307777"/>
          </a:xfrm>
          <a:prstGeom prst="rect">
            <a:avLst/>
          </a:prstGeom>
        </p:spPr>
        <p:txBody>
          <a:bodyPr wrap="none">
            <a:spAutoFit/>
          </a:bodyPr>
          <a:lstStyle/>
          <a:p>
            <a:pPr lvl="1">
              <a:spcBef>
                <a:spcPts val="600"/>
              </a:spcBef>
              <a:spcAft>
                <a:spcPts val="600"/>
              </a:spcAft>
            </a:pPr>
            <a:r>
              <a:rPr lang="en-US" sz="1400" dirty="0" smtClean="0">
                <a:solidFill>
                  <a:srgbClr val="FF0000"/>
                </a:solidFill>
              </a:rPr>
              <a:t>*PHS </a:t>
            </a:r>
            <a:r>
              <a:rPr lang="en-US" sz="1400" dirty="0">
                <a:solidFill>
                  <a:srgbClr val="FF0000"/>
                </a:solidFill>
              </a:rPr>
              <a:t>to provide Tenant Business Keys</a:t>
            </a:r>
          </a:p>
        </p:txBody>
      </p:sp>
      <p:sp>
        <p:nvSpPr>
          <p:cNvPr id="7" name="TextBox 6"/>
          <p:cNvSpPr txBox="1"/>
          <p:nvPr/>
        </p:nvSpPr>
        <p:spPr>
          <a:xfrm>
            <a:off x="4733438" y="913271"/>
            <a:ext cx="3349824" cy="738664"/>
          </a:xfrm>
          <a:prstGeom prst="rect">
            <a:avLst/>
          </a:prstGeom>
          <a:noFill/>
        </p:spPr>
        <p:txBody>
          <a:bodyPr wrap="square" rtlCol="0">
            <a:spAutoFit/>
          </a:bodyPr>
          <a:lstStyle/>
          <a:p>
            <a:r>
              <a:rPr lang="en-US" sz="1400" b="1" i="1" u="sng" dirty="0" smtClean="0">
                <a:solidFill>
                  <a:srgbClr val="FF0000"/>
                </a:solidFill>
              </a:rPr>
              <a:t>Note: </a:t>
            </a:r>
            <a:r>
              <a:rPr lang="en-US" sz="1400" dirty="0" smtClean="0">
                <a:solidFill>
                  <a:srgbClr val="FF0000"/>
                </a:solidFill>
              </a:rPr>
              <a:t>Designation of Tenant is valuable information to secure the data. Tenant is data custodian.</a:t>
            </a:r>
            <a:endParaRPr lang="en-US" sz="1400" dirty="0">
              <a:solidFill>
                <a:srgbClr val="FF0000"/>
              </a:solidFill>
            </a:endParaRPr>
          </a:p>
        </p:txBody>
      </p:sp>
      <p:pic>
        <p:nvPicPr>
          <p:cNvPr id="10" name="Picture 9"/>
          <p:cNvPicPr>
            <a:picLocks noChangeAspect="1"/>
          </p:cNvPicPr>
          <p:nvPr/>
        </p:nvPicPr>
        <p:blipFill>
          <a:blip r:embed="rId2"/>
          <a:stretch>
            <a:fillRect/>
          </a:stretch>
        </p:blipFill>
        <p:spPr>
          <a:xfrm>
            <a:off x="6693092" y="119856"/>
            <a:ext cx="2266950" cy="413931"/>
          </a:xfrm>
          <a:prstGeom prst="rect">
            <a:avLst/>
          </a:prstGeom>
        </p:spPr>
      </p:pic>
      <p:sp>
        <p:nvSpPr>
          <p:cNvPr id="9" name="TextBox 8"/>
          <p:cNvSpPr txBox="1"/>
          <p:nvPr/>
        </p:nvSpPr>
        <p:spPr>
          <a:xfrm>
            <a:off x="4334315" y="2214285"/>
            <a:ext cx="4579826" cy="954107"/>
          </a:xfrm>
          <a:prstGeom prst="rect">
            <a:avLst/>
          </a:prstGeom>
          <a:noFill/>
        </p:spPr>
        <p:txBody>
          <a:bodyPr wrap="square" rtlCol="0">
            <a:spAutoFit/>
          </a:bodyPr>
          <a:lstStyle/>
          <a:p>
            <a:r>
              <a:rPr lang="en-US" sz="1400" b="1" i="1" u="sng" dirty="0" smtClean="0">
                <a:solidFill>
                  <a:srgbClr val="FF0000"/>
                </a:solidFill>
              </a:rPr>
              <a:t>Note:</a:t>
            </a:r>
            <a:r>
              <a:rPr lang="en-US" sz="1400" dirty="0" smtClean="0">
                <a:solidFill>
                  <a:srgbClr val="FF0000"/>
                </a:solidFill>
              </a:rPr>
              <a:t>  PHS, in addition to being an Organization, is also a Tenant for IRADW Integration. In IRADW, we have data standardization at the enterprise level and so PHS will act as the Tenant of such data sets</a:t>
            </a:r>
            <a:endParaRPr lang="en-US" sz="1400" dirty="0">
              <a:solidFill>
                <a:srgbClr val="FF0000"/>
              </a:solidFill>
            </a:endParaRPr>
          </a:p>
        </p:txBody>
      </p:sp>
    </p:spTree>
    <p:extLst>
      <p:ext uri="{BB962C8B-B14F-4D97-AF65-F5344CB8AC3E}">
        <p14:creationId xmlns:p14="http://schemas.microsoft.com/office/powerpoint/2010/main" val="38833984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04800" y="3104964"/>
            <a:ext cx="8534400" cy="3143436"/>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7" name="Title 1"/>
          <p:cNvSpPr txBox="1">
            <a:spLocks/>
          </p:cNvSpPr>
          <p:nvPr/>
        </p:nvSpPr>
        <p:spPr>
          <a:xfrm>
            <a:off x="-508" y="145027"/>
            <a:ext cx="6732748"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pPr algn="ctr"/>
            <a:r>
              <a:rPr lang="en-US" sz="2200" dirty="0"/>
              <a:t>IBM UDMH </a:t>
            </a:r>
            <a:r>
              <a:rPr lang="en-US" sz="2200" dirty="0" smtClean="0"/>
              <a:t>– Organization &amp; Tenant Logical </a:t>
            </a:r>
            <a:r>
              <a:rPr lang="en-US" sz="2200" dirty="0"/>
              <a:t>Data </a:t>
            </a:r>
            <a:r>
              <a:rPr lang="en-US" sz="2200" dirty="0" smtClean="0"/>
              <a:t>Model</a:t>
            </a:r>
            <a:endParaRPr lang="en-US" sz="2200" dirty="0"/>
          </a:p>
        </p:txBody>
      </p:sp>
      <p:pic>
        <p:nvPicPr>
          <p:cNvPr id="9" name="Picture 8"/>
          <p:cNvPicPr>
            <a:picLocks noChangeAspect="1"/>
          </p:cNvPicPr>
          <p:nvPr/>
        </p:nvPicPr>
        <p:blipFill>
          <a:blip r:embed="rId2"/>
          <a:stretch>
            <a:fillRect/>
          </a:stretch>
        </p:blipFill>
        <p:spPr>
          <a:xfrm>
            <a:off x="5543550" y="5714273"/>
            <a:ext cx="3600450" cy="771914"/>
          </a:xfrm>
          <a:prstGeom prst="rect">
            <a:avLst/>
          </a:prstGeom>
        </p:spPr>
      </p:pic>
      <p:sp>
        <p:nvSpPr>
          <p:cNvPr id="10" name="TextBox 9"/>
          <p:cNvSpPr txBox="1"/>
          <p:nvPr/>
        </p:nvSpPr>
        <p:spPr>
          <a:xfrm>
            <a:off x="107504" y="5248126"/>
            <a:ext cx="7740860" cy="1000274"/>
          </a:xfrm>
          <a:prstGeom prst="rect">
            <a:avLst/>
          </a:prstGeom>
          <a:noFill/>
        </p:spPr>
        <p:txBody>
          <a:bodyPr wrap="square" rtlCol="0">
            <a:spAutoFit/>
          </a:bodyPr>
          <a:lstStyle/>
          <a:p>
            <a:pPr marL="342900" defTabSz="785813" eaLnBrk="0" hangingPunct="0">
              <a:buFont typeface="Wingdings" pitchFamily="2" charset="2"/>
              <a:buChar char="§"/>
            </a:pPr>
            <a:r>
              <a:rPr lang="en-US" sz="1600" b="1" dirty="0">
                <a:solidFill>
                  <a:schemeClr val="tx1">
                    <a:lumMod val="75000"/>
                    <a:lumOff val="25000"/>
                  </a:schemeClr>
                </a:solidFill>
              </a:rPr>
              <a:t>Anchor: </a:t>
            </a:r>
            <a:r>
              <a:rPr lang="en-US" sz="1600" dirty="0">
                <a:solidFill>
                  <a:schemeClr val="tx1">
                    <a:lumMod val="75000"/>
                    <a:lumOff val="25000"/>
                  </a:schemeClr>
                </a:solidFill>
              </a:rPr>
              <a:t>Anchor contain a list of unique business keys with low propensity to change</a:t>
            </a:r>
            <a:r>
              <a:rPr lang="en-US" sz="1600" dirty="0" smtClean="0">
                <a:solidFill>
                  <a:schemeClr val="tx1">
                    <a:lumMod val="75000"/>
                    <a:lumOff val="25000"/>
                  </a:schemeClr>
                </a:solidFill>
              </a:rPr>
              <a:t>.</a:t>
            </a:r>
          </a:p>
          <a:p>
            <a:pPr marL="342900" defTabSz="785813" eaLnBrk="0" hangingPunct="0">
              <a:buFont typeface="Wingdings" pitchFamily="2" charset="2"/>
              <a:buChar char="§"/>
            </a:pPr>
            <a:r>
              <a:rPr lang="en-US" sz="1600" b="1" dirty="0" smtClean="0">
                <a:solidFill>
                  <a:schemeClr val="tx1">
                    <a:lumMod val="75000"/>
                    <a:lumOff val="25000"/>
                  </a:schemeClr>
                </a:solidFill>
              </a:rPr>
              <a:t>Detail: </a:t>
            </a:r>
            <a:r>
              <a:rPr lang="en-US" sz="1600" dirty="0" smtClean="0">
                <a:solidFill>
                  <a:schemeClr val="tx1">
                    <a:lumMod val="75000"/>
                    <a:lumOff val="25000"/>
                  </a:schemeClr>
                </a:solidFill>
              </a:rPr>
              <a:t>Detail contain attributes about the Anchor</a:t>
            </a:r>
          </a:p>
          <a:p>
            <a:pPr marL="342900" defTabSz="785813" eaLnBrk="0" hangingPunct="0">
              <a:buFont typeface="Wingdings" pitchFamily="2" charset="2"/>
              <a:buChar char="§"/>
            </a:pPr>
            <a:r>
              <a:rPr lang="en-US" sz="1600" b="1" dirty="0" smtClean="0">
                <a:solidFill>
                  <a:schemeClr val="tx1">
                    <a:lumMod val="75000"/>
                    <a:lumOff val="25000"/>
                  </a:schemeClr>
                </a:solidFill>
              </a:rPr>
              <a:t>Associative</a:t>
            </a:r>
            <a:r>
              <a:rPr lang="en-US" sz="1600" b="1" dirty="0">
                <a:solidFill>
                  <a:schemeClr val="tx1">
                    <a:lumMod val="75000"/>
                    <a:lumOff val="25000"/>
                  </a:schemeClr>
                </a:solidFill>
              </a:rPr>
              <a:t>: </a:t>
            </a:r>
            <a:r>
              <a:rPr lang="en-US" sz="1600" dirty="0">
                <a:solidFill>
                  <a:schemeClr val="tx1">
                    <a:lumMod val="75000"/>
                    <a:lumOff val="25000"/>
                  </a:schemeClr>
                </a:solidFill>
              </a:rPr>
              <a:t>Store relationships between anchors</a:t>
            </a:r>
          </a:p>
          <a:p>
            <a:endParaRPr lang="en-US" sz="1100" dirty="0"/>
          </a:p>
        </p:txBody>
      </p:sp>
      <p:pic>
        <p:nvPicPr>
          <p:cNvPr id="2050" name="Picture 2" descr="image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1094919"/>
            <a:ext cx="30861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5553422" y="1506192"/>
            <a:ext cx="2808312" cy="738664"/>
          </a:xfrm>
          <a:prstGeom prst="rect">
            <a:avLst/>
          </a:prstGeom>
          <a:noFill/>
        </p:spPr>
        <p:txBody>
          <a:bodyPr wrap="square" rtlCol="0">
            <a:spAutoFit/>
          </a:bodyPr>
          <a:lstStyle/>
          <a:p>
            <a:r>
              <a:rPr lang="en-US" sz="1400" b="1" u="sng" dirty="0" smtClean="0">
                <a:solidFill>
                  <a:srgbClr val="FF0000"/>
                </a:solidFill>
              </a:rPr>
              <a:t>Note: </a:t>
            </a:r>
            <a:r>
              <a:rPr lang="en-US" sz="1400" dirty="0" smtClean="0">
                <a:solidFill>
                  <a:srgbClr val="FF0000"/>
                </a:solidFill>
              </a:rPr>
              <a:t>Organization and Tenant relationship information will feed into this data model </a:t>
            </a:r>
            <a:endParaRPr lang="en-US" sz="1400" dirty="0">
              <a:solidFill>
                <a:srgbClr val="FF0000"/>
              </a:solidFill>
            </a:endParaRPr>
          </a:p>
        </p:txBody>
      </p:sp>
      <p:pic>
        <p:nvPicPr>
          <p:cNvPr id="13" name="Picture 12"/>
          <p:cNvPicPr>
            <a:picLocks noChangeAspect="1"/>
          </p:cNvPicPr>
          <p:nvPr/>
        </p:nvPicPr>
        <p:blipFill>
          <a:blip r:embed="rId4"/>
          <a:stretch>
            <a:fillRect/>
          </a:stretch>
        </p:blipFill>
        <p:spPr>
          <a:xfrm>
            <a:off x="6714889" y="145027"/>
            <a:ext cx="2266950" cy="413931"/>
          </a:xfrm>
          <a:prstGeom prst="rect">
            <a:avLst/>
          </a:prstGeom>
        </p:spPr>
      </p:pic>
    </p:spTree>
    <p:extLst>
      <p:ext uri="{BB962C8B-B14F-4D97-AF65-F5344CB8AC3E}">
        <p14:creationId xmlns:p14="http://schemas.microsoft.com/office/powerpoint/2010/main" val="41227695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04800" y="3104964"/>
            <a:ext cx="8534400" cy="3143436"/>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7" name="Title 1"/>
          <p:cNvSpPr txBox="1">
            <a:spLocks/>
          </p:cNvSpPr>
          <p:nvPr/>
        </p:nvSpPr>
        <p:spPr>
          <a:xfrm>
            <a:off x="143508" y="317475"/>
            <a:ext cx="6120172"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000" dirty="0"/>
              <a:t>IBM UDMH </a:t>
            </a:r>
            <a:r>
              <a:rPr lang="en-US" sz="2000" dirty="0" smtClean="0"/>
              <a:t>– Organization &amp; Tenant Logical </a:t>
            </a:r>
            <a:r>
              <a:rPr lang="en-US" sz="2000" dirty="0"/>
              <a:t>Data </a:t>
            </a:r>
            <a:r>
              <a:rPr lang="en-US" sz="2000" dirty="0" smtClean="0"/>
              <a:t>Model</a:t>
            </a:r>
          </a:p>
          <a:p>
            <a:r>
              <a:rPr lang="en-US" sz="1400" b="0" i="1" dirty="0" smtClean="0"/>
              <a:t>(Organization &amp; Tenant relationship </a:t>
            </a:r>
            <a:r>
              <a:rPr lang="en-US" sz="1400" b="0" i="1" dirty="0"/>
              <a:t>example with data</a:t>
            </a:r>
            <a:r>
              <a:rPr lang="en-US" sz="1400" b="0" i="1" dirty="0" smtClean="0"/>
              <a:t>)</a:t>
            </a:r>
            <a:endParaRPr lang="en-US" sz="1400" b="0" i="1" dirty="0"/>
          </a:p>
        </p:txBody>
      </p:sp>
      <p:sp>
        <p:nvSpPr>
          <p:cNvPr id="3" name="Rectangle 1"/>
          <p:cNvSpPr>
            <a:spLocks noChangeArrowheads="1"/>
          </p:cNvSpPr>
          <p:nvPr/>
        </p:nvSpPr>
        <p:spPr bwMode="auto">
          <a:xfrm>
            <a:off x="315205" y="206027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292860234"/>
              </p:ext>
            </p:extLst>
          </p:nvPr>
        </p:nvGraphicFramePr>
        <p:xfrm>
          <a:off x="538126" y="1545428"/>
          <a:ext cx="7196890" cy="3048000"/>
        </p:xfrm>
        <a:graphic>
          <a:graphicData uri="http://schemas.openxmlformats.org/drawingml/2006/table">
            <a:tbl>
              <a:tblPr firstRow="1" bandRow="1">
                <a:tableStyleId>{5C22544A-7EE6-4342-B048-85BDC9FD1C3A}</a:tableStyleId>
              </a:tblPr>
              <a:tblGrid>
                <a:gridCol w="1398905">
                  <a:extLst>
                    <a:ext uri="{9D8B030D-6E8A-4147-A177-3AD203B41FA5}">
                      <a16:colId xmlns:a16="http://schemas.microsoft.com/office/drawing/2014/main" val="2479891616"/>
                    </a:ext>
                  </a:extLst>
                </a:gridCol>
                <a:gridCol w="1205484">
                  <a:extLst>
                    <a:ext uri="{9D8B030D-6E8A-4147-A177-3AD203B41FA5}">
                      <a16:colId xmlns:a16="http://schemas.microsoft.com/office/drawing/2014/main" val="3211364431"/>
                    </a:ext>
                  </a:extLst>
                </a:gridCol>
                <a:gridCol w="1979930">
                  <a:extLst>
                    <a:ext uri="{9D8B030D-6E8A-4147-A177-3AD203B41FA5}">
                      <a16:colId xmlns:a16="http://schemas.microsoft.com/office/drawing/2014/main" val="2565924920"/>
                    </a:ext>
                  </a:extLst>
                </a:gridCol>
                <a:gridCol w="870857">
                  <a:extLst>
                    <a:ext uri="{9D8B030D-6E8A-4147-A177-3AD203B41FA5}">
                      <a16:colId xmlns:a16="http://schemas.microsoft.com/office/drawing/2014/main" val="2888090332"/>
                    </a:ext>
                  </a:extLst>
                </a:gridCol>
                <a:gridCol w="870857">
                  <a:extLst>
                    <a:ext uri="{9D8B030D-6E8A-4147-A177-3AD203B41FA5}">
                      <a16:colId xmlns:a16="http://schemas.microsoft.com/office/drawing/2014/main" val="3610488160"/>
                    </a:ext>
                  </a:extLst>
                </a:gridCol>
                <a:gridCol w="870857">
                  <a:extLst>
                    <a:ext uri="{9D8B030D-6E8A-4147-A177-3AD203B41FA5}">
                      <a16:colId xmlns:a16="http://schemas.microsoft.com/office/drawing/2014/main" val="1320519299"/>
                    </a:ext>
                  </a:extLst>
                </a:gridCol>
              </a:tblGrid>
              <a:tr h="370840">
                <a:tc>
                  <a:txBody>
                    <a:bodyPr/>
                    <a:lstStyle/>
                    <a:p>
                      <a:pPr marL="0" marR="0">
                        <a:spcBef>
                          <a:spcPts val="0"/>
                        </a:spcBef>
                        <a:spcAft>
                          <a:spcPts val="0"/>
                        </a:spcAft>
                      </a:pPr>
                      <a:r>
                        <a:rPr lang="en-US" sz="1200" b="1" dirty="0">
                          <a:solidFill>
                            <a:schemeClr val="bg1"/>
                          </a:solidFill>
                          <a:effectLst/>
                          <a:latin typeface="Calibri" panose="020F0502020204030204" pitchFamily="34" charset="0"/>
                          <a:ea typeface="Calibri" panose="020F0502020204030204" pitchFamily="34" charset="0"/>
                        </a:rPr>
                        <a:t>Custodian Tenant </a:t>
                      </a:r>
                      <a:r>
                        <a:rPr lang="en-US" sz="1200" b="1" dirty="0" smtClean="0">
                          <a:solidFill>
                            <a:schemeClr val="bg1"/>
                          </a:solidFill>
                          <a:effectLst/>
                          <a:latin typeface="Calibri" panose="020F0502020204030204" pitchFamily="34" charset="0"/>
                          <a:ea typeface="Calibri" panose="020F0502020204030204" pitchFamily="34" charset="0"/>
                        </a:rPr>
                        <a:t>BK</a:t>
                      </a:r>
                      <a:endParaRPr lang="en-US" sz="1200" dirty="0">
                        <a:solidFill>
                          <a:schemeClr val="bg1"/>
                        </a:solidFill>
                        <a:effectLst/>
                        <a:latin typeface="Calibri" panose="020F0502020204030204" pitchFamily="34" charset="0"/>
                        <a:ea typeface="Calibri" panose="020F0502020204030204" pitchFamily="34" charset="0"/>
                      </a:endParaRPr>
                    </a:p>
                  </a:txBody>
                  <a:tcPr/>
                </a:tc>
                <a:tc>
                  <a:txBody>
                    <a:bodyPr/>
                    <a:lstStyle/>
                    <a:p>
                      <a:pPr marL="0" marR="0">
                        <a:spcBef>
                          <a:spcPts val="0"/>
                        </a:spcBef>
                        <a:spcAft>
                          <a:spcPts val="0"/>
                        </a:spcAft>
                      </a:pPr>
                      <a:r>
                        <a:rPr lang="en-US" sz="1200" b="1" dirty="0">
                          <a:solidFill>
                            <a:schemeClr val="bg1"/>
                          </a:solidFill>
                          <a:effectLst/>
                          <a:latin typeface="Calibri" panose="020F0502020204030204" pitchFamily="34" charset="0"/>
                          <a:ea typeface="Calibri" panose="020F0502020204030204" pitchFamily="34" charset="0"/>
                        </a:rPr>
                        <a:t>Organization </a:t>
                      </a:r>
                      <a:r>
                        <a:rPr lang="en-US" sz="1200" b="1" dirty="0" smtClean="0">
                          <a:solidFill>
                            <a:schemeClr val="bg1"/>
                          </a:solidFill>
                          <a:effectLst/>
                          <a:latin typeface="Calibri" panose="020F0502020204030204" pitchFamily="34" charset="0"/>
                          <a:ea typeface="Calibri" panose="020F0502020204030204" pitchFamily="34" charset="0"/>
                        </a:rPr>
                        <a:t>BK</a:t>
                      </a:r>
                      <a:endParaRPr lang="en-US" sz="1200" dirty="0">
                        <a:solidFill>
                          <a:schemeClr val="bg1"/>
                        </a:solidFill>
                        <a:effectLst/>
                        <a:latin typeface="Calibri" panose="020F0502020204030204" pitchFamily="34" charset="0"/>
                        <a:ea typeface="Calibri" panose="020F0502020204030204" pitchFamily="34" charset="0"/>
                      </a:endParaRPr>
                    </a:p>
                  </a:txBody>
                  <a:tcPr/>
                </a:tc>
                <a:tc>
                  <a:txBody>
                    <a:bodyPr/>
                    <a:lstStyle/>
                    <a:p>
                      <a:pPr marL="0" marR="0">
                        <a:spcBef>
                          <a:spcPts val="0"/>
                        </a:spcBef>
                        <a:spcAft>
                          <a:spcPts val="0"/>
                        </a:spcAft>
                      </a:pPr>
                      <a:r>
                        <a:rPr lang="en-US" sz="1200" b="1">
                          <a:solidFill>
                            <a:schemeClr val="bg1"/>
                          </a:solidFill>
                          <a:effectLst/>
                          <a:latin typeface="Calibri" panose="020F0502020204030204" pitchFamily="34" charset="0"/>
                          <a:ea typeface="Calibri" panose="020F0502020204030204" pitchFamily="34" charset="0"/>
                        </a:rPr>
                        <a:t>Relationship Type</a:t>
                      </a:r>
                      <a:endParaRPr lang="en-US" sz="1200">
                        <a:solidFill>
                          <a:schemeClr val="bg1"/>
                        </a:solidFill>
                        <a:effectLst/>
                        <a:latin typeface="Calibri" panose="020F0502020204030204" pitchFamily="34" charset="0"/>
                        <a:ea typeface="Calibri" panose="020F0502020204030204" pitchFamily="34" charset="0"/>
                      </a:endParaRPr>
                    </a:p>
                  </a:txBody>
                  <a:tcPr/>
                </a:tc>
                <a:tc>
                  <a:txBody>
                    <a:bodyPr/>
                    <a:lstStyle/>
                    <a:p>
                      <a:pPr marL="0" marR="0">
                        <a:spcBef>
                          <a:spcPts val="0"/>
                        </a:spcBef>
                        <a:spcAft>
                          <a:spcPts val="0"/>
                        </a:spcAft>
                      </a:pPr>
                      <a:r>
                        <a:rPr lang="en-US" sz="1200" b="1" dirty="0">
                          <a:solidFill>
                            <a:schemeClr val="bg1"/>
                          </a:solidFill>
                          <a:effectLst/>
                          <a:latin typeface="Calibri" panose="020F0502020204030204" pitchFamily="34" charset="0"/>
                          <a:ea typeface="Calibri" panose="020F0502020204030204" pitchFamily="34" charset="0"/>
                        </a:rPr>
                        <a:t>Valid from</a:t>
                      </a:r>
                      <a:endParaRPr lang="en-US" sz="1200" dirty="0">
                        <a:solidFill>
                          <a:schemeClr val="bg1"/>
                        </a:solidFill>
                        <a:effectLst/>
                        <a:latin typeface="Calibri" panose="020F0502020204030204" pitchFamily="34" charset="0"/>
                        <a:ea typeface="Calibri" panose="020F0502020204030204" pitchFamily="34" charset="0"/>
                      </a:endParaRPr>
                    </a:p>
                  </a:txBody>
                  <a:tcPr/>
                </a:tc>
                <a:tc>
                  <a:txBody>
                    <a:bodyPr/>
                    <a:lstStyle/>
                    <a:p>
                      <a:pPr marL="0" marR="0">
                        <a:spcBef>
                          <a:spcPts val="0"/>
                        </a:spcBef>
                        <a:spcAft>
                          <a:spcPts val="0"/>
                        </a:spcAft>
                      </a:pPr>
                      <a:r>
                        <a:rPr lang="en-US" sz="1200" b="1">
                          <a:solidFill>
                            <a:schemeClr val="bg1"/>
                          </a:solidFill>
                          <a:effectLst/>
                          <a:latin typeface="Calibri" panose="020F0502020204030204" pitchFamily="34" charset="0"/>
                          <a:ea typeface="Calibri" panose="020F0502020204030204" pitchFamily="34" charset="0"/>
                        </a:rPr>
                        <a:t>Valid To</a:t>
                      </a:r>
                      <a:endParaRPr lang="en-US" sz="1200">
                        <a:solidFill>
                          <a:schemeClr val="bg1"/>
                        </a:solidFill>
                        <a:effectLst/>
                        <a:latin typeface="Calibri" panose="020F0502020204030204" pitchFamily="34" charset="0"/>
                        <a:ea typeface="Calibri" panose="020F0502020204030204" pitchFamily="34" charset="0"/>
                      </a:endParaRPr>
                    </a:p>
                  </a:txBody>
                  <a:tcPr/>
                </a:tc>
                <a:tc>
                  <a:txBody>
                    <a:bodyPr/>
                    <a:lstStyle/>
                    <a:p>
                      <a:pPr marL="0" marR="0">
                        <a:spcBef>
                          <a:spcPts val="0"/>
                        </a:spcBef>
                        <a:spcAft>
                          <a:spcPts val="0"/>
                        </a:spcAft>
                      </a:pPr>
                      <a:r>
                        <a:rPr lang="en-US" sz="1200" b="1">
                          <a:solidFill>
                            <a:schemeClr val="bg1"/>
                          </a:solidFill>
                          <a:effectLst/>
                          <a:latin typeface="Calibri" panose="020F0502020204030204" pitchFamily="34" charset="0"/>
                          <a:ea typeface="Calibri" panose="020F0502020204030204" pitchFamily="34" charset="0"/>
                        </a:rPr>
                        <a:t>Source Cd</a:t>
                      </a:r>
                      <a:endParaRPr lang="en-US" sz="1200">
                        <a:solidFill>
                          <a:schemeClr val="bg1"/>
                        </a:solidFill>
                        <a:effectLst/>
                        <a:latin typeface="Calibri" panose="020F0502020204030204" pitchFamily="34" charset="0"/>
                        <a:ea typeface="Calibri" panose="020F0502020204030204" pitchFamily="34" charset="0"/>
                      </a:endParaRPr>
                    </a:p>
                  </a:txBody>
                  <a:tcPr/>
                </a:tc>
                <a:extLst>
                  <a:ext uri="{0D108BD9-81ED-4DB2-BD59-A6C34878D82A}">
                    <a16:rowId xmlns:a16="http://schemas.microsoft.com/office/drawing/2014/main" val="3638950903"/>
                  </a:ext>
                </a:extLst>
              </a:tr>
              <a:tr h="370840">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PNI</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FLUENT</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Tenant 2 Health Care Company</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8/1/2018</a:t>
                      </a:r>
                      <a:endParaRPr lang="en-US" sz="1400">
                        <a:effectLst/>
                        <a:latin typeface="+mn-lt"/>
                        <a:ea typeface="Calibri" panose="020F0502020204030204" pitchFamily="34" charset="0"/>
                      </a:endParaRPr>
                    </a:p>
                  </a:txBody>
                  <a:tcPr/>
                </a:tc>
                <a:tc>
                  <a:txBody>
                    <a:bodyPr/>
                    <a:lstStyle/>
                    <a:p>
                      <a:endParaRPr lang="en-US" sz="1400">
                        <a:effectLst/>
                        <a:latin typeface="+mn-lt"/>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RDM</a:t>
                      </a:r>
                      <a:endParaRPr lang="en-US" sz="1400">
                        <a:effectLst/>
                        <a:latin typeface="+mn-lt"/>
                        <a:ea typeface="Calibri" panose="020F0502020204030204" pitchFamily="34" charset="0"/>
                      </a:endParaRPr>
                    </a:p>
                  </a:txBody>
                  <a:tcPr/>
                </a:tc>
                <a:extLst>
                  <a:ext uri="{0D108BD9-81ED-4DB2-BD59-A6C34878D82A}">
                    <a16:rowId xmlns:a16="http://schemas.microsoft.com/office/drawing/2014/main" val="1820036741"/>
                  </a:ext>
                </a:extLst>
              </a:tr>
              <a:tr h="370840">
                <a:tc>
                  <a:txBody>
                    <a:bodyPr/>
                    <a:lstStyle/>
                    <a:p>
                      <a:pPr marL="0" marR="0">
                        <a:spcBef>
                          <a:spcPts val="0"/>
                        </a:spcBef>
                        <a:spcAft>
                          <a:spcPts val="0"/>
                        </a:spcAft>
                      </a:pPr>
                      <a:r>
                        <a:rPr lang="en-US" sz="1400" dirty="0" smtClean="0">
                          <a:solidFill>
                            <a:srgbClr val="1F497D"/>
                          </a:solidFill>
                          <a:effectLst/>
                          <a:latin typeface="+mn-lt"/>
                          <a:ea typeface="Calibri" panose="020F0502020204030204" pitchFamily="34" charset="0"/>
                        </a:rPr>
                        <a:t>NCPOP</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FLUENT</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Tenant 2 Health Care Company</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8/1/2018</a:t>
                      </a:r>
                      <a:endParaRPr lang="en-US" sz="1400">
                        <a:effectLst/>
                        <a:latin typeface="+mn-lt"/>
                        <a:ea typeface="Calibri" panose="020F0502020204030204" pitchFamily="34" charset="0"/>
                      </a:endParaRPr>
                    </a:p>
                  </a:txBody>
                  <a:tcPr/>
                </a:tc>
                <a:tc>
                  <a:txBody>
                    <a:bodyPr/>
                    <a:lstStyle/>
                    <a:p>
                      <a:endParaRPr lang="en-US" sz="1400">
                        <a:effectLst/>
                        <a:latin typeface="+mn-lt"/>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RDM</a:t>
                      </a:r>
                      <a:endParaRPr lang="en-US" sz="1400">
                        <a:effectLst/>
                        <a:latin typeface="+mn-lt"/>
                        <a:ea typeface="Calibri" panose="020F0502020204030204" pitchFamily="34" charset="0"/>
                      </a:endParaRPr>
                    </a:p>
                  </a:txBody>
                  <a:tcPr/>
                </a:tc>
                <a:extLst>
                  <a:ext uri="{0D108BD9-81ED-4DB2-BD59-A6C34878D82A}">
                    <a16:rowId xmlns:a16="http://schemas.microsoft.com/office/drawing/2014/main" val="2898676273"/>
                  </a:ext>
                </a:extLst>
              </a:tr>
              <a:tr h="370840">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PLPCC</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FLUENT</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Tenant 2 Health Care Company</a:t>
                      </a:r>
                      <a:endParaRPr lang="en-US" sz="1400">
                        <a:effectLst/>
                        <a:latin typeface="+mn-lt"/>
                        <a:ea typeface="Calibri" panose="020F0502020204030204" pitchFamily="34" charset="0"/>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8/1/2018</a:t>
                      </a:r>
                      <a:endParaRPr lang="en-US" sz="1400">
                        <a:effectLst/>
                        <a:latin typeface="+mn-lt"/>
                        <a:ea typeface="Calibri" panose="020F0502020204030204" pitchFamily="34" charset="0"/>
                      </a:endParaRPr>
                    </a:p>
                  </a:txBody>
                  <a:tcPr/>
                </a:tc>
                <a:tc>
                  <a:txBody>
                    <a:bodyPr/>
                    <a:lstStyle/>
                    <a:p>
                      <a:endParaRPr lang="en-US" sz="1400">
                        <a:effectLst/>
                        <a:latin typeface="+mn-lt"/>
                      </a:endParaRPr>
                    </a:p>
                  </a:txBody>
                  <a:tcPr/>
                </a:tc>
                <a:tc>
                  <a:txBody>
                    <a:bodyPr/>
                    <a:lstStyle/>
                    <a:p>
                      <a:pPr marL="0" marR="0">
                        <a:spcBef>
                          <a:spcPts val="0"/>
                        </a:spcBef>
                        <a:spcAft>
                          <a:spcPts val="0"/>
                        </a:spcAft>
                      </a:pPr>
                      <a:r>
                        <a:rPr lang="en-US" sz="1400">
                          <a:solidFill>
                            <a:srgbClr val="1F497D"/>
                          </a:solidFill>
                          <a:effectLst/>
                          <a:latin typeface="+mn-lt"/>
                          <a:ea typeface="Calibri" panose="020F0502020204030204" pitchFamily="34" charset="0"/>
                        </a:rPr>
                        <a:t>RDM</a:t>
                      </a:r>
                      <a:endParaRPr lang="en-US" sz="1400">
                        <a:effectLst/>
                        <a:latin typeface="+mn-lt"/>
                        <a:ea typeface="Calibri" panose="020F0502020204030204" pitchFamily="34" charset="0"/>
                      </a:endParaRPr>
                    </a:p>
                  </a:txBody>
                  <a:tcPr/>
                </a:tc>
                <a:extLst>
                  <a:ext uri="{0D108BD9-81ED-4DB2-BD59-A6C34878D82A}">
                    <a16:rowId xmlns:a16="http://schemas.microsoft.com/office/drawing/2014/main" val="3932161719"/>
                  </a:ext>
                </a:extLst>
              </a:tr>
              <a:tr h="370840">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PHS_D</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PHS_H</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Tenant 2 Health Care Company</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8/1/2018</a:t>
                      </a:r>
                      <a:endParaRPr lang="en-US" sz="1400" dirty="0">
                        <a:effectLst/>
                        <a:latin typeface="+mn-lt"/>
                        <a:ea typeface="Calibri" panose="020F0502020204030204" pitchFamily="34" charset="0"/>
                      </a:endParaRPr>
                    </a:p>
                  </a:txBody>
                  <a:tcPr/>
                </a:tc>
                <a:tc>
                  <a:txBody>
                    <a:bodyPr/>
                    <a:lstStyle/>
                    <a:p>
                      <a:endParaRPr lang="en-US" sz="1400" dirty="0">
                        <a:effectLst/>
                        <a:latin typeface="+mn-lt"/>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RDM</a:t>
                      </a:r>
                      <a:endParaRPr lang="en-US" sz="1400" dirty="0">
                        <a:effectLst/>
                        <a:latin typeface="+mn-lt"/>
                        <a:ea typeface="Calibri" panose="020F0502020204030204" pitchFamily="34" charset="0"/>
                      </a:endParaRPr>
                    </a:p>
                  </a:txBody>
                  <a:tcPr/>
                </a:tc>
                <a:extLst>
                  <a:ext uri="{0D108BD9-81ED-4DB2-BD59-A6C34878D82A}">
                    <a16:rowId xmlns:a16="http://schemas.microsoft.com/office/drawing/2014/main" val="2620003608"/>
                  </a:ext>
                </a:extLst>
              </a:tr>
              <a:tr h="370840">
                <a:tc>
                  <a:txBody>
                    <a:bodyPr/>
                    <a:lstStyle/>
                    <a:p>
                      <a:pPr marL="0" marR="0">
                        <a:spcBef>
                          <a:spcPts val="0"/>
                        </a:spcBef>
                        <a:spcAft>
                          <a:spcPts val="0"/>
                        </a:spcAft>
                      </a:pPr>
                      <a:r>
                        <a:rPr lang="en-US" sz="1400" dirty="0" smtClean="0">
                          <a:solidFill>
                            <a:srgbClr val="1F497D"/>
                          </a:solidFill>
                          <a:effectLst/>
                          <a:latin typeface="+mn-lt"/>
                          <a:ea typeface="Calibri" panose="020F0502020204030204" pitchFamily="34" charset="0"/>
                        </a:rPr>
                        <a:t>PHS</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smtClean="0">
                          <a:solidFill>
                            <a:srgbClr val="1F497D"/>
                          </a:solidFill>
                          <a:effectLst/>
                          <a:latin typeface="+mn-lt"/>
                          <a:ea typeface="Calibri" panose="020F0502020204030204" pitchFamily="34" charset="0"/>
                        </a:rPr>
                        <a:t>PHS</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Tenant 2 Health Care Company</a:t>
                      </a:r>
                      <a:endParaRPr lang="en-US" sz="1400" dirty="0">
                        <a:effectLst/>
                        <a:latin typeface="+mn-lt"/>
                        <a:ea typeface="Calibri" panose="020F0502020204030204" pitchFamily="34" charset="0"/>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8/1/2018</a:t>
                      </a:r>
                      <a:endParaRPr lang="en-US" sz="1400" dirty="0">
                        <a:effectLst/>
                        <a:latin typeface="+mn-lt"/>
                        <a:ea typeface="Calibri" panose="020F0502020204030204" pitchFamily="34" charset="0"/>
                      </a:endParaRPr>
                    </a:p>
                  </a:txBody>
                  <a:tcPr/>
                </a:tc>
                <a:tc>
                  <a:txBody>
                    <a:bodyPr/>
                    <a:lstStyle/>
                    <a:p>
                      <a:endParaRPr lang="en-US" sz="1400" dirty="0">
                        <a:effectLst/>
                        <a:latin typeface="+mn-lt"/>
                      </a:endParaRPr>
                    </a:p>
                  </a:txBody>
                  <a:tcPr/>
                </a:tc>
                <a:tc>
                  <a:txBody>
                    <a:bodyPr/>
                    <a:lstStyle/>
                    <a:p>
                      <a:pPr marL="0" marR="0">
                        <a:spcBef>
                          <a:spcPts val="0"/>
                        </a:spcBef>
                        <a:spcAft>
                          <a:spcPts val="0"/>
                        </a:spcAft>
                      </a:pPr>
                      <a:r>
                        <a:rPr lang="en-US" sz="1400" dirty="0">
                          <a:solidFill>
                            <a:srgbClr val="1F497D"/>
                          </a:solidFill>
                          <a:effectLst/>
                          <a:latin typeface="+mn-lt"/>
                          <a:ea typeface="Calibri" panose="020F0502020204030204" pitchFamily="34" charset="0"/>
                        </a:rPr>
                        <a:t>RDM</a:t>
                      </a:r>
                      <a:endParaRPr lang="en-US" sz="1400" dirty="0">
                        <a:effectLst/>
                        <a:latin typeface="+mn-lt"/>
                        <a:ea typeface="Calibri" panose="020F0502020204030204" pitchFamily="34" charset="0"/>
                      </a:endParaRPr>
                    </a:p>
                  </a:txBody>
                  <a:tcPr/>
                </a:tc>
                <a:extLst>
                  <a:ext uri="{0D108BD9-81ED-4DB2-BD59-A6C34878D82A}">
                    <a16:rowId xmlns:a16="http://schemas.microsoft.com/office/drawing/2014/main" val="2507183835"/>
                  </a:ext>
                </a:extLst>
              </a:tr>
            </a:tbl>
          </a:graphicData>
        </a:graphic>
      </p:graphicFrame>
      <p:pic>
        <p:nvPicPr>
          <p:cNvPr id="9" name="Picture 8"/>
          <p:cNvPicPr>
            <a:picLocks noChangeAspect="1"/>
          </p:cNvPicPr>
          <p:nvPr/>
        </p:nvPicPr>
        <p:blipFill>
          <a:blip r:embed="rId2"/>
          <a:stretch>
            <a:fillRect/>
          </a:stretch>
        </p:blipFill>
        <p:spPr>
          <a:xfrm>
            <a:off x="6768244" y="209853"/>
            <a:ext cx="2266950" cy="413931"/>
          </a:xfrm>
          <a:prstGeom prst="rect">
            <a:avLst/>
          </a:prstGeom>
        </p:spPr>
      </p:pic>
    </p:spTree>
    <p:extLst>
      <p:ext uri="{BB962C8B-B14F-4D97-AF65-F5344CB8AC3E}">
        <p14:creationId xmlns:p14="http://schemas.microsoft.com/office/powerpoint/2010/main" val="36495186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04800" y="3104964"/>
            <a:ext cx="8534400" cy="3143436"/>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7" name="Title 1"/>
          <p:cNvSpPr txBox="1">
            <a:spLocks/>
          </p:cNvSpPr>
          <p:nvPr/>
        </p:nvSpPr>
        <p:spPr>
          <a:xfrm>
            <a:off x="150700" y="91685"/>
            <a:ext cx="6293508" cy="78286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000" dirty="0"/>
              <a:t>IBM UDMH </a:t>
            </a:r>
            <a:r>
              <a:rPr lang="en-US" sz="2000" dirty="0" smtClean="0"/>
              <a:t>– Tenant &amp; Source System </a:t>
            </a:r>
            <a:r>
              <a:rPr lang="en-US" sz="2000" dirty="0"/>
              <a:t>Logical Data </a:t>
            </a:r>
            <a:r>
              <a:rPr lang="en-US" sz="2000" dirty="0" smtClean="0"/>
              <a:t>Model</a:t>
            </a:r>
            <a:endParaRPr lang="en-US" sz="2000" dirty="0"/>
          </a:p>
        </p:txBody>
      </p:sp>
      <p:pic>
        <p:nvPicPr>
          <p:cNvPr id="1026" name="Picture 1" descr="image0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908720"/>
            <a:ext cx="5832648" cy="468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3"/>
          <a:stretch>
            <a:fillRect/>
          </a:stretch>
        </p:blipFill>
        <p:spPr>
          <a:xfrm>
            <a:off x="5541988" y="5887775"/>
            <a:ext cx="3600450" cy="771914"/>
          </a:xfrm>
          <a:prstGeom prst="rect">
            <a:avLst/>
          </a:prstGeom>
        </p:spPr>
      </p:pic>
      <p:sp>
        <p:nvSpPr>
          <p:cNvPr id="10" name="TextBox 9"/>
          <p:cNvSpPr txBox="1"/>
          <p:nvPr/>
        </p:nvSpPr>
        <p:spPr>
          <a:xfrm>
            <a:off x="1562" y="5625244"/>
            <a:ext cx="7740860" cy="1000274"/>
          </a:xfrm>
          <a:prstGeom prst="rect">
            <a:avLst/>
          </a:prstGeom>
          <a:noFill/>
        </p:spPr>
        <p:txBody>
          <a:bodyPr wrap="square" rtlCol="0">
            <a:spAutoFit/>
          </a:bodyPr>
          <a:lstStyle/>
          <a:p>
            <a:pPr marL="342900" defTabSz="785813" eaLnBrk="0" hangingPunct="0">
              <a:buFont typeface="Wingdings" pitchFamily="2" charset="2"/>
              <a:buChar char="§"/>
            </a:pPr>
            <a:r>
              <a:rPr lang="en-US" sz="1600" b="1" dirty="0">
                <a:solidFill>
                  <a:schemeClr val="tx1">
                    <a:lumMod val="75000"/>
                    <a:lumOff val="25000"/>
                  </a:schemeClr>
                </a:solidFill>
              </a:rPr>
              <a:t>Anchor: </a:t>
            </a:r>
            <a:r>
              <a:rPr lang="en-US" sz="1600" dirty="0">
                <a:solidFill>
                  <a:schemeClr val="tx1">
                    <a:lumMod val="75000"/>
                    <a:lumOff val="25000"/>
                  </a:schemeClr>
                </a:solidFill>
              </a:rPr>
              <a:t>Anchor contain a list of unique business keys with low propensity to change</a:t>
            </a:r>
            <a:r>
              <a:rPr lang="en-US" sz="1600" dirty="0" smtClean="0">
                <a:solidFill>
                  <a:schemeClr val="tx1">
                    <a:lumMod val="75000"/>
                    <a:lumOff val="25000"/>
                  </a:schemeClr>
                </a:solidFill>
              </a:rPr>
              <a:t>.</a:t>
            </a:r>
          </a:p>
          <a:p>
            <a:pPr marL="342900" defTabSz="785813" eaLnBrk="0" hangingPunct="0">
              <a:buFont typeface="Wingdings" pitchFamily="2" charset="2"/>
              <a:buChar char="§"/>
            </a:pPr>
            <a:r>
              <a:rPr lang="en-US" sz="1600" b="1" dirty="0" smtClean="0">
                <a:solidFill>
                  <a:schemeClr val="tx1">
                    <a:lumMod val="75000"/>
                    <a:lumOff val="25000"/>
                  </a:schemeClr>
                </a:solidFill>
              </a:rPr>
              <a:t>Detail: </a:t>
            </a:r>
            <a:r>
              <a:rPr lang="en-US" sz="1600" dirty="0" smtClean="0">
                <a:solidFill>
                  <a:schemeClr val="tx1">
                    <a:lumMod val="75000"/>
                    <a:lumOff val="25000"/>
                  </a:schemeClr>
                </a:solidFill>
              </a:rPr>
              <a:t>Detail contain attributes about the Anchor</a:t>
            </a:r>
          </a:p>
          <a:p>
            <a:pPr marL="342900" defTabSz="785813" eaLnBrk="0" hangingPunct="0">
              <a:buFont typeface="Wingdings" pitchFamily="2" charset="2"/>
              <a:buChar char="§"/>
            </a:pPr>
            <a:r>
              <a:rPr lang="en-US" sz="1600" b="1" dirty="0" smtClean="0">
                <a:solidFill>
                  <a:schemeClr val="tx1">
                    <a:lumMod val="75000"/>
                    <a:lumOff val="25000"/>
                  </a:schemeClr>
                </a:solidFill>
              </a:rPr>
              <a:t>Associative</a:t>
            </a:r>
            <a:r>
              <a:rPr lang="en-US" sz="1600" b="1" dirty="0">
                <a:solidFill>
                  <a:schemeClr val="tx1">
                    <a:lumMod val="75000"/>
                    <a:lumOff val="25000"/>
                  </a:schemeClr>
                </a:solidFill>
              </a:rPr>
              <a:t>: </a:t>
            </a:r>
            <a:r>
              <a:rPr lang="en-US" sz="1600" dirty="0">
                <a:solidFill>
                  <a:schemeClr val="tx1">
                    <a:lumMod val="75000"/>
                    <a:lumOff val="25000"/>
                  </a:schemeClr>
                </a:solidFill>
              </a:rPr>
              <a:t>Store relationships between anchors</a:t>
            </a:r>
          </a:p>
          <a:p>
            <a:endParaRPr lang="en-US" sz="1100" dirty="0"/>
          </a:p>
        </p:txBody>
      </p:sp>
      <p:sp>
        <p:nvSpPr>
          <p:cNvPr id="11" name="TextBox 10"/>
          <p:cNvSpPr txBox="1"/>
          <p:nvPr/>
        </p:nvSpPr>
        <p:spPr>
          <a:xfrm>
            <a:off x="5920762" y="974895"/>
            <a:ext cx="2808312" cy="738664"/>
          </a:xfrm>
          <a:prstGeom prst="rect">
            <a:avLst/>
          </a:prstGeom>
          <a:noFill/>
        </p:spPr>
        <p:txBody>
          <a:bodyPr wrap="square" rtlCol="0">
            <a:spAutoFit/>
          </a:bodyPr>
          <a:lstStyle/>
          <a:p>
            <a:r>
              <a:rPr lang="en-US" sz="1400" b="1" u="sng" dirty="0" smtClean="0">
                <a:solidFill>
                  <a:srgbClr val="FF0000"/>
                </a:solidFill>
              </a:rPr>
              <a:t>Note: </a:t>
            </a:r>
            <a:r>
              <a:rPr lang="en-US" sz="1400" dirty="0" smtClean="0">
                <a:solidFill>
                  <a:srgbClr val="FF0000"/>
                </a:solidFill>
              </a:rPr>
              <a:t>Tenant and Source System relationship information will feed into this data model </a:t>
            </a:r>
            <a:endParaRPr lang="en-US" sz="1400" dirty="0">
              <a:solidFill>
                <a:srgbClr val="FF0000"/>
              </a:solidFill>
            </a:endParaRPr>
          </a:p>
        </p:txBody>
      </p:sp>
      <p:pic>
        <p:nvPicPr>
          <p:cNvPr id="12" name="Picture 11"/>
          <p:cNvPicPr>
            <a:picLocks noChangeAspect="1"/>
          </p:cNvPicPr>
          <p:nvPr/>
        </p:nvPicPr>
        <p:blipFill>
          <a:blip r:embed="rId4"/>
          <a:stretch>
            <a:fillRect/>
          </a:stretch>
        </p:blipFill>
        <p:spPr>
          <a:xfrm>
            <a:off x="6608947" y="139837"/>
            <a:ext cx="2266950" cy="413931"/>
          </a:xfrm>
          <a:prstGeom prst="rect">
            <a:avLst/>
          </a:prstGeom>
        </p:spPr>
      </p:pic>
    </p:spTree>
    <p:extLst>
      <p:ext uri="{BB962C8B-B14F-4D97-AF65-F5344CB8AC3E}">
        <p14:creationId xmlns:p14="http://schemas.microsoft.com/office/powerpoint/2010/main" val="26813353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04800" y="3104964"/>
            <a:ext cx="8534400" cy="3143436"/>
          </a:xfrm>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428206969"/>
              </p:ext>
            </p:extLst>
          </p:nvPr>
        </p:nvGraphicFramePr>
        <p:xfrm>
          <a:off x="441883" y="1665205"/>
          <a:ext cx="8282371" cy="2221116"/>
        </p:xfrm>
        <a:graphic>
          <a:graphicData uri="http://schemas.openxmlformats.org/drawingml/2006/table">
            <a:tbl>
              <a:tblPr firstRow="1" bandRow="1">
                <a:tableStyleId>{5C22544A-7EE6-4342-B048-85BDC9FD1C3A}</a:tableStyleId>
              </a:tblPr>
              <a:tblGrid>
                <a:gridCol w="1335292">
                  <a:extLst>
                    <a:ext uri="{9D8B030D-6E8A-4147-A177-3AD203B41FA5}">
                      <a16:colId xmlns:a16="http://schemas.microsoft.com/office/drawing/2014/main" val="369353511"/>
                    </a:ext>
                  </a:extLst>
                </a:gridCol>
                <a:gridCol w="1267239">
                  <a:extLst>
                    <a:ext uri="{9D8B030D-6E8A-4147-A177-3AD203B41FA5}">
                      <a16:colId xmlns:a16="http://schemas.microsoft.com/office/drawing/2014/main" val="3060262351"/>
                    </a:ext>
                  </a:extLst>
                </a:gridCol>
                <a:gridCol w="1637234">
                  <a:extLst>
                    <a:ext uri="{9D8B030D-6E8A-4147-A177-3AD203B41FA5}">
                      <a16:colId xmlns:a16="http://schemas.microsoft.com/office/drawing/2014/main" val="4003202744"/>
                    </a:ext>
                  </a:extLst>
                </a:gridCol>
                <a:gridCol w="1738351">
                  <a:extLst>
                    <a:ext uri="{9D8B030D-6E8A-4147-A177-3AD203B41FA5}">
                      <a16:colId xmlns:a16="http://schemas.microsoft.com/office/drawing/2014/main" val="1608706686"/>
                    </a:ext>
                  </a:extLst>
                </a:gridCol>
                <a:gridCol w="1260139">
                  <a:extLst>
                    <a:ext uri="{9D8B030D-6E8A-4147-A177-3AD203B41FA5}">
                      <a16:colId xmlns:a16="http://schemas.microsoft.com/office/drawing/2014/main" val="1441688438"/>
                    </a:ext>
                  </a:extLst>
                </a:gridCol>
                <a:gridCol w="1044116">
                  <a:extLst>
                    <a:ext uri="{9D8B030D-6E8A-4147-A177-3AD203B41FA5}">
                      <a16:colId xmlns:a16="http://schemas.microsoft.com/office/drawing/2014/main" val="4026990946"/>
                    </a:ext>
                  </a:extLst>
                </a:gridCol>
              </a:tblGrid>
              <a:tr h="553338">
                <a:tc>
                  <a:txBody>
                    <a:bodyPr/>
                    <a:lstStyle/>
                    <a:p>
                      <a:r>
                        <a:rPr lang="en-US" sz="1600" dirty="0"/>
                        <a:t>Source Code SK</a:t>
                      </a:r>
                    </a:p>
                  </a:txBody>
                  <a:tcPr/>
                </a:tc>
                <a:tc>
                  <a:txBody>
                    <a:bodyPr/>
                    <a:lstStyle/>
                    <a:p>
                      <a:r>
                        <a:rPr lang="en-US" sz="1600" dirty="0"/>
                        <a:t>Valid From</a:t>
                      </a:r>
                    </a:p>
                  </a:txBody>
                  <a:tcPr/>
                </a:tc>
                <a:tc>
                  <a:txBody>
                    <a:bodyPr/>
                    <a:lstStyle/>
                    <a:p>
                      <a:pPr marL="0" algn="l" defTabSz="914400" rtl="0" eaLnBrk="1" latinLnBrk="0" hangingPunct="1"/>
                      <a:r>
                        <a:rPr lang="en-US" sz="1600" b="1" kern="1200" dirty="0">
                          <a:solidFill>
                            <a:schemeClr val="lt1"/>
                          </a:solidFill>
                          <a:latin typeface="+mn-lt"/>
                          <a:ea typeface="+mn-ea"/>
                          <a:cs typeface="+mn-cs"/>
                        </a:rPr>
                        <a:t>Source Code BK</a:t>
                      </a:r>
                    </a:p>
                  </a:txBody>
                  <a:tcPr/>
                </a:tc>
                <a:tc>
                  <a:txBody>
                    <a:bodyPr/>
                    <a:lstStyle/>
                    <a:p>
                      <a:r>
                        <a:rPr lang="en-US" sz="1600" dirty="0"/>
                        <a:t>Source Sys</a:t>
                      </a:r>
                      <a:r>
                        <a:rPr lang="en-US" sz="1600" baseline="0" dirty="0"/>
                        <a:t> Desc</a:t>
                      </a:r>
                      <a:endParaRPr lang="en-US" sz="1600" dirty="0"/>
                    </a:p>
                  </a:txBody>
                  <a:tcPr/>
                </a:tc>
                <a:tc>
                  <a:txBody>
                    <a:bodyPr/>
                    <a:lstStyle/>
                    <a:p>
                      <a:r>
                        <a:rPr lang="en-US" sz="1600" dirty="0"/>
                        <a:t>Source Sys Name</a:t>
                      </a:r>
                    </a:p>
                  </a:txBody>
                  <a:tcPr/>
                </a:tc>
                <a:tc>
                  <a:txBody>
                    <a:bodyPr/>
                    <a:lstStyle/>
                    <a:p>
                      <a:r>
                        <a:rPr lang="en-US" sz="1600" dirty="0"/>
                        <a:t>Tenant</a:t>
                      </a:r>
                    </a:p>
                  </a:txBody>
                  <a:tcPr/>
                </a:tc>
                <a:extLst>
                  <a:ext uri="{0D108BD9-81ED-4DB2-BD59-A6C34878D82A}">
                    <a16:rowId xmlns:a16="http://schemas.microsoft.com/office/drawing/2014/main" val="362718907"/>
                  </a:ext>
                </a:extLst>
              </a:tr>
              <a:tr h="482666">
                <a:tc>
                  <a:txBody>
                    <a:bodyPr/>
                    <a:lstStyle/>
                    <a:p>
                      <a:r>
                        <a:rPr lang="en-US" sz="1400" dirty="0"/>
                        <a:t>81</a:t>
                      </a:r>
                    </a:p>
                  </a:txBody>
                  <a:tcPr/>
                </a:tc>
                <a:tc>
                  <a:txBody>
                    <a:bodyPr/>
                    <a:lstStyle/>
                    <a:p>
                      <a:r>
                        <a:rPr lang="en-US" sz="1400" dirty="0"/>
                        <a:t>8/1/2018</a:t>
                      </a:r>
                    </a:p>
                  </a:txBody>
                  <a:tcPr/>
                </a:tc>
                <a:tc>
                  <a:txBody>
                    <a:bodyPr/>
                    <a:lstStyle/>
                    <a:p>
                      <a:r>
                        <a:rPr lang="en-US" sz="1400" dirty="0" smtClean="0">
                          <a:solidFill>
                            <a:schemeClr val="tx1"/>
                          </a:solidFill>
                        </a:rPr>
                        <a:t>PHS_D~EPIC</a:t>
                      </a:r>
                      <a:endParaRPr lang="en-US" sz="14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Presbyterian</a:t>
                      </a:r>
                      <a:r>
                        <a:rPr lang="en-US" sz="1400" baseline="0" dirty="0" smtClean="0"/>
                        <a:t> Delivery System </a:t>
                      </a:r>
                      <a:r>
                        <a:rPr lang="en-US" sz="1400" dirty="0" smtClean="0"/>
                        <a:t>Epic Clarity</a:t>
                      </a:r>
                    </a:p>
                  </a:txBody>
                  <a:tcPr/>
                </a:tc>
                <a:tc>
                  <a:txBody>
                    <a:bodyPr/>
                    <a:lstStyle/>
                    <a:p>
                      <a:r>
                        <a:rPr lang="en-US" sz="1400" dirty="0" smtClean="0"/>
                        <a:t>Epic Clarity</a:t>
                      </a:r>
                      <a:endParaRPr lang="en-US" sz="1400" dirty="0"/>
                    </a:p>
                  </a:txBody>
                  <a:tcPr/>
                </a:tc>
                <a:tc>
                  <a:txBody>
                    <a:bodyPr/>
                    <a:lstStyle/>
                    <a:p>
                      <a:r>
                        <a:rPr lang="en-US" sz="1400" dirty="0" smtClean="0"/>
                        <a:t>PHS_D</a:t>
                      </a:r>
                      <a:endParaRPr lang="en-US" sz="1400" dirty="0"/>
                    </a:p>
                  </a:txBody>
                  <a:tcPr/>
                </a:tc>
                <a:extLst>
                  <a:ext uri="{0D108BD9-81ED-4DB2-BD59-A6C34878D82A}">
                    <a16:rowId xmlns:a16="http://schemas.microsoft.com/office/drawing/2014/main" val="2554245523"/>
                  </a:ext>
                </a:extLst>
              </a:tr>
              <a:tr h="320585">
                <a:tc>
                  <a:txBody>
                    <a:bodyPr/>
                    <a:lstStyle/>
                    <a:p>
                      <a:r>
                        <a:rPr lang="en-US" sz="1400" dirty="0" smtClean="0"/>
                        <a:t>82</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8/1/2018</a:t>
                      </a:r>
                    </a:p>
                  </a:txBody>
                  <a:tcPr/>
                </a:tc>
                <a:tc>
                  <a:txBody>
                    <a:bodyPr/>
                    <a:lstStyle/>
                    <a:p>
                      <a:r>
                        <a:rPr lang="en-US" sz="1400" dirty="0" smtClean="0">
                          <a:solidFill>
                            <a:schemeClr val="tx1"/>
                          </a:solidFill>
                        </a:rPr>
                        <a:t>PNI~FCTS</a:t>
                      </a:r>
                      <a:endParaRPr lang="en-US" sz="14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PNI Facets ODS</a:t>
                      </a:r>
                    </a:p>
                  </a:txBody>
                  <a:tcPr/>
                </a:tc>
                <a:tc>
                  <a:txBody>
                    <a:bodyPr/>
                    <a:lstStyle/>
                    <a:p>
                      <a:r>
                        <a:rPr lang="en-US" sz="1400" dirty="0" smtClean="0"/>
                        <a:t>Facets ODS</a:t>
                      </a:r>
                      <a:endParaRPr lang="en-US" sz="1400" dirty="0"/>
                    </a:p>
                  </a:txBody>
                  <a:tcPr/>
                </a:tc>
                <a:tc>
                  <a:txBody>
                    <a:bodyPr/>
                    <a:lstStyle/>
                    <a:p>
                      <a:r>
                        <a:rPr lang="en-US" sz="1400" dirty="0" smtClean="0"/>
                        <a:t>PNI</a:t>
                      </a:r>
                      <a:endParaRPr lang="en-US" sz="1400" dirty="0"/>
                    </a:p>
                  </a:txBody>
                  <a:tcPr/>
                </a:tc>
                <a:extLst>
                  <a:ext uri="{0D108BD9-81ED-4DB2-BD59-A6C34878D82A}">
                    <a16:rowId xmlns:a16="http://schemas.microsoft.com/office/drawing/2014/main" val="1708898812"/>
                  </a:ext>
                </a:extLst>
              </a:tr>
              <a:tr h="320585">
                <a:tc>
                  <a:txBody>
                    <a:bodyPr/>
                    <a:lstStyle/>
                    <a:p>
                      <a:r>
                        <a:rPr lang="en-US" sz="1400" dirty="0" smtClean="0"/>
                        <a:t>83</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8/1/2018</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NCPOP~FCTS</a:t>
                      </a:r>
                      <a:endParaRPr lang="en-US" sz="140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NCPOP</a:t>
                      </a:r>
                      <a:r>
                        <a:rPr lang="en-US" sz="1400" baseline="0" dirty="0" smtClean="0"/>
                        <a:t> </a:t>
                      </a:r>
                      <a:r>
                        <a:rPr lang="en-US" sz="1400" dirty="0" smtClean="0"/>
                        <a:t>Facets</a:t>
                      </a:r>
                      <a:r>
                        <a:rPr lang="en-US" sz="1400" baseline="0" dirty="0" smtClean="0"/>
                        <a:t> ODS</a:t>
                      </a:r>
                      <a:endParaRPr lang="en-US" sz="1400" dirty="0" smtClean="0"/>
                    </a:p>
                  </a:txBody>
                  <a:tcPr/>
                </a:tc>
                <a:tc>
                  <a:txBody>
                    <a:bodyPr/>
                    <a:lstStyle/>
                    <a:p>
                      <a:r>
                        <a:rPr lang="en-US" sz="1400" dirty="0" smtClean="0"/>
                        <a:t>Facets</a:t>
                      </a:r>
                      <a:r>
                        <a:rPr lang="en-US" sz="1400" baseline="0" dirty="0" smtClean="0"/>
                        <a:t> ODS</a:t>
                      </a:r>
                      <a:endParaRPr lang="en-US" sz="1400" dirty="0"/>
                    </a:p>
                  </a:txBody>
                  <a:tcPr/>
                </a:tc>
                <a:tc>
                  <a:txBody>
                    <a:bodyPr/>
                    <a:lstStyle/>
                    <a:p>
                      <a:r>
                        <a:rPr lang="en-US" sz="1400" dirty="0" smtClean="0"/>
                        <a:t>NCPOP</a:t>
                      </a:r>
                      <a:endParaRPr lang="en-US" sz="1400" dirty="0"/>
                    </a:p>
                  </a:txBody>
                  <a:tcPr/>
                </a:tc>
                <a:extLst>
                  <a:ext uri="{0D108BD9-81ED-4DB2-BD59-A6C34878D82A}">
                    <a16:rowId xmlns:a16="http://schemas.microsoft.com/office/drawing/2014/main" val="2766476636"/>
                  </a:ext>
                </a:extLst>
              </a:tr>
              <a:tr h="482666">
                <a:tc>
                  <a:txBody>
                    <a:bodyPr/>
                    <a:lstStyle/>
                    <a:p>
                      <a:r>
                        <a:rPr lang="en-US" sz="1400" b="0" dirty="0" smtClean="0">
                          <a:solidFill>
                            <a:schemeClr val="tx1"/>
                          </a:solidFill>
                        </a:rPr>
                        <a:t>84</a:t>
                      </a:r>
                      <a:endParaRPr lang="en-US"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8/1/2018</a:t>
                      </a:r>
                      <a:endParaRPr lang="en-US" sz="1400" b="0" dirty="0">
                        <a:solidFill>
                          <a:schemeClr val="tx1"/>
                        </a:solidFill>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PHS~ENTP</a:t>
                      </a:r>
                      <a:endParaRPr lang="en-US" sz="1400" b="0" dirty="0">
                        <a:solidFill>
                          <a:schemeClr val="tx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PHS Enterprise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dirty="0" smtClean="0">
                          <a:solidFill>
                            <a:schemeClr val="tx1"/>
                          </a:solidFill>
                        </a:rPr>
                        <a:t>PHS Enterprise</a:t>
                      </a:r>
                    </a:p>
                  </a:txBody>
                  <a:tcPr/>
                </a:tc>
                <a:tc>
                  <a:txBody>
                    <a:bodyPr/>
                    <a:lstStyle/>
                    <a:p>
                      <a:r>
                        <a:rPr lang="en-US" sz="1400" b="0" dirty="0" smtClean="0">
                          <a:solidFill>
                            <a:schemeClr val="tx1"/>
                          </a:solidFill>
                        </a:rPr>
                        <a:t>PHS</a:t>
                      </a:r>
                      <a:endParaRPr lang="en-US" sz="1400" b="0" dirty="0">
                        <a:solidFill>
                          <a:schemeClr val="tx1"/>
                        </a:solidFill>
                      </a:endParaRPr>
                    </a:p>
                  </a:txBody>
                  <a:tcPr/>
                </a:tc>
                <a:extLst>
                  <a:ext uri="{0D108BD9-81ED-4DB2-BD59-A6C34878D82A}">
                    <a16:rowId xmlns:a16="http://schemas.microsoft.com/office/drawing/2014/main" val="3165842576"/>
                  </a:ext>
                </a:extLst>
              </a:tr>
            </a:tbl>
          </a:graphicData>
        </a:graphic>
      </p:graphicFrame>
      <p:sp>
        <p:nvSpPr>
          <p:cNvPr id="6" name="TextBox 5"/>
          <p:cNvSpPr txBox="1"/>
          <p:nvPr/>
        </p:nvSpPr>
        <p:spPr>
          <a:xfrm>
            <a:off x="404588" y="3925712"/>
            <a:ext cx="8424936" cy="461665"/>
          </a:xfrm>
          <a:prstGeom prst="rect">
            <a:avLst/>
          </a:prstGeom>
          <a:noFill/>
        </p:spPr>
        <p:txBody>
          <a:bodyPr wrap="square" rtlCol="0">
            <a:spAutoFit/>
          </a:bodyPr>
          <a:lstStyle/>
          <a:p>
            <a:pPr marL="342900" indent="-342900">
              <a:spcBef>
                <a:spcPct val="20000"/>
              </a:spcBef>
              <a:buFont typeface="Wingdings" pitchFamily="2" charset="2"/>
              <a:buChar char="§"/>
            </a:pPr>
            <a:r>
              <a:rPr lang="en-US" sz="1200" dirty="0" smtClean="0">
                <a:solidFill>
                  <a:srgbClr val="FF0000"/>
                </a:solidFill>
              </a:rPr>
              <a:t>IRADW Solution Architecture Team in coordination with Data Governance will define the source System business keys, Source system Name &amp; Source Sys Description for IRADW IBM UDMH data model</a:t>
            </a:r>
          </a:p>
        </p:txBody>
      </p:sp>
      <p:sp>
        <p:nvSpPr>
          <p:cNvPr id="7" name="Title 1"/>
          <p:cNvSpPr txBox="1">
            <a:spLocks/>
          </p:cNvSpPr>
          <p:nvPr/>
        </p:nvSpPr>
        <p:spPr>
          <a:xfrm>
            <a:off x="441883" y="251968"/>
            <a:ext cx="6252938"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000" dirty="0"/>
              <a:t>IBM UDMH - Tenant &amp; Source System Logical Data </a:t>
            </a:r>
            <a:r>
              <a:rPr lang="en-US" sz="2000" dirty="0" smtClean="0"/>
              <a:t>Model Cont’d.. </a:t>
            </a:r>
            <a:r>
              <a:rPr lang="en-US" sz="1800" b="0" i="1" dirty="0" smtClean="0"/>
              <a:t>(Source System entity example with data)</a:t>
            </a:r>
            <a:endParaRPr lang="en-US" sz="1800" b="0" i="1" dirty="0"/>
          </a:p>
        </p:txBody>
      </p:sp>
      <p:sp>
        <p:nvSpPr>
          <p:cNvPr id="9" name="TextBox 8"/>
          <p:cNvSpPr txBox="1"/>
          <p:nvPr/>
        </p:nvSpPr>
        <p:spPr>
          <a:xfrm>
            <a:off x="550622" y="4819425"/>
            <a:ext cx="4356484" cy="738664"/>
          </a:xfrm>
          <a:prstGeom prst="rect">
            <a:avLst/>
          </a:prstGeom>
          <a:noFill/>
        </p:spPr>
        <p:txBody>
          <a:bodyPr wrap="square" rtlCol="0">
            <a:spAutoFit/>
          </a:bodyPr>
          <a:lstStyle/>
          <a:p>
            <a:r>
              <a:rPr lang="en-US" sz="1400" b="1" i="1" u="sng" dirty="0" smtClean="0">
                <a:solidFill>
                  <a:srgbClr val="FF0000"/>
                </a:solidFill>
              </a:rPr>
              <a:t>Note: </a:t>
            </a:r>
            <a:r>
              <a:rPr lang="en-US" sz="1400" dirty="0" smtClean="0">
                <a:solidFill>
                  <a:srgbClr val="FF0000"/>
                </a:solidFill>
              </a:rPr>
              <a:t>Designation of  Source system with Tenant is valuable information to identify where the data is originated from</a:t>
            </a:r>
            <a:endParaRPr lang="en-US" sz="1400" dirty="0">
              <a:solidFill>
                <a:srgbClr val="FF0000"/>
              </a:solidFill>
            </a:endParaRPr>
          </a:p>
        </p:txBody>
      </p:sp>
      <p:pic>
        <p:nvPicPr>
          <p:cNvPr id="10" name="Picture 9"/>
          <p:cNvPicPr>
            <a:picLocks noChangeAspect="1"/>
          </p:cNvPicPr>
          <p:nvPr/>
        </p:nvPicPr>
        <p:blipFill>
          <a:blip r:embed="rId2"/>
          <a:stretch>
            <a:fillRect/>
          </a:stretch>
        </p:blipFill>
        <p:spPr>
          <a:xfrm>
            <a:off x="6732240" y="152800"/>
            <a:ext cx="2266950" cy="413931"/>
          </a:xfrm>
          <a:prstGeom prst="rect">
            <a:avLst/>
          </a:prstGeom>
        </p:spPr>
      </p:pic>
    </p:spTree>
    <p:extLst>
      <p:ext uri="{BB962C8B-B14F-4D97-AF65-F5344CB8AC3E}">
        <p14:creationId xmlns:p14="http://schemas.microsoft.com/office/powerpoint/2010/main" val="14515277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pic>
        <p:nvPicPr>
          <p:cNvPr id="3" name="Picture 2"/>
          <p:cNvPicPr>
            <a:picLocks noChangeAspect="1"/>
          </p:cNvPicPr>
          <p:nvPr/>
        </p:nvPicPr>
        <p:blipFill>
          <a:blip r:embed="rId2"/>
          <a:stretch>
            <a:fillRect/>
          </a:stretch>
        </p:blipFill>
        <p:spPr>
          <a:xfrm>
            <a:off x="228600" y="1281112"/>
            <a:ext cx="8663880" cy="4812184"/>
          </a:xfrm>
          <a:prstGeom prst="rect">
            <a:avLst/>
          </a:prstGeom>
        </p:spPr>
      </p:pic>
      <p:sp>
        <p:nvSpPr>
          <p:cNvPr id="5" name="Title 1"/>
          <p:cNvSpPr txBox="1">
            <a:spLocks/>
          </p:cNvSpPr>
          <p:nvPr/>
        </p:nvSpPr>
        <p:spPr>
          <a:xfrm>
            <a:off x="107504" y="298180"/>
            <a:ext cx="6624736"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000" dirty="0" smtClean="0">
                <a:solidFill>
                  <a:prstClr val="black">
                    <a:lumMod val="75000"/>
                    <a:lumOff val="25000"/>
                  </a:prstClr>
                </a:solidFill>
              </a:rPr>
              <a:t>IBM UDMH: Tenant Entity-relationship with Health Plan Data</a:t>
            </a:r>
          </a:p>
          <a:p>
            <a:r>
              <a:rPr lang="en-US" sz="1200" b="0" i="1" dirty="0" smtClean="0">
                <a:solidFill>
                  <a:prstClr val="black">
                    <a:lumMod val="75000"/>
                    <a:lumOff val="25000"/>
                  </a:prstClr>
                </a:solidFill>
              </a:rPr>
              <a:t>This is only an </a:t>
            </a:r>
            <a:r>
              <a:rPr lang="en-US" sz="1200" i="1" dirty="0" smtClean="0">
                <a:solidFill>
                  <a:prstClr val="black">
                    <a:lumMod val="75000"/>
                    <a:lumOff val="25000"/>
                  </a:prstClr>
                </a:solidFill>
              </a:rPr>
              <a:t>example</a:t>
            </a:r>
            <a:r>
              <a:rPr lang="en-US" sz="1200" b="0" i="1" dirty="0" smtClean="0">
                <a:solidFill>
                  <a:prstClr val="black">
                    <a:lumMod val="75000"/>
                    <a:lumOff val="25000"/>
                  </a:prstClr>
                </a:solidFill>
              </a:rPr>
              <a:t> to show how Tenant is related to every source data that will be ingested into IBM UDMH data model</a:t>
            </a:r>
            <a:endParaRPr lang="en-US" sz="1200" b="0" i="1" dirty="0"/>
          </a:p>
        </p:txBody>
      </p:sp>
      <p:pic>
        <p:nvPicPr>
          <p:cNvPr id="6" name="Picture 5"/>
          <p:cNvPicPr>
            <a:picLocks noChangeAspect="1"/>
          </p:cNvPicPr>
          <p:nvPr/>
        </p:nvPicPr>
        <p:blipFill>
          <a:blip r:embed="rId3"/>
          <a:stretch>
            <a:fillRect/>
          </a:stretch>
        </p:blipFill>
        <p:spPr>
          <a:xfrm>
            <a:off x="6192180" y="6444069"/>
            <a:ext cx="2266950" cy="413931"/>
          </a:xfrm>
          <a:prstGeom prst="rect">
            <a:avLst/>
          </a:prstGeom>
        </p:spPr>
      </p:pic>
      <p:pic>
        <p:nvPicPr>
          <p:cNvPr id="7" name="Picture 6"/>
          <p:cNvPicPr>
            <a:picLocks noChangeAspect="1"/>
          </p:cNvPicPr>
          <p:nvPr/>
        </p:nvPicPr>
        <p:blipFill>
          <a:blip r:embed="rId3"/>
          <a:stretch>
            <a:fillRect/>
          </a:stretch>
        </p:blipFill>
        <p:spPr>
          <a:xfrm>
            <a:off x="6804248" y="196109"/>
            <a:ext cx="2266950" cy="413931"/>
          </a:xfrm>
          <a:prstGeom prst="rect">
            <a:avLst/>
          </a:prstGeom>
        </p:spPr>
      </p:pic>
    </p:spTree>
    <p:extLst>
      <p:ext uri="{BB962C8B-B14F-4D97-AF65-F5344CB8AC3E}">
        <p14:creationId xmlns:p14="http://schemas.microsoft.com/office/powerpoint/2010/main" val="42733956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22076" y="785428"/>
            <a:ext cx="8534400" cy="5559896"/>
          </a:xfrm>
        </p:spPr>
        <p:txBody>
          <a:bodyPr>
            <a:noAutofit/>
          </a:bodyPr>
          <a:lstStyle/>
          <a:p>
            <a:pPr defTabSz="785813" eaLnBrk="0" hangingPunct="0">
              <a:spcBef>
                <a:spcPts val="1200"/>
              </a:spcBef>
            </a:pPr>
            <a:endParaRPr lang="en-US" sz="2000" b="1" dirty="0" smtClean="0"/>
          </a:p>
          <a:p>
            <a:pPr defTabSz="785813" eaLnBrk="0" hangingPunct="0">
              <a:spcBef>
                <a:spcPts val="1200"/>
              </a:spcBef>
            </a:pPr>
            <a:r>
              <a:rPr lang="en-US" sz="2000" b="1" dirty="0" smtClean="0"/>
              <a:t>Plan </a:t>
            </a:r>
            <a:r>
              <a:rPr lang="en-US" sz="2000" b="1" dirty="0"/>
              <a:t>Member </a:t>
            </a:r>
            <a:r>
              <a:rPr lang="en-US" sz="2000" b="1" dirty="0" smtClean="0"/>
              <a:t>Table </a:t>
            </a:r>
            <a:r>
              <a:rPr lang="en-US" sz="1600" i="1" dirty="0" smtClean="0"/>
              <a:t>(Shows the data row belongs to which Tenant)</a:t>
            </a:r>
            <a:endParaRPr lang="en-US" sz="1600" i="1" dirty="0"/>
          </a:p>
          <a:p>
            <a:pPr defTabSz="785813" eaLnBrk="0" hangingPunct="0">
              <a:spcBef>
                <a:spcPts val="1200"/>
              </a:spcBef>
            </a:pPr>
            <a:endParaRPr lang="en-US" sz="1600" dirty="0"/>
          </a:p>
          <a:p>
            <a:pPr defTabSz="785813" eaLnBrk="0" hangingPunct="0">
              <a:spcBef>
                <a:spcPts val="1200"/>
              </a:spcBef>
            </a:pPr>
            <a:endParaRPr lang="en-US" sz="1600" dirty="0"/>
          </a:p>
          <a:p>
            <a:pPr defTabSz="785813" eaLnBrk="0" hangingPunct="0">
              <a:spcBef>
                <a:spcPts val="1200"/>
              </a:spcBef>
            </a:pPr>
            <a:endParaRPr lang="en-US" sz="1600" dirty="0"/>
          </a:p>
          <a:p>
            <a:pPr lvl="1" defTabSz="785813" eaLnBrk="0" hangingPunct="0">
              <a:spcBef>
                <a:spcPts val="600"/>
              </a:spcBef>
              <a:spcAft>
                <a:spcPts val="300"/>
              </a:spcAft>
              <a:buFont typeface="Courier New" panose="02070309020205020404" pitchFamily="49" charset="0"/>
              <a:buChar char="o"/>
            </a:pPr>
            <a:endParaRPr lang="en-US" sz="1600" b="1" dirty="0" smtClean="0"/>
          </a:p>
          <a:p>
            <a:pPr defTabSz="785813" eaLnBrk="0" hangingPunct="0">
              <a:spcBef>
                <a:spcPts val="600"/>
              </a:spcBef>
              <a:spcAft>
                <a:spcPts val="300"/>
              </a:spcAft>
            </a:pPr>
            <a:r>
              <a:rPr lang="en-US" sz="2000" b="1" dirty="0" smtClean="0"/>
              <a:t>Plan </a:t>
            </a:r>
            <a:r>
              <a:rPr lang="en-US" sz="2000" b="1" dirty="0"/>
              <a:t>Member </a:t>
            </a:r>
            <a:r>
              <a:rPr lang="en-US" sz="2000" b="1" dirty="0" smtClean="0"/>
              <a:t>Detailed Table </a:t>
            </a:r>
            <a:r>
              <a:rPr lang="en-US" sz="1600" i="1" dirty="0"/>
              <a:t>(Shows the data row belongs to which </a:t>
            </a:r>
            <a:r>
              <a:rPr lang="en-US" sz="1600" i="1" dirty="0" smtClean="0"/>
              <a:t>Tenant and source system)</a:t>
            </a:r>
            <a:endParaRPr lang="en-US" sz="1600" i="1" dirty="0"/>
          </a:p>
          <a:p>
            <a:pPr defTabSz="785813" eaLnBrk="0" hangingPunct="0">
              <a:spcBef>
                <a:spcPts val="600"/>
              </a:spcBef>
              <a:spcAft>
                <a:spcPts val="300"/>
              </a:spcAft>
            </a:pPr>
            <a:endParaRPr lang="en-US" sz="2000" b="1" dirty="0"/>
          </a:p>
        </p:txBody>
      </p:sp>
      <p:graphicFrame>
        <p:nvGraphicFramePr>
          <p:cNvPr id="3" name="Table 2"/>
          <p:cNvGraphicFramePr>
            <a:graphicFrameLocks noGrp="1"/>
          </p:cNvGraphicFramePr>
          <p:nvPr>
            <p:extLst>
              <p:ext uri="{D42A27DB-BD31-4B8C-83A1-F6EECF244321}">
                <p14:modId xmlns:p14="http://schemas.microsoft.com/office/powerpoint/2010/main" val="3681334797"/>
              </p:ext>
            </p:extLst>
          </p:nvPr>
        </p:nvGraphicFramePr>
        <p:xfrm>
          <a:off x="539552" y="1825793"/>
          <a:ext cx="5652628" cy="1163766"/>
        </p:xfrm>
        <a:graphic>
          <a:graphicData uri="http://schemas.openxmlformats.org/drawingml/2006/table">
            <a:tbl>
              <a:tblPr firstRow="1" bandRow="1">
                <a:tableStyleId>{5C22544A-7EE6-4342-B048-85BDC9FD1C3A}</a:tableStyleId>
              </a:tblPr>
              <a:tblGrid>
                <a:gridCol w="1447600">
                  <a:extLst>
                    <a:ext uri="{9D8B030D-6E8A-4147-A177-3AD203B41FA5}">
                      <a16:colId xmlns:a16="http://schemas.microsoft.com/office/drawing/2014/main" val="2672971796"/>
                    </a:ext>
                  </a:extLst>
                </a:gridCol>
                <a:gridCol w="2376151">
                  <a:extLst>
                    <a:ext uri="{9D8B030D-6E8A-4147-A177-3AD203B41FA5}">
                      <a16:colId xmlns:a16="http://schemas.microsoft.com/office/drawing/2014/main" val="269747904"/>
                    </a:ext>
                  </a:extLst>
                </a:gridCol>
                <a:gridCol w="1828877">
                  <a:extLst>
                    <a:ext uri="{9D8B030D-6E8A-4147-A177-3AD203B41FA5}">
                      <a16:colId xmlns:a16="http://schemas.microsoft.com/office/drawing/2014/main" val="2836594572"/>
                    </a:ext>
                  </a:extLst>
                </a:gridCol>
              </a:tblGrid>
              <a:tr h="498780">
                <a:tc>
                  <a:txBody>
                    <a:bodyPr/>
                    <a:lstStyle/>
                    <a:p>
                      <a:r>
                        <a:rPr lang="en-US" sz="1400" dirty="0"/>
                        <a:t>Plan Member </a:t>
                      </a:r>
                      <a:r>
                        <a:rPr lang="en-US" sz="1400" dirty="0" err="1"/>
                        <a:t>Sk</a:t>
                      </a:r>
                      <a:endParaRPr lang="en-US" sz="1400" dirty="0"/>
                    </a:p>
                  </a:txBody>
                  <a:tcPr/>
                </a:tc>
                <a:tc>
                  <a:txBody>
                    <a:bodyPr/>
                    <a:lstStyle/>
                    <a:p>
                      <a:r>
                        <a:rPr lang="en-US" sz="1400" dirty="0"/>
                        <a:t>Plan Member Bk</a:t>
                      </a:r>
                    </a:p>
                  </a:txBody>
                  <a:tcPr/>
                </a:tc>
                <a:tc>
                  <a:txBody>
                    <a:bodyPr/>
                    <a:lstStyle/>
                    <a:p>
                      <a:r>
                        <a:rPr lang="en-US" sz="1400" dirty="0"/>
                        <a:t>Tenant </a:t>
                      </a:r>
                      <a:r>
                        <a:rPr lang="en-US" sz="1400" dirty="0" smtClean="0"/>
                        <a:t> (Conceptual)</a:t>
                      </a:r>
                      <a:endParaRPr lang="en-US" sz="1400" dirty="0"/>
                    </a:p>
                  </a:txBody>
                  <a:tcPr/>
                </a:tc>
                <a:extLst>
                  <a:ext uri="{0D108BD9-81ED-4DB2-BD59-A6C34878D82A}">
                    <a16:rowId xmlns:a16="http://schemas.microsoft.com/office/drawing/2014/main" val="3147509334"/>
                  </a:ext>
                </a:extLst>
              </a:tr>
              <a:tr h="343682">
                <a:tc>
                  <a:txBody>
                    <a:bodyPr/>
                    <a:lstStyle/>
                    <a:p>
                      <a:r>
                        <a:rPr lang="en-US" sz="1400" dirty="0"/>
                        <a:t>11</a:t>
                      </a:r>
                    </a:p>
                  </a:txBody>
                  <a:tcPr/>
                </a:tc>
                <a:tc>
                  <a:txBody>
                    <a:bodyPr/>
                    <a:lstStyle/>
                    <a:p>
                      <a:r>
                        <a:rPr lang="en-US" sz="1400" dirty="0" smtClean="0"/>
                        <a:t>PNI~FCTS~894844</a:t>
                      </a:r>
                      <a:endParaRPr lang="en-US" sz="1400" dirty="0"/>
                    </a:p>
                  </a:txBody>
                  <a:tcPr/>
                </a:tc>
                <a:tc>
                  <a:txBody>
                    <a:bodyPr/>
                    <a:lstStyle/>
                    <a:p>
                      <a:r>
                        <a:rPr lang="en-US" sz="1400" dirty="0" smtClean="0"/>
                        <a:t>PNI</a:t>
                      </a:r>
                      <a:endParaRPr lang="en-US" sz="1400" dirty="0"/>
                    </a:p>
                  </a:txBody>
                  <a:tcPr/>
                </a:tc>
                <a:extLst>
                  <a:ext uri="{0D108BD9-81ED-4DB2-BD59-A6C34878D82A}">
                    <a16:rowId xmlns:a16="http://schemas.microsoft.com/office/drawing/2014/main" val="3540630122"/>
                  </a:ext>
                </a:extLst>
              </a:tr>
              <a:tr h="321304">
                <a:tc>
                  <a:txBody>
                    <a:bodyPr/>
                    <a:lstStyle/>
                    <a:p>
                      <a:r>
                        <a:rPr lang="en-US" sz="1400" dirty="0"/>
                        <a: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NCPOP~FCTS~7478379</a:t>
                      </a:r>
                      <a:endParaRPr lang="en-US" sz="1400" dirty="0"/>
                    </a:p>
                  </a:txBody>
                  <a:tcPr/>
                </a:tc>
                <a:tc>
                  <a:txBody>
                    <a:bodyPr/>
                    <a:lstStyle/>
                    <a:p>
                      <a:r>
                        <a:rPr lang="en-US" sz="1400" dirty="0" smtClean="0"/>
                        <a:t>NCPOP</a:t>
                      </a:r>
                      <a:endParaRPr lang="en-US" sz="1400" dirty="0"/>
                    </a:p>
                  </a:txBody>
                  <a:tcPr/>
                </a:tc>
                <a:extLst>
                  <a:ext uri="{0D108BD9-81ED-4DB2-BD59-A6C34878D82A}">
                    <a16:rowId xmlns:a16="http://schemas.microsoft.com/office/drawing/2014/main" val="1381593496"/>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839389437"/>
              </p:ext>
            </p:extLst>
          </p:nvPr>
        </p:nvGraphicFramePr>
        <p:xfrm>
          <a:off x="421448" y="4029924"/>
          <a:ext cx="8479670" cy="1644261"/>
        </p:xfrm>
        <a:graphic>
          <a:graphicData uri="http://schemas.openxmlformats.org/drawingml/2006/table">
            <a:tbl>
              <a:tblPr firstRow="1" bandRow="1">
                <a:tableStyleId>{5C22544A-7EE6-4342-B048-85BDC9FD1C3A}</a:tableStyleId>
              </a:tblPr>
              <a:tblGrid>
                <a:gridCol w="1270097">
                  <a:extLst>
                    <a:ext uri="{9D8B030D-6E8A-4147-A177-3AD203B41FA5}">
                      <a16:colId xmlns:a16="http://schemas.microsoft.com/office/drawing/2014/main" val="196916845"/>
                    </a:ext>
                  </a:extLst>
                </a:gridCol>
                <a:gridCol w="1108468">
                  <a:extLst>
                    <a:ext uri="{9D8B030D-6E8A-4147-A177-3AD203B41FA5}">
                      <a16:colId xmlns:a16="http://schemas.microsoft.com/office/drawing/2014/main" val="2008813907"/>
                    </a:ext>
                  </a:extLst>
                </a:gridCol>
                <a:gridCol w="776698">
                  <a:extLst>
                    <a:ext uri="{9D8B030D-6E8A-4147-A177-3AD203B41FA5}">
                      <a16:colId xmlns:a16="http://schemas.microsoft.com/office/drawing/2014/main" val="3853195039"/>
                    </a:ext>
                  </a:extLst>
                </a:gridCol>
                <a:gridCol w="1082668">
                  <a:extLst>
                    <a:ext uri="{9D8B030D-6E8A-4147-A177-3AD203B41FA5}">
                      <a16:colId xmlns:a16="http://schemas.microsoft.com/office/drawing/2014/main" val="402154137"/>
                    </a:ext>
                  </a:extLst>
                </a:gridCol>
                <a:gridCol w="965441">
                  <a:extLst>
                    <a:ext uri="{9D8B030D-6E8A-4147-A177-3AD203B41FA5}">
                      <a16:colId xmlns:a16="http://schemas.microsoft.com/office/drawing/2014/main" val="2067754369"/>
                    </a:ext>
                  </a:extLst>
                </a:gridCol>
                <a:gridCol w="965441">
                  <a:extLst>
                    <a:ext uri="{9D8B030D-6E8A-4147-A177-3AD203B41FA5}">
                      <a16:colId xmlns:a16="http://schemas.microsoft.com/office/drawing/2014/main" val="1321158695"/>
                    </a:ext>
                  </a:extLst>
                </a:gridCol>
                <a:gridCol w="947232">
                  <a:extLst>
                    <a:ext uri="{9D8B030D-6E8A-4147-A177-3AD203B41FA5}">
                      <a16:colId xmlns:a16="http://schemas.microsoft.com/office/drawing/2014/main" val="2572073887"/>
                    </a:ext>
                  </a:extLst>
                </a:gridCol>
                <a:gridCol w="1363625">
                  <a:extLst>
                    <a:ext uri="{9D8B030D-6E8A-4147-A177-3AD203B41FA5}">
                      <a16:colId xmlns:a16="http://schemas.microsoft.com/office/drawing/2014/main" val="336416262"/>
                    </a:ext>
                  </a:extLst>
                </a:gridCol>
              </a:tblGrid>
              <a:tr h="607941">
                <a:tc>
                  <a:txBody>
                    <a:bodyPr/>
                    <a:lstStyle/>
                    <a:p>
                      <a:r>
                        <a:rPr lang="en-US" sz="1400" dirty="0"/>
                        <a:t>Plan Member </a:t>
                      </a:r>
                      <a:r>
                        <a:rPr lang="en-US" sz="1400" dirty="0" err="1"/>
                        <a:t>Sk</a:t>
                      </a:r>
                      <a:endParaRPr lang="en-US" sz="1400" dirty="0"/>
                    </a:p>
                  </a:txBody>
                  <a:tcPr/>
                </a:tc>
                <a:tc>
                  <a:txBody>
                    <a:bodyPr/>
                    <a:lstStyle/>
                    <a:p>
                      <a:r>
                        <a:rPr lang="en-US" sz="1400" dirty="0"/>
                        <a:t>Valid From </a:t>
                      </a:r>
                    </a:p>
                  </a:txBody>
                  <a:tcPr/>
                </a:tc>
                <a:tc>
                  <a:txBody>
                    <a:bodyPr/>
                    <a:lstStyle/>
                    <a:p>
                      <a:r>
                        <a:rPr lang="en-US" sz="1400" dirty="0"/>
                        <a:t>Valid To</a:t>
                      </a:r>
                    </a:p>
                  </a:txBody>
                  <a:tcPr/>
                </a:tc>
                <a:tc>
                  <a:txBody>
                    <a:bodyPr/>
                    <a:lstStyle/>
                    <a:p>
                      <a:r>
                        <a:rPr lang="en-US" sz="1400" dirty="0"/>
                        <a:t>Effective From Dt</a:t>
                      </a:r>
                    </a:p>
                  </a:txBody>
                  <a:tcPr/>
                </a:tc>
                <a:tc>
                  <a:txBody>
                    <a:bodyPr/>
                    <a:lstStyle/>
                    <a:p>
                      <a:r>
                        <a:rPr lang="en-US" sz="1400" dirty="0"/>
                        <a:t>Effective To Dt</a:t>
                      </a:r>
                    </a:p>
                  </a:txBody>
                  <a:tcPr/>
                </a:tc>
                <a:tc>
                  <a:txBody>
                    <a:bodyPr/>
                    <a:lstStyle/>
                    <a:p>
                      <a:r>
                        <a:rPr lang="en-US" sz="1400" dirty="0"/>
                        <a:t>Tenant </a:t>
                      </a:r>
                    </a:p>
                  </a:txBody>
                  <a:tcPr/>
                </a:tc>
                <a:tc>
                  <a:txBody>
                    <a:bodyPr/>
                    <a:lstStyle/>
                    <a:p>
                      <a:r>
                        <a:rPr lang="en-US" sz="1400" dirty="0"/>
                        <a:t>Insurance </a:t>
                      </a:r>
                      <a:r>
                        <a:rPr lang="en-US" sz="1400" dirty="0" err="1"/>
                        <a:t>Num</a:t>
                      </a:r>
                      <a:endParaRPr lang="en-US" sz="1400" dirty="0"/>
                    </a:p>
                  </a:txBody>
                  <a:tcPr/>
                </a:tc>
                <a:tc>
                  <a:txBody>
                    <a:bodyPr/>
                    <a:lstStyle/>
                    <a:p>
                      <a:r>
                        <a:rPr lang="en-US" sz="1400" dirty="0"/>
                        <a:t>Source </a:t>
                      </a:r>
                      <a:r>
                        <a:rPr lang="en-US" sz="1400" dirty="0" smtClean="0"/>
                        <a:t>Code</a:t>
                      </a:r>
                      <a:endParaRPr lang="en-US" sz="1400" dirty="0"/>
                    </a:p>
                  </a:txBody>
                  <a:tcPr/>
                </a:tc>
                <a:extLst>
                  <a:ext uri="{0D108BD9-81ED-4DB2-BD59-A6C34878D82A}">
                    <a16:rowId xmlns:a16="http://schemas.microsoft.com/office/drawing/2014/main" val="3011713230"/>
                  </a:ext>
                </a:extLst>
              </a:tr>
              <a:tr h="424252">
                <a:tc>
                  <a:txBody>
                    <a:bodyPr/>
                    <a:lstStyle/>
                    <a:p>
                      <a:r>
                        <a:rPr lang="en-US" sz="1400" dirty="0"/>
                        <a:t>11</a:t>
                      </a:r>
                    </a:p>
                  </a:txBody>
                  <a:tcPr/>
                </a:tc>
                <a:tc>
                  <a:txBody>
                    <a:bodyPr/>
                    <a:lstStyle/>
                    <a:p>
                      <a:r>
                        <a:rPr lang="en-US" sz="1400" dirty="0"/>
                        <a:t>8/1/2018</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400" dirty="0"/>
                        <a:t>5/20/2017</a:t>
                      </a:r>
                    </a:p>
                  </a:txBody>
                  <a:tcPr/>
                </a:tc>
                <a:tc>
                  <a:txBody>
                    <a:bodyPr/>
                    <a:lstStyle/>
                    <a:p>
                      <a:endParaRPr lang="en-US" sz="1400" dirty="0"/>
                    </a:p>
                  </a:txBody>
                  <a:tcPr/>
                </a:tc>
                <a:tc>
                  <a:txBody>
                    <a:bodyPr/>
                    <a:lstStyle/>
                    <a:p>
                      <a:r>
                        <a:rPr lang="en-US" sz="1400" dirty="0" smtClean="0"/>
                        <a:t>PNI</a:t>
                      </a:r>
                      <a:endParaRPr lang="en-US" sz="1400" dirty="0"/>
                    </a:p>
                  </a:txBody>
                  <a:tcPr/>
                </a:tc>
                <a:tc>
                  <a:txBody>
                    <a:bodyPr/>
                    <a:lstStyle/>
                    <a:p>
                      <a:r>
                        <a:rPr lang="en-US" sz="1400" dirty="0" smtClean="0"/>
                        <a:t>894844</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PNI~FCTS</a:t>
                      </a:r>
                    </a:p>
                    <a:p>
                      <a:endParaRPr lang="en-US" sz="1400" dirty="0"/>
                    </a:p>
                  </a:txBody>
                  <a:tcPr/>
                </a:tc>
                <a:extLst>
                  <a:ext uri="{0D108BD9-81ED-4DB2-BD59-A6C34878D82A}">
                    <a16:rowId xmlns:a16="http://schemas.microsoft.com/office/drawing/2014/main" val="3193151956"/>
                  </a:ext>
                </a:extLst>
              </a:tr>
              <a:tr h="456845">
                <a:tc>
                  <a:txBody>
                    <a:bodyPr/>
                    <a:lstStyle/>
                    <a:p>
                      <a:r>
                        <a:rPr lang="en-US" sz="1400" dirty="0" smtClean="0"/>
                        <a:t>12</a:t>
                      </a:r>
                      <a:endParaRPr lang="en-US" sz="1400" dirty="0"/>
                    </a:p>
                  </a:txBody>
                  <a:tcPr/>
                </a:tc>
                <a:tc>
                  <a:txBody>
                    <a:bodyPr/>
                    <a:lstStyle/>
                    <a:p>
                      <a:r>
                        <a:rPr lang="en-US" sz="1400" dirty="0"/>
                        <a:t>8/1/2018</a:t>
                      </a:r>
                    </a:p>
                  </a:txBody>
                  <a:tcPr/>
                </a:tc>
                <a:tc>
                  <a:txBody>
                    <a:bodyPr/>
                    <a:lstStyle/>
                    <a:p>
                      <a:endParaRPr lang="en-US" sz="1400" dirty="0"/>
                    </a:p>
                  </a:txBody>
                  <a:tcPr/>
                </a:tc>
                <a:tc>
                  <a:txBody>
                    <a:bodyPr/>
                    <a:lstStyle/>
                    <a:p>
                      <a:r>
                        <a:rPr lang="en-US" sz="1400" dirty="0"/>
                        <a:t>8/7/2015</a:t>
                      </a:r>
                    </a:p>
                  </a:txBody>
                  <a:tcPr/>
                </a:tc>
                <a:tc>
                  <a:txBody>
                    <a:bodyPr/>
                    <a:lstStyle/>
                    <a:p>
                      <a:endParaRPr lang="en-US" sz="1400" dirty="0"/>
                    </a:p>
                  </a:txBody>
                  <a:tcPr/>
                </a:tc>
                <a:tc>
                  <a:txBody>
                    <a:bodyPr/>
                    <a:lstStyle/>
                    <a:p>
                      <a:r>
                        <a:rPr lang="en-US" sz="1400" dirty="0" smtClean="0"/>
                        <a:t>NCPOP</a:t>
                      </a:r>
                      <a:endParaRPr lang="en-US" sz="1400" dirty="0"/>
                    </a:p>
                  </a:txBody>
                  <a:tcPr/>
                </a:tc>
                <a:tc>
                  <a:txBody>
                    <a:bodyPr/>
                    <a:lstStyle/>
                    <a:p>
                      <a:r>
                        <a:rPr lang="en-US" sz="1400" dirty="0" smtClean="0"/>
                        <a:t>7478379</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NCPOP~FCTS</a:t>
                      </a:r>
                    </a:p>
                    <a:p>
                      <a:endParaRPr lang="en-US" sz="1400" dirty="0"/>
                    </a:p>
                  </a:txBody>
                  <a:tcPr/>
                </a:tc>
                <a:extLst>
                  <a:ext uri="{0D108BD9-81ED-4DB2-BD59-A6C34878D82A}">
                    <a16:rowId xmlns:a16="http://schemas.microsoft.com/office/drawing/2014/main" val="2717459987"/>
                  </a:ext>
                </a:extLst>
              </a:tr>
            </a:tbl>
          </a:graphicData>
        </a:graphic>
      </p:graphicFrame>
      <p:sp>
        <p:nvSpPr>
          <p:cNvPr id="6" name="Title 1"/>
          <p:cNvSpPr txBox="1">
            <a:spLocks/>
          </p:cNvSpPr>
          <p:nvPr/>
        </p:nvSpPr>
        <p:spPr>
          <a:xfrm>
            <a:off x="53498" y="393946"/>
            <a:ext cx="6624736"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r>
              <a:rPr lang="en-US" sz="2000" dirty="0">
                <a:solidFill>
                  <a:prstClr val="black">
                    <a:lumMod val="75000"/>
                    <a:lumOff val="25000"/>
                  </a:prstClr>
                </a:solidFill>
              </a:rPr>
              <a:t>IBM UDMH: Tenant Entity-relationship with Health Plan </a:t>
            </a:r>
            <a:r>
              <a:rPr lang="en-US" sz="2000" dirty="0" smtClean="0">
                <a:solidFill>
                  <a:prstClr val="black">
                    <a:lumMod val="75000"/>
                    <a:lumOff val="25000"/>
                  </a:prstClr>
                </a:solidFill>
              </a:rPr>
              <a:t>Data </a:t>
            </a:r>
          </a:p>
          <a:p>
            <a:r>
              <a:rPr lang="en-US" sz="2000" dirty="0" smtClean="0">
                <a:solidFill>
                  <a:prstClr val="black">
                    <a:lumMod val="75000"/>
                    <a:lumOff val="25000"/>
                  </a:prstClr>
                </a:solidFill>
              </a:rPr>
              <a:t>Cont’d..</a:t>
            </a:r>
            <a:r>
              <a:rPr lang="en-US" sz="1400" b="0" i="1" dirty="0" smtClean="0">
                <a:solidFill>
                  <a:prstClr val="black">
                    <a:lumMod val="75000"/>
                    <a:lumOff val="25000"/>
                  </a:prstClr>
                </a:solidFill>
              </a:rPr>
              <a:t>(Example with data)</a:t>
            </a:r>
            <a:endParaRPr lang="en-US" sz="1400" b="0" i="1" dirty="0">
              <a:solidFill>
                <a:prstClr val="black">
                  <a:lumMod val="75000"/>
                  <a:lumOff val="25000"/>
                </a:prstClr>
              </a:solidFill>
            </a:endParaRPr>
          </a:p>
        </p:txBody>
      </p:sp>
      <p:sp>
        <p:nvSpPr>
          <p:cNvPr id="2" name="Rectangle 1"/>
          <p:cNvSpPr/>
          <p:nvPr/>
        </p:nvSpPr>
        <p:spPr>
          <a:xfrm>
            <a:off x="279019" y="5981492"/>
            <a:ext cx="8649369" cy="307777"/>
          </a:xfrm>
          <a:prstGeom prst="rect">
            <a:avLst/>
          </a:prstGeom>
        </p:spPr>
        <p:txBody>
          <a:bodyPr wrap="square">
            <a:spAutoFit/>
          </a:bodyPr>
          <a:lstStyle/>
          <a:p>
            <a:pPr marL="285750" indent="-285750" defTabSz="785813" eaLnBrk="0" hangingPunct="0">
              <a:spcBef>
                <a:spcPts val="1200"/>
              </a:spcBef>
              <a:buFont typeface="Arial" panose="020B0604020202020204" pitchFamily="34" charset="0"/>
              <a:buChar char="•"/>
            </a:pPr>
            <a:r>
              <a:rPr lang="en-US" sz="1400" i="1" dirty="0"/>
              <a:t>The Plan Member </a:t>
            </a:r>
            <a:r>
              <a:rPr lang="en-US" sz="1400" i="1" dirty="0" smtClean="0"/>
              <a:t>business key </a:t>
            </a:r>
            <a:r>
              <a:rPr lang="en-US" sz="1400" i="1" dirty="0"/>
              <a:t>is used </a:t>
            </a:r>
            <a:r>
              <a:rPr lang="en-US" sz="1400" i="1" dirty="0" smtClean="0"/>
              <a:t>here only </a:t>
            </a:r>
            <a:r>
              <a:rPr lang="en-US" sz="1400" i="1" dirty="0"/>
              <a:t>for conceptual </a:t>
            </a:r>
            <a:r>
              <a:rPr lang="en-US" sz="1400" i="1" dirty="0" smtClean="0"/>
              <a:t>we </a:t>
            </a:r>
            <a:r>
              <a:rPr lang="en-US" sz="1400" i="1" dirty="0"/>
              <a:t>will </a:t>
            </a:r>
            <a:r>
              <a:rPr lang="en-US" sz="1400" i="1" dirty="0" smtClean="0"/>
              <a:t>using actual business </a:t>
            </a:r>
            <a:r>
              <a:rPr lang="en-US" sz="1400" i="1" dirty="0"/>
              <a:t>key </a:t>
            </a:r>
            <a:r>
              <a:rPr lang="en-US" sz="1400" i="1" dirty="0" smtClean="0"/>
              <a:t>value </a:t>
            </a:r>
            <a:r>
              <a:rPr lang="en-US" sz="1400" i="1" dirty="0"/>
              <a:t>from </a:t>
            </a:r>
            <a:r>
              <a:rPr lang="en-US" sz="1400" i="1" dirty="0" smtClean="0"/>
              <a:t>data</a:t>
            </a:r>
            <a:endParaRPr lang="en-US" sz="1400" i="1" dirty="0"/>
          </a:p>
        </p:txBody>
      </p:sp>
      <p:sp>
        <p:nvSpPr>
          <p:cNvPr id="7" name="TextBox 6"/>
          <p:cNvSpPr txBox="1"/>
          <p:nvPr/>
        </p:nvSpPr>
        <p:spPr>
          <a:xfrm>
            <a:off x="6416346" y="1916832"/>
            <a:ext cx="2249524" cy="954107"/>
          </a:xfrm>
          <a:prstGeom prst="rect">
            <a:avLst/>
          </a:prstGeom>
          <a:noFill/>
        </p:spPr>
        <p:txBody>
          <a:bodyPr wrap="square" rtlCol="0">
            <a:spAutoFit/>
          </a:bodyPr>
          <a:lstStyle/>
          <a:p>
            <a:r>
              <a:rPr lang="en-US" sz="1400" b="1" i="1" u="sng" dirty="0" smtClean="0">
                <a:solidFill>
                  <a:srgbClr val="FF0000"/>
                </a:solidFill>
              </a:rPr>
              <a:t>Note: </a:t>
            </a:r>
            <a:r>
              <a:rPr lang="en-US" sz="1400" dirty="0">
                <a:solidFill>
                  <a:srgbClr val="FF0000"/>
                </a:solidFill>
              </a:rPr>
              <a:t> </a:t>
            </a:r>
            <a:r>
              <a:rPr lang="en-US" sz="1400" dirty="0" smtClean="0">
                <a:solidFill>
                  <a:srgbClr val="FF0000"/>
                </a:solidFill>
              </a:rPr>
              <a:t>Health plan data Tenant and source system will be captured at  every data row level</a:t>
            </a:r>
            <a:endParaRPr lang="en-US" sz="1400" dirty="0">
              <a:solidFill>
                <a:srgbClr val="FF0000"/>
              </a:solidFill>
            </a:endParaRPr>
          </a:p>
        </p:txBody>
      </p:sp>
      <p:pic>
        <p:nvPicPr>
          <p:cNvPr id="10" name="Picture 9"/>
          <p:cNvPicPr>
            <a:picLocks noChangeAspect="1"/>
          </p:cNvPicPr>
          <p:nvPr/>
        </p:nvPicPr>
        <p:blipFill>
          <a:blip r:embed="rId2"/>
          <a:stretch>
            <a:fillRect/>
          </a:stretch>
        </p:blipFill>
        <p:spPr>
          <a:xfrm>
            <a:off x="6712068" y="420550"/>
            <a:ext cx="2266950" cy="413931"/>
          </a:xfrm>
          <a:prstGeom prst="rect">
            <a:avLst/>
          </a:prstGeom>
        </p:spPr>
      </p:pic>
    </p:spTree>
    <p:extLst>
      <p:ext uri="{BB962C8B-B14F-4D97-AF65-F5344CB8AC3E}">
        <p14:creationId xmlns:p14="http://schemas.microsoft.com/office/powerpoint/2010/main" val="29102083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p:txBody>
          <a:bodyPr>
            <a:noAutofit/>
          </a:bodyPr>
          <a:lstStyle/>
          <a:p>
            <a:pPr marL="457200" lvl="1" indent="0" defTabSz="785813" eaLnBrk="0" hangingPunct="0">
              <a:spcBef>
                <a:spcPts val="1200"/>
              </a:spcBef>
              <a:buNone/>
            </a:pPr>
            <a:endParaRPr lang="en-US" sz="1600" dirty="0">
              <a:solidFill>
                <a:schemeClr val="tx1">
                  <a:lumMod val="75000"/>
                  <a:lumOff val="25000"/>
                </a:schemeClr>
              </a:solidFill>
            </a:endParaRPr>
          </a:p>
          <a:p>
            <a:pPr lvl="1" defTabSz="785813" eaLnBrk="0" hangingPunct="0">
              <a:spcBef>
                <a:spcPts val="1200"/>
              </a:spcBef>
            </a:pPr>
            <a:endParaRPr lang="en-US" sz="1600" dirty="0">
              <a:solidFill>
                <a:schemeClr val="tx1">
                  <a:lumMod val="75000"/>
                  <a:lumOff val="25000"/>
                </a:schemeClr>
              </a:solidFill>
            </a:endParaRPr>
          </a:p>
          <a:p>
            <a:pPr defTabSz="785813" eaLnBrk="0" hangingPunct="0">
              <a:spcBef>
                <a:spcPts val="1200"/>
              </a:spcBef>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a:p>
            <a:pPr lvl="1" defTabSz="785813" eaLnBrk="0" hangingPunct="0">
              <a:spcBef>
                <a:spcPts val="600"/>
              </a:spcBef>
              <a:spcAft>
                <a:spcPts val="300"/>
              </a:spcAft>
              <a:buFont typeface="Courier New" panose="02070309020205020404" pitchFamily="49" charset="0"/>
              <a:buChar char="o"/>
            </a:pPr>
            <a:endParaRPr lang="en-US" sz="1600" dirty="0">
              <a:solidFill>
                <a:schemeClr val="tx1">
                  <a:lumMod val="75000"/>
                  <a:lumOff val="25000"/>
                </a:schemeClr>
              </a:solidFill>
            </a:endParaRPr>
          </a:p>
        </p:txBody>
      </p:sp>
      <p:sp>
        <p:nvSpPr>
          <p:cNvPr id="5" name="Title 1"/>
          <p:cNvSpPr txBox="1">
            <a:spLocks/>
          </p:cNvSpPr>
          <p:nvPr/>
        </p:nvSpPr>
        <p:spPr>
          <a:xfrm>
            <a:off x="127837" y="152800"/>
            <a:ext cx="6299603" cy="119065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pPr algn="ctr"/>
            <a:r>
              <a:rPr lang="en-US" sz="2000" dirty="0">
                <a:solidFill>
                  <a:prstClr val="black">
                    <a:lumMod val="75000"/>
                    <a:lumOff val="25000"/>
                  </a:prstClr>
                </a:solidFill>
              </a:rPr>
              <a:t>IBM UDMH: Tenant Entity-relationship with </a:t>
            </a:r>
            <a:endParaRPr lang="en-US" sz="2000" dirty="0" smtClean="0">
              <a:solidFill>
                <a:prstClr val="black">
                  <a:lumMod val="75000"/>
                  <a:lumOff val="25000"/>
                </a:prstClr>
              </a:solidFill>
            </a:endParaRPr>
          </a:p>
          <a:p>
            <a:pPr algn="ctr"/>
            <a:r>
              <a:rPr lang="en-US" sz="2000" dirty="0" smtClean="0">
                <a:solidFill>
                  <a:prstClr val="black">
                    <a:lumMod val="75000"/>
                    <a:lumOff val="25000"/>
                  </a:prstClr>
                </a:solidFill>
              </a:rPr>
              <a:t>Delivery System Data</a:t>
            </a:r>
          </a:p>
          <a:p>
            <a:pPr algn="ctr"/>
            <a:r>
              <a:rPr lang="en-US" sz="1200" b="0" i="1" dirty="0" smtClean="0">
                <a:solidFill>
                  <a:prstClr val="black">
                    <a:lumMod val="75000"/>
                    <a:lumOff val="25000"/>
                  </a:prstClr>
                </a:solidFill>
              </a:rPr>
              <a:t>This </a:t>
            </a:r>
            <a:r>
              <a:rPr lang="en-US" sz="1200" b="0" i="1" dirty="0">
                <a:solidFill>
                  <a:prstClr val="black">
                    <a:lumMod val="75000"/>
                    <a:lumOff val="25000"/>
                  </a:prstClr>
                </a:solidFill>
              </a:rPr>
              <a:t>is only an </a:t>
            </a:r>
            <a:r>
              <a:rPr lang="en-US" sz="1200" i="1" dirty="0">
                <a:solidFill>
                  <a:prstClr val="black">
                    <a:lumMod val="75000"/>
                    <a:lumOff val="25000"/>
                  </a:prstClr>
                </a:solidFill>
              </a:rPr>
              <a:t>example</a:t>
            </a:r>
            <a:r>
              <a:rPr lang="en-US" sz="1200" b="0" i="1" dirty="0">
                <a:solidFill>
                  <a:prstClr val="black">
                    <a:lumMod val="75000"/>
                    <a:lumOff val="25000"/>
                  </a:prstClr>
                </a:solidFill>
              </a:rPr>
              <a:t> to show how Tenant is related to every source data that will be ingested into IBM UDMH data </a:t>
            </a:r>
            <a:r>
              <a:rPr lang="en-US" sz="1200" b="0" i="1" dirty="0" smtClean="0">
                <a:solidFill>
                  <a:prstClr val="black">
                    <a:lumMod val="75000"/>
                    <a:lumOff val="25000"/>
                  </a:prstClr>
                </a:solidFill>
              </a:rPr>
              <a:t>model</a:t>
            </a:r>
            <a:endParaRPr lang="en-US" sz="1200" b="0" i="1" dirty="0"/>
          </a:p>
        </p:txBody>
      </p:sp>
      <p:pic>
        <p:nvPicPr>
          <p:cNvPr id="2" name="Picture 1"/>
          <p:cNvPicPr>
            <a:picLocks noChangeAspect="1"/>
          </p:cNvPicPr>
          <p:nvPr/>
        </p:nvPicPr>
        <p:blipFill>
          <a:blip r:embed="rId2"/>
          <a:stretch>
            <a:fillRect/>
          </a:stretch>
        </p:blipFill>
        <p:spPr>
          <a:xfrm>
            <a:off x="71754" y="1343454"/>
            <a:ext cx="9072246" cy="4704492"/>
          </a:xfrm>
          <a:prstGeom prst="rect">
            <a:avLst/>
          </a:prstGeom>
        </p:spPr>
      </p:pic>
      <p:pic>
        <p:nvPicPr>
          <p:cNvPr id="7" name="Picture 6"/>
          <p:cNvPicPr>
            <a:picLocks noChangeAspect="1"/>
          </p:cNvPicPr>
          <p:nvPr/>
        </p:nvPicPr>
        <p:blipFill>
          <a:blip r:embed="rId3"/>
          <a:stretch>
            <a:fillRect/>
          </a:stretch>
        </p:blipFill>
        <p:spPr>
          <a:xfrm>
            <a:off x="6732240" y="152800"/>
            <a:ext cx="2266950" cy="413931"/>
          </a:xfrm>
          <a:prstGeom prst="rect">
            <a:avLst/>
          </a:prstGeom>
        </p:spPr>
      </p:pic>
    </p:spTree>
    <p:extLst>
      <p:ext uri="{BB962C8B-B14F-4D97-AF65-F5344CB8AC3E}">
        <p14:creationId xmlns:p14="http://schemas.microsoft.com/office/powerpoint/2010/main" val="32308535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AB9FC34-EECF-4DB9-A789-6EF81DB5D9B3}"/>
              </a:ext>
            </a:extLst>
          </p:cNvPr>
          <p:cNvSpPr>
            <a:spLocks noGrp="1"/>
          </p:cNvSpPr>
          <p:nvPr>
            <p:ph type="body" sz="quarter" idx="10"/>
          </p:nvPr>
        </p:nvSpPr>
        <p:spPr>
          <a:xfrm>
            <a:off x="322076" y="785428"/>
            <a:ext cx="8534400" cy="5559896"/>
          </a:xfrm>
        </p:spPr>
        <p:txBody>
          <a:bodyPr>
            <a:noAutofit/>
          </a:bodyPr>
          <a:lstStyle/>
          <a:p>
            <a:pPr defTabSz="785813" eaLnBrk="0" hangingPunct="0">
              <a:spcBef>
                <a:spcPts val="1200"/>
              </a:spcBef>
            </a:pPr>
            <a:endParaRPr lang="en-US" sz="2000" b="1" dirty="0" smtClean="0"/>
          </a:p>
          <a:p>
            <a:pPr defTabSz="785813" eaLnBrk="0" hangingPunct="0">
              <a:spcBef>
                <a:spcPts val="1200"/>
              </a:spcBef>
            </a:pPr>
            <a:endParaRPr lang="en-US" sz="2000" b="1" dirty="0" smtClean="0"/>
          </a:p>
          <a:p>
            <a:pPr defTabSz="785813" eaLnBrk="0" hangingPunct="0">
              <a:spcBef>
                <a:spcPts val="1200"/>
              </a:spcBef>
            </a:pPr>
            <a:r>
              <a:rPr lang="en-US" sz="2000" b="1" dirty="0" smtClean="0"/>
              <a:t>Patient Table </a:t>
            </a:r>
            <a:r>
              <a:rPr lang="en-US" sz="2000" i="1" dirty="0"/>
              <a:t>(Shows the data row belongs to which Tenant)</a:t>
            </a:r>
          </a:p>
          <a:p>
            <a:pPr defTabSz="785813" eaLnBrk="0" hangingPunct="0">
              <a:spcBef>
                <a:spcPts val="1200"/>
              </a:spcBef>
            </a:pPr>
            <a:endParaRPr lang="en-US" sz="2000" b="1" dirty="0" smtClean="0"/>
          </a:p>
          <a:p>
            <a:pPr defTabSz="785813" eaLnBrk="0" hangingPunct="0">
              <a:spcBef>
                <a:spcPts val="1200"/>
              </a:spcBef>
            </a:pPr>
            <a:endParaRPr lang="en-US" sz="1600" dirty="0"/>
          </a:p>
          <a:p>
            <a:pPr marL="0" indent="0" defTabSz="785813" eaLnBrk="0" hangingPunct="0">
              <a:spcBef>
                <a:spcPts val="1200"/>
              </a:spcBef>
              <a:buNone/>
            </a:pPr>
            <a:endParaRPr lang="en-US" sz="2000" b="1" dirty="0" smtClean="0"/>
          </a:p>
          <a:p>
            <a:pPr defTabSz="785813" eaLnBrk="0" hangingPunct="0">
              <a:spcBef>
                <a:spcPts val="1200"/>
              </a:spcBef>
            </a:pPr>
            <a:r>
              <a:rPr lang="en-US" sz="2000" b="1" dirty="0" smtClean="0"/>
              <a:t>Patient </a:t>
            </a:r>
            <a:r>
              <a:rPr lang="en-US" sz="2000" b="1" dirty="0"/>
              <a:t>Detail </a:t>
            </a:r>
            <a:r>
              <a:rPr lang="en-US" sz="2000" b="1" dirty="0" smtClean="0"/>
              <a:t>Table</a:t>
            </a:r>
            <a:r>
              <a:rPr lang="en-US" sz="2000" i="1" dirty="0"/>
              <a:t> (Shows the data row belongs to which Tenant and source system</a:t>
            </a:r>
            <a:r>
              <a:rPr lang="en-US" sz="2000" i="1" dirty="0" smtClean="0"/>
              <a:t>)</a:t>
            </a:r>
            <a:endParaRPr lang="en-US" sz="2000" b="1" dirty="0"/>
          </a:p>
        </p:txBody>
      </p:sp>
      <p:graphicFrame>
        <p:nvGraphicFramePr>
          <p:cNvPr id="3" name="Table 2"/>
          <p:cNvGraphicFramePr>
            <a:graphicFrameLocks noGrp="1"/>
          </p:cNvGraphicFramePr>
          <p:nvPr>
            <p:extLst>
              <p:ext uri="{D42A27DB-BD31-4B8C-83A1-F6EECF244321}">
                <p14:modId xmlns:p14="http://schemas.microsoft.com/office/powerpoint/2010/main" val="1498853359"/>
              </p:ext>
            </p:extLst>
          </p:nvPr>
        </p:nvGraphicFramePr>
        <p:xfrm>
          <a:off x="277354" y="2325734"/>
          <a:ext cx="4579835" cy="842462"/>
        </p:xfrm>
        <a:graphic>
          <a:graphicData uri="http://schemas.openxmlformats.org/drawingml/2006/table">
            <a:tbl>
              <a:tblPr firstRow="1" bandRow="1">
                <a:tableStyleId>{5C22544A-7EE6-4342-B048-85BDC9FD1C3A}</a:tableStyleId>
              </a:tblPr>
              <a:tblGrid>
                <a:gridCol w="1021398">
                  <a:extLst>
                    <a:ext uri="{9D8B030D-6E8A-4147-A177-3AD203B41FA5}">
                      <a16:colId xmlns:a16="http://schemas.microsoft.com/office/drawing/2014/main" val="2672971796"/>
                    </a:ext>
                  </a:extLst>
                </a:gridCol>
                <a:gridCol w="1974261">
                  <a:extLst>
                    <a:ext uri="{9D8B030D-6E8A-4147-A177-3AD203B41FA5}">
                      <a16:colId xmlns:a16="http://schemas.microsoft.com/office/drawing/2014/main" val="269747904"/>
                    </a:ext>
                  </a:extLst>
                </a:gridCol>
                <a:gridCol w="1584176">
                  <a:extLst>
                    <a:ext uri="{9D8B030D-6E8A-4147-A177-3AD203B41FA5}">
                      <a16:colId xmlns:a16="http://schemas.microsoft.com/office/drawing/2014/main" val="2836594572"/>
                    </a:ext>
                  </a:extLst>
                </a:gridCol>
              </a:tblGrid>
              <a:tr h="498780">
                <a:tc>
                  <a:txBody>
                    <a:bodyPr/>
                    <a:lstStyle/>
                    <a:p>
                      <a:r>
                        <a:rPr lang="en-US" sz="1400" dirty="0" smtClean="0"/>
                        <a:t>Patient </a:t>
                      </a:r>
                      <a:r>
                        <a:rPr lang="en-US" sz="1400" dirty="0" err="1"/>
                        <a:t>Sk</a:t>
                      </a:r>
                      <a:endParaRPr lang="en-US" sz="1400" dirty="0"/>
                    </a:p>
                  </a:txBody>
                  <a:tcPr/>
                </a:tc>
                <a:tc>
                  <a:txBody>
                    <a:bodyPr/>
                    <a:lstStyle/>
                    <a:p>
                      <a:r>
                        <a:rPr lang="en-US" sz="1400" dirty="0" smtClean="0"/>
                        <a:t>Patient </a:t>
                      </a:r>
                      <a:r>
                        <a:rPr lang="en-US" sz="1400" dirty="0"/>
                        <a:t>Bk</a:t>
                      </a:r>
                    </a:p>
                  </a:txBody>
                  <a:tcPr/>
                </a:tc>
                <a:tc>
                  <a:txBody>
                    <a:bodyPr/>
                    <a:lstStyle/>
                    <a:p>
                      <a:r>
                        <a:rPr lang="en-US" sz="1400" dirty="0"/>
                        <a:t>Tenant </a:t>
                      </a:r>
                    </a:p>
                  </a:txBody>
                  <a:tcPr/>
                </a:tc>
                <a:extLst>
                  <a:ext uri="{0D108BD9-81ED-4DB2-BD59-A6C34878D82A}">
                    <a16:rowId xmlns:a16="http://schemas.microsoft.com/office/drawing/2014/main" val="3147509334"/>
                  </a:ext>
                </a:extLst>
              </a:tr>
              <a:tr h="343682">
                <a:tc>
                  <a:txBody>
                    <a:bodyPr/>
                    <a:lstStyle/>
                    <a:p>
                      <a:r>
                        <a:rPr lang="en-US" sz="1400" dirty="0" smtClean="0"/>
                        <a:t>1</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PHS_D</a:t>
                      </a:r>
                      <a:r>
                        <a:rPr lang="en-US" sz="1400" dirty="0" smtClean="0">
                          <a:solidFill>
                            <a:schemeClr val="tx1"/>
                          </a:solidFill>
                        </a:rPr>
                        <a:t>~EPIC</a:t>
                      </a:r>
                      <a:r>
                        <a:rPr lang="en-US" sz="1400" dirty="0" smtClean="0"/>
                        <a:t>~894844</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PHS_D</a:t>
                      </a:r>
                    </a:p>
                  </a:txBody>
                  <a:tcPr/>
                </a:tc>
                <a:extLst>
                  <a:ext uri="{0D108BD9-81ED-4DB2-BD59-A6C34878D82A}">
                    <a16:rowId xmlns:a16="http://schemas.microsoft.com/office/drawing/2014/main" val="354063012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78497768"/>
              </p:ext>
            </p:extLst>
          </p:nvPr>
        </p:nvGraphicFramePr>
        <p:xfrm>
          <a:off x="205679" y="4545124"/>
          <a:ext cx="8767193" cy="1140205"/>
        </p:xfrm>
        <a:graphic>
          <a:graphicData uri="http://schemas.openxmlformats.org/drawingml/2006/table">
            <a:tbl>
              <a:tblPr firstRow="1" bandRow="1">
                <a:tableStyleId>{5C22544A-7EE6-4342-B048-85BDC9FD1C3A}</a:tableStyleId>
              </a:tblPr>
              <a:tblGrid>
                <a:gridCol w="954833">
                  <a:extLst>
                    <a:ext uri="{9D8B030D-6E8A-4147-A177-3AD203B41FA5}">
                      <a16:colId xmlns:a16="http://schemas.microsoft.com/office/drawing/2014/main" val="196916845"/>
                    </a:ext>
                  </a:extLst>
                </a:gridCol>
                <a:gridCol w="972108">
                  <a:extLst>
                    <a:ext uri="{9D8B030D-6E8A-4147-A177-3AD203B41FA5}">
                      <a16:colId xmlns:a16="http://schemas.microsoft.com/office/drawing/2014/main" val="2008813907"/>
                    </a:ext>
                  </a:extLst>
                </a:gridCol>
                <a:gridCol w="684076">
                  <a:extLst>
                    <a:ext uri="{9D8B030D-6E8A-4147-A177-3AD203B41FA5}">
                      <a16:colId xmlns:a16="http://schemas.microsoft.com/office/drawing/2014/main" val="3853195039"/>
                    </a:ext>
                  </a:extLst>
                </a:gridCol>
                <a:gridCol w="1008112">
                  <a:extLst>
                    <a:ext uri="{9D8B030D-6E8A-4147-A177-3AD203B41FA5}">
                      <a16:colId xmlns:a16="http://schemas.microsoft.com/office/drawing/2014/main" val="402154137"/>
                    </a:ext>
                  </a:extLst>
                </a:gridCol>
                <a:gridCol w="828092">
                  <a:extLst>
                    <a:ext uri="{9D8B030D-6E8A-4147-A177-3AD203B41FA5}">
                      <a16:colId xmlns:a16="http://schemas.microsoft.com/office/drawing/2014/main" val="2067754369"/>
                    </a:ext>
                  </a:extLst>
                </a:gridCol>
                <a:gridCol w="900100">
                  <a:extLst>
                    <a:ext uri="{9D8B030D-6E8A-4147-A177-3AD203B41FA5}">
                      <a16:colId xmlns:a16="http://schemas.microsoft.com/office/drawing/2014/main" val="9448689"/>
                    </a:ext>
                  </a:extLst>
                </a:gridCol>
                <a:gridCol w="792088">
                  <a:extLst>
                    <a:ext uri="{9D8B030D-6E8A-4147-A177-3AD203B41FA5}">
                      <a16:colId xmlns:a16="http://schemas.microsoft.com/office/drawing/2014/main" val="2581678727"/>
                    </a:ext>
                  </a:extLst>
                </a:gridCol>
                <a:gridCol w="684076">
                  <a:extLst>
                    <a:ext uri="{9D8B030D-6E8A-4147-A177-3AD203B41FA5}">
                      <a16:colId xmlns:a16="http://schemas.microsoft.com/office/drawing/2014/main" val="1321158695"/>
                    </a:ext>
                  </a:extLst>
                </a:gridCol>
                <a:gridCol w="1943708">
                  <a:extLst>
                    <a:ext uri="{9D8B030D-6E8A-4147-A177-3AD203B41FA5}">
                      <a16:colId xmlns:a16="http://schemas.microsoft.com/office/drawing/2014/main" val="336416262"/>
                    </a:ext>
                  </a:extLst>
                </a:gridCol>
              </a:tblGrid>
              <a:tr h="615555">
                <a:tc>
                  <a:txBody>
                    <a:bodyPr/>
                    <a:lstStyle/>
                    <a:p>
                      <a:r>
                        <a:rPr lang="en-US" sz="1400" dirty="0" smtClean="0"/>
                        <a:t>Patient </a:t>
                      </a:r>
                      <a:r>
                        <a:rPr lang="en-US" sz="1400" dirty="0" err="1" smtClean="0"/>
                        <a:t>Sk</a:t>
                      </a:r>
                      <a:endParaRPr lang="en-US" sz="1400" dirty="0"/>
                    </a:p>
                  </a:txBody>
                  <a:tcPr/>
                </a:tc>
                <a:tc>
                  <a:txBody>
                    <a:bodyPr/>
                    <a:lstStyle/>
                    <a:p>
                      <a:r>
                        <a:rPr lang="en-US" sz="1400" dirty="0"/>
                        <a:t>Valid From </a:t>
                      </a:r>
                    </a:p>
                  </a:txBody>
                  <a:tcPr/>
                </a:tc>
                <a:tc>
                  <a:txBody>
                    <a:bodyPr/>
                    <a:lstStyle/>
                    <a:p>
                      <a:r>
                        <a:rPr lang="en-US" sz="1400" dirty="0"/>
                        <a:t>Valid To</a:t>
                      </a:r>
                    </a:p>
                  </a:txBody>
                  <a:tcPr/>
                </a:tc>
                <a:tc>
                  <a:txBody>
                    <a:bodyPr/>
                    <a:lstStyle/>
                    <a:p>
                      <a:r>
                        <a:rPr lang="en-US" sz="1400" dirty="0"/>
                        <a:t>Effective From Dt</a:t>
                      </a:r>
                    </a:p>
                  </a:txBody>
                  <a:tcPr/>
                </a:tc>
                <a:tc>
                  <a:txBody>
                    <a:bodyPr/>
                    <a:lstStyle/>
                    <a:p>
                      <a:r>
                        <a:rPr lang="en-US" sz="1400" dirty="0"/>
                        <a:t>Effective To Dt</a:t>
                      </a:r>
                    </a:p>
                  </a:txBody>
                  <a:tcPr/>
                </a:tc>
                <a:tc>
                  <a:txBody>
                    <a:bodyPr/>
                    <a:lstStyle/>
                    <a:p>
                      <a:r>
                        <a:rPr lang="en-US" sz="1400" dirty="0" smtClean="0"/>
                        <a:t>MRN </a:t>
                      </a:r>
                      <a:r>
                        <a:rPr lang="en-US" sz="1400" dirty="0" err="1" smtClean="0"/>
                        <a:t>Num</a:t>
                      </a:r>
                      <a:endParaRPr lang="en-US" sz="1400" dirty="0"/>
                    </a:p>
                  </a:txBody>
                  <a:tcPr/>
                </a:tc>
                <a:tc>
                  <a:txBody>
                    <a:bodyPr/>
                    <a:lstStyle/>
                    <a:p>
                      <a:r>
                        <a:rPr lang="en-US" sz="1400" dirty="0" smtClean="0"/>
                        <a:t>Gender</a:t>
                      </a:r>
                      <a:endParaRPr lang="en-US" sz="1400" dirty="0"/>
                    </a:p>
                  </a:txBody>
                  <a:tcPr/>
                </a:tc>
                <a:tc>
                  <a:txBody>
                    <a:bodyPr/>
                    <a:lstStyle/>
                    <a:p>
                      <a:r>
                        <a:rPr lang="en-US" sz="1400" dirty="0"/>
                        <a:t>Tenant </a:t>
                      </a:r>
                    </a:p>
                  </a:txBody>
                  <a:tcPr/>
                </a:tc>
                <a:tc>
                  <a:txBody>
                    <a:bodyPr/>
                    <a:lstStyle/>
                    <a:p>
                      <a:r>
                        <a:rPr lang="en-US" sz="1400" dirty="0"/>
                        <a:t>Source </a:t>
                      </a:r>
                      <a:r>
                        <a:rPr lang="en-US" sz="1400" dirty="0" smtClean="0"/>
                        <a:t>Code</a:t>
                      </a:r>
                      <a:endParaRPr lang="en-US" sz="1400" dirty="0"/>
                    </a:p>
                  </a:txBody>
                  <a:tcPr/>
                </a:tc>
                <a:extLst>
                  <a:ext uri="{0D108BD9-81ED-4DB2-BD59-A6C34878D82A}">
                    <a16:rowId xmlns:a16="http://schemas.microsoft.com/office/drawing/2014/main" val="3011713230"/>
                  </a:ext>
                </a:extLst>
              </a:tr>
              <a:tr h="524650">
                <a:tc>
                  <a:txBody>
                    <a:bodyPr/>
                    <a:lstStyle/>
                    <a:p>
                      <a:r>
                        <a:rPr lang="en-US" sz="1400" dirty="0" smtClean="0"/>
                        <a:t>1</a:t>
                      </a:r>
                      <a:endParaRPr lang="en-US" sz="1400" dirty="0"/>
                    </a:p>
                  </a:txBody>
                  <a:tcPr/>
                </a:tc>
                <a:tc>
                  <a:txBody>
                    <a:bodyPr/>
                    <a:lstStyle/>
                    <a:p>
                      <a:r>
                        <a:rPr lang="en-US" sz="1400" dirty="0"/>
                        <a:t>8/1/2018</a:t>
                      </a: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400" dirty="0"/>
                        <a:t>5/20/2017</a:t>
                      </a:r>
                    </a:p>
                  </a:txBody>
                  <a:tcPr/>
                </a:tc>
                <a:tc>
                  <a:txBody>
                    <a:bodyPr/>
                    <a:lstStyle/>
                    <a:p>
                      <a:endParaRPr lang="en-US" sz="1400" dirty="0"/>
                    </a:p>
                  </a:txBody>
                  <a:tcPr/>
                </a:tc>
                <a:tc>
                  <a:txBody>
                    <a:bodyPr/>
                    <a:lstStyle/>
                    <a:p>
                      <a:r>
                        <a:rPr lang="en-US" sz="1400" dirty="0" smtClean="0"/>
                        <a:t>894844</a:t>
                      </a:r>
                      <a:endParaRPr lang="en-US" sz="1400" dirty="0"/>
                    </a:p>
                  </a:txBody>
                  <a:tcPr/>
                </a:tc>
                <a:tc>
                  <a:txBody>
                    <a:bodyPr/>
                    <a:lstStyle/>
                    <a:p>
                      <a:r>
                        <a:rPr lang="en-US" sz="1400" dirty="0" smtClean="0"/>
                        <a:t>Female</a:t>
                      </a:r>
                      <a:endParaRPr lang="en-US" sz="1400" dirty="0"/>
                    </a:p>
                  </a:txBody>
                  <a:tcPr/>
                </a:tc>
                <a:tc>
                  <a:txBody>
                    <a:bodyPr/>
                    <a:lstStyle/>
                    <a:p>
                      <a:r>
                        <a:rPr lang="en-US" sz="1400" dirty="0" smtClean="0"/>
                        <a:t>PHS_D</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PHS_D</a:t>
                      </a:r>
                      <a:r>
                        <a:rPr lang="en-US" sz="1400" dirty="0" smtClean="0">
                          <a:solidFill>
                            <a:schemeClr val="tx1"/>
                          </a:solidFill>
                        </a:rPr>
                        <a:t>~EPIC</a:t>
                      </a:r>
                    </a:p>
                    <a:p>
                      <a:endParaRPr lang="en-US" sz="1400" dirty="0"/>
                    </a:p>
                  </a:txBody>
                  <a:tcPr/>
                </a:tc>
                <a:extLst>
                  <a:ext uri="{0D108BD9-81ED-4DB2-BD59-A6C34878D82A}">
                    <a16:rowId xmlns:a16="http://schemas.microsoft.com/office/drawing/2014/main" val="3193151956"/>
                  </a:ext>
                </a:extLst>
              </a:tr>
            </a:tbl>
          </a:graphicData>
        </a:graphic>
      </p:graphicFrame>
      <p:sp>
        <p:nvSpPr>
          <p:cNvPr id="6" name="Title 1"/>
          <p:cNvSpPr txBox="1">
            <a:spLocks/>
          </p:cNvSpPr>
          <p:nvPr/>
        </p:nvSpPr>
        <p:spPr>
          <a:xfrm>
            <a:off x="339297" y="268418"/>
            <a:ext cx="5950830" cy="576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2600" b="1" kern="1200">
                <a:solidFill>
                  <a:schemeClr val="tx1">
                    <a:lumMod val="75000"/>
                    <a:lumOff val="25000"/>
                  </a:schemeClr>
                </a:solidFill>
                <a:latin typeface="+mj-lt"/>
                <a:ea typeface="+mj-ea"/>
                <a:cs typeface="+mj-cs"/>
              </a:defRPr>
            </a:lvl1pPr>
          </a:lstStyle>
          <a:p>
            <a:pPr algn="ctr"/>
            <a:r>
              <a:rPr lang="en-US" sz="2000" dirty="0">
                <a:solidFill>
                  <a:prstClr val="black">
                    <a:lumMod val="75000"/>
                    <a:lumOff val="25000"/>
                  </a:prstClr>
                </a:solidFill>
              </a:rPr>
              <a:t>IBM UDMH: Tenant Entity-relationship </a:t>
            </a:r>
            <a:endParaRPr lang="en-US" sz="2000" dirty="0" smtClean="0">
              <a:solidFill>
                <a:prstClr val="black">
                  <a:lumMod val="75000"/>
                  <a:lumOff val="25000"/>
                </a:prstClr>
              </a:solidFill>
            </a:endParaRPr>
          </a:p>
          <a:p>
            <a:pPr algn="ctr"/>
            <a:r>
              <a:rPr lang="en-US" sz="2000" dirty="0" smtClean="0">
                <a:solidFill>
                  <a:prstClr val="black">
                    <a:lumMod val="75000"/>
                    <a:lumOff val="25000"/>
                  </a:prstClr>
                </a:solidFill>
              </a:rPr>
              <a:t>with </a:t>
            </a:r>
            <a:r>
              <a:rPr lang="en-US" sz="2000" dirty="0">
                <a:solidFill>
                  <a:prstClr val="black">
                    <a:lumMod val="75000"/>
                    <a:lumOff val="25000"/>
                  </a:prstClr>
                </a:solidFill>
              </a:rPr>
              <a:t>Delivery System </a:t>
            </a:r>
            <a:r>
              <a:rPr lang="en-US" sz="2000" dirty="0" smtClean="0">
                <a:solidFill>
                  <a:prstClr val="black">
                    <a:lumMod val="75000"/>
                    <a:lumOff val="25000"/>
                  </a:prstClr>
                </a:solidFill>
              </a:rPr>
              <a:t>Data Cont’d.. </a:t>
            </a:r>
            <a:r>
              <a:rPr lang="en-US" sz="1600" b="0" i="1" dirty="0" smtClean="0">
                <a:solidFill>
                  <a:prstClr val="black">
                    <a:lumMod val="75000"/>
                    <a:lumOff val="25000"/>
                  </a:prstClr>
                </a:solidFill>
              </a:rPr>
              <a:t>(example with data)</a:t>
            </a:r>
            <a:endParaRPr lang="en-US" sz="1600" b="0" i="1" dirty="0">
              <a:solidFill>
                <a:prstClr val="black">
                  <a:lumMod val="75000"/>
                  <a:lumOff val="25000"/>
                </a:prstClr>
              </a:solidFill>
            </a:endParaRPr>
          </a:p>
        </p:txBody>
      </p:sp>
      <p:sp>
        <p:nvSpPr>
          <p:cNvPr id="7" name="TextBox 6"/>
          <p:cNvSpPr txBox="1"/>
          <p:nvPr/>
        </p:nvSpPr>
        <p:spPr>
          <a:xfrm>
            <a:off x="5688124" y="2429532"/>
            <a:ext cx="2940525" cy="738664"/>
          </a:xfrm>
          <a:prstGeom prst="rect">
            <a:avLst/>
          </a:prstGeom>
          <a:noFill/>
        </p:spPr>
        <p:txBody>
          <a:bodyPr wrap="square" rtlCol="0">
            <a:spAutoFit/>
          </a:bodyPr>
          <a:lstStyle/>
          <a:p>
            <a:r>
              <a:rPr lang="en-US" sz="1400" b="1" i="1" u="sng" dirty="0" smtClean="0">
                <a:solidFill>
                  <a:srgbClr val="FF0000"/>
                </a:solidFill>
              </a:rPr>
              <a:t>Note: </a:t>
            </a:r>
            <a:r>
              <a:rPr lang="en-US" sz="1400" i="1" dirty="0" smtClean="0">
                <a:solidFill>
                  <a:srgbClr val="FF0000"/>
                </a:solidFill>
              </a:rPr>
              <a:t>Delivery system</a:t>
            </a:r>
            <a:r>
              <a:rPr lang="en-US" sz="1400" dirty="0" smtClean="0">
                <a:solidFill>
                  <a:srgbClr val="FF0000"/>
                </a:solidFill>
              </a:rPr>
              <a:t> data - Tenant and source system will be captured at  every data row level</a:t>
            </a:r>
            <a:endParaRPr lang="en-US" sz="1400" dirty="0">
              <a:solidFill>
                <a:srgbClr val="FF0000"/>
              </a:solidFill>
            </a:endParaRPr>
          </a:p>
        </p:txBody>
      </p:sp>
      <p:pic>
        <p:nvPicPr>
          <p:cNvPr id="9" name="Picture 8"/>
          <p:cNvPicPr>
            <a:picLocks noChangeAspect="1"/>
          </p:cNvPicPr>
          <p:nvPr/>
        </p:nvPicPr>
        <p:blipFill>
          <a:blip r:embed="rId2"/>
          <a:stretch>
            <a:fillRect/>
          </a:stretch>
        </p:blipFill>
        <p:spPr>
          <a:xfrm>
            <a:off x="6589526" y="217298"/>
            <a:ext cx="2266950" cy="413931"/>
          </a:xfrm>
          <a:prstGeom prst="rect">
            <a:avLst/>
          </a:prstGeom>
        </p:spPr>
      </p:pic>
    </p:spTree>
    <p:extLst>
      <p:ext uri="{BB962C8B-B14F-4D97-AF65-F5344CB8AC3E}">
        <p14:creationId xmlns:p14="http://schemas.microsoft.com/office/powerpoint/2010/main" val="19573321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4248472" cy="909159"/>
          </a:xfrm>
        </p:spPr>
        <p:txBody>
          <a:bodyPr/>
          <a:lstStyle/>
          <a:p>
            <a:r>
              <a:rPr lang="en-US" sz="3600" dirty="0" smtClean="0"/>
              <a:t>IRADW Data Security</a:t>
            </a:r>
            <a:br>
              <a:rPr lang="en-US" sz="3600" dirty="0" smtClean="0"/>
            </a:br>
            <a:r>
              <a:rPr lang="en-US" sz="1800" i="1" dirty="0" smtClean="0"/>
              <a:t>Comply with PHS standards</a:t>
            </a:r>
            <a:endParaRPr lang="en-US" sz="1800" i="1" dirty="0"/>
          </a:p>
        </p:txBody>
      </p:sp>
      <p:pic>
        <p:nvPicPr>
          <p:cNvPr id="3" name="Picture 2"/>
          <p:cNvPicPr>
            <a:picLocks noChangeAspect="1"/>
          </p:cNvPicPr>
          <p:nvPr/>
        </p:nvPicPr>
        <p:blipFill>
          <a:blip r:embed="rId2"/>
          <a:stretch>
            <a:fillRect/>
          </a:stretch>
        </p:blipFill>
        <p:spPr>
          <a:xfrm>
            <a:off x="6228184" y="508261"/>
            <a:ext cx="2266950" cy="413931"/>
          </a:xfrm>
          <a:prstGeom prst="rect">
            <a:avLst/>
          </a:prstGeom>
        </p:spPr>
      </p:pic>
      <p:graphicFrame>
        <p:nvGraphicFramePr>
          <p:cNvPr id="5" name="Diagram 4"/>
          <p:cNvGraphicFramePr/>
          <p:nvPr>
            <p:extLst>
              <p:ext uri="{D42A27DB-BD31-4B8C-83A1-F6EECF244321}">
                <p14:modId xmlns:p14="http://schemas.microsoft.com/office/powerpoint/2010/main" val="2664898585"/>
              </p:ext>
            </p:extLst>
          </p:nvPr>
        </p:nvGraphicFramePr>
        <p:xfrm>
          <a:off x="1079612" y="1340768"/>
          <a:ext cx="6912768" cy="4680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Oval Callout 3"/>
          <p:cNvSpPr/>
          <p:nvPr/>
        </p:nvSpPr>
        <p:spPr>
          <a:xfrm>
            <a:off x="6426206" y="1621089"/>
            <a:ext cx="1870906" cy="1152128"/>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Information Security</a:t>
            </a:r>
            <a:endParaRPr lang="en-US" dirty="0"/>
          </a:p>
        </p:txBody>
      </p:sp>
      <p:sp>
        <p:nvSpPr>
          <p:cNvPr id="6" name="Oval Callout 5"/>
          <p:cNvSpPr/>
          <p:nvPr/>
        </p:nvSpPr>
        <p:spPr>
          <a:xfrm>
            <a:off x="556903" y="1609223"/>
            <a:ext cx="2124236" cy="1152128"/>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smtClean="0"/>
              <a:t>Enterprise Architecture</a:t>
            </a:r>
            <a:endParaRPr lang="en-US" dirty="0"/>
          </a:p>
        </p:txBody>
      </p:sp>
      <p:sp>
        <p:nvSpPr>
          <p:cNvPr id="7" name="Oval Callout 6"/>
          <p:cNvSpPr/>
          <p:nvPr/>
        </p:nvSpPr>
        <p:spPr>
          <a:xfrm rot="10800000">
            <a:off x="1367644" y="5279055"/>
            <a:ext cx="1870906" cy="1152128"/>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8" name="TextBox 7"/>
          <p:cNvSpPr txBox="1"/>
          <p:nvPr/>
        </p:nvSpPr>
        <p:spPr>
          <a:xfrm>
            <a:off x="1619021" y="5530868"/>
            <a:ext cx="1368152" cy="646331"/>
          </a:xfrm>
          <a:prstGeom prst="rect">
            <a:avLst/>
          </a:prstGeom>
          <a:noFill/>
        </p:spPr>
        <p:txBody>
          <a:bodyPr wrap="square" rtlCol="0">
            <a:spAutoFit/>
          </a:bodyPr>
          <a:lstStyle/>
          <a:p>
            <a:r>
              <a:rPr lang="en-US" dirty="0"/>
              <a:t>Legal &amp; </a:t>
            </a:r>
            <a:r>
              <a:rPr lang="en-US" dirty="0" smtClean="0"/>
              <a:t>Compliance</a:t>
            </a:r>
            <a:endParaRPr lang="en-US" dirty="0"/>
          </a:p>
        </p:txBody>
      </p:sp>
    </p:spTree>
    <p:extLst>
      <p:ext uri="{BB962C8B-B14F-4D97-AF65-F5344CB8AC3E}">
        <p14:creationId xmlns:p14="http://schemas.microsoft.com/office/powerpoint/2010/main" val="9435243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8562480" cy="828328"/>
          </a:xfrm>
        </p:spPr>
        <p:txBody>
          <a:bodyPr/>
          <a:lstStyle/>
          <a:p>
            <a:r>
              <a:rPr lang="en-US" sz="3200" dirty="0" smtClean="0"/>
              <a:t>Data Classification and Segmentation</a:t>
            </a:r>
            <a:r>
              <a:rPr lang="en-US" sz="2400" dirty="0" smtClean="0"/>
              <a:t/>
            </a:r>
            <a:br>
              <a:rPr lang="en-US" sz="2400" dirty="0" smtClean="0"/>
            </a:br>
            <a:r>
              <a:rPr lang="en-US" sz="1800" b="0" i="1" dirty="0" smtClean="0"/>
              <a:t>(Based on IRADW Releases 1,2 &amp; 3)</a:t>
            </a:r>
            <a:endParaRPr lang="en-US" sz="1800" b="0" i="1" dirty="0"/>
          </a:p>
        </p:txBody>
      </p:sp>
      <p:graphicFrame>
        <p:nvGraphicFramePr>
          <p:cNvPr id="5" name="Table 4"/>
          <p:cNvGraphicFramePr>
            <a:graphicFrameLocks noGrp="1"/>
          </p:cNvGraphicFramePr>
          <p:nvPr>
            <p:extLst>
              <p:ext uri="{D42A27DB-BD31-4B8C-83A1-F6EECF244321}">
                <p14:modId xmlns:p14="http://schemas.microsoft.com/office/powerpoint/2010/main" val="1369616786"/>
              </p:ext>
            </p:extLst>
          </p:nvPr>
        </p:nvGraphicFramePr>
        <p:xfrm>
          <a:off x="271000" y="1007350"/>
          <a:ext cx="8562479" cy="4906191"/>
        </p:xfrm>
        <a:graphic>
          <a:graphicData uri="http://schemas.openxmlformats.org/drawingml/2006/table">
            <a:tbl>
              <a:tblPr firstRow="1" bandRow="1">
                <a:tableStyleId>{5C22544A-7EE6-4342-B048-85BDC9FD1C3A}</a:tableStyleId>
              </a:tblPr>
              <a:tblGrid>
                <a:gridCol w="1600700">
                  <a:extLst>
                    <a:ext uri="{9D8B030D-6E8A-4147-A177-3AD203B41FA5}">
                      <a16:colId xmlns:a16="http://schemas.microsoft.com/office/drawing/2014/main" val="1189693190"/>
                    </a:ext>
                  </a:extLst>
                </a:gridCol>
                <a:gridCol w="729254">
                  <a:extLst>
                    <a:ext uri="{9D8B030D-6E8A-4147-A177-3AD203B41FA5}">
                      <a16:colId xmlns:a16="http://schemas.microsoft.com/office/drawing/2014/main" val="3670160543"/>
                    </a:ext>
                  </a:extLst>
                </a:gridCol>
                <a:gridCol w="1250966">
                  <a:extLst>
                    <a:ext uri="{9D8B030D-6E8A-4147-A177-3AD203B41FA5}">
                      <a16:colId xmlns:a16="http://schemas.microsoft.com/office/drawing/2014/main" val="3212249663"/>
                    </a:ext>
                  </a:extLst>
                </a:gridCol>
                <a:gridCol w="1290424">
                  <a:extLst>
                    <a:ext uri="{9D8B030D-6E8A-4147-A177-3AD203B41FA5}">
                      <a16:colId xmlns:a16="http://schemas.microsoft.com/office/drawing/2014/main" val="51801298"/>
                    </a:ext>
                  </a:extLst>
                </a:gridCol>
                <a:gridCol w="1296144">
                  <a:extLst>
                    <a:ext uri="{9D8B030D-6E8A-4147-A177-3AD203B41FA5}">
                      <a16:colId xmlns:a16="http://schemas.microsoft.com/office/drawing/2014/main" val="3968978940"/>
                    </a:ext>
                  </a:extLst>
                </a:gridCol>
                <a:gridCol w="1008112">
                  <a:extLst>
                    <a:ext uri="{9D8B030D-6E8A-4147-A177-3AD203B41FA5}">
                      <a16:colId xmlns:a16="http://schemas.microsoft.com/office/drawing/2014/main" val="396677847"/>
                    </a:ext>
                  </a:extLst>
                </a:gridCol>
                <a:gridCol w="1386879">
                  <a:extLst>
                    <a:ext uri="{9D8B030D-6E8A-4147-A177-3AD203B41FA5}">
                      <a16:colId xmlns:a16="http://schemas.microsoft.com/office/drawing/2014/main" val="2357395037"/>
                    </a:ext>
                  </a:extLst>
                </a:gridCol>
              </a:tblGrid>
              <a:tr h="473470">
                <a:tc>
                  <a:txBody>
                    <a:bodyPr/>
                    <a:lstStyle/>
                    <a:p>
                      <a:r>
                        <a:rPr lang="en-US" sz="1400" dirty="0" smtClean="0"/>
                        <a:t>Data</a:t>
                      </a:r>
                      <a:endParaRPr lang="en-US" sz="1400" dirty="0"/>
                    </a:p>
                  </a:txBody>
                  <a:tcPr/>
                </a:tc>
                <a:tc>
                  <a:txBody>
                    <a:bodyPr/>
                    <a:lstStyle/>
                    <a:p>
                      <a:r>
                        <a:rPr lang="en-US" sz="1400" dirty="0" smtClean="0"/>
                        <a:t>Type</a:t>
                      </a:r>
                      <a:endParaRPr lang="en-US" sz="1400" dirty="0"/>
                    </a:p>
                  </a:txBody>
                  <a:tcPr/>
                </a:tc>
                <a:tc>
                  <a:txBody>
                    <a:bodyPr/>
                    <a:lstStyle/>
                    <a:p>
                      <a:r>
                        <a:rPr lang="en-US" sz="1400" dirty="0" smtClean="0"/>
                        <a:t>Participating Component</a:t>
                      </a:r>
                      <a:endParaRPr lang="en-US" sz="1400" dirty="0"/>
                    </a:p>
                  </a:txBody>
                  <a:tcPr/>
                </a:tc>
                <a:tc>
                  <a:txBody>
                    <a:bodyPr/>
                    <a:lstStyle/>
                    <a:p>
                      <a:r>
                        <a:rPr lang="en-US" sz="1400" dirty="0" smtClean="0"/>
                        <a:t>Data Classification</a:t>
                      </a:r>
                      <a:endParaRPr lang="en-US" sz="1400" dirty="0"/>
                    </a:p>
                  </a:txBody>
                  <a:tcPr/>
                </a:tc>
                <a:tc>
                  <a:txBody>
                    <a:bodyPr/>
                    <a:lstStyle/>
                    <a:p>
                      <a:r>
                        <a:rPr lang="en-US" sz="1400" dirty="0" smtClean="0"/>
                        <a:t>Data</a:t>
                      </a:r>
                      <a:r>
                        <a:rPr lang="en-US" sz="1400" baseline="0" dirty="0" smtClean="0"/>
                        <a:t> Segmentation</a:t>
                      </a:r>
                      <a:endParaRPr lang="en-US" sz="1400" dirty="0"/>
                    </a:p>
                  </a:txBody>
                  <a:tcPr/>
                </a:tc>
                <a:tc>
                  <a:txBody>
                    <a:bodyPr/>
                    <a:lstStyle/>
                    <a:p>
                      <a:r>
                        <a:rPr lang="en-US" sz="1400" dirty="0" smtClean="0"/>
                        <a:t>Data</a:t>
                      </a:r>
                      <a:r>
                        <a:rPr lang="en-US" sz="1400" baseline="0" dirty="0" smtClean="0"/>
                        <a:t> State</a:t>
                      </a:r>
                      <a:endParaRPr lang="en-US" sz="1400" dirty="0"/>
                    </a:p>
                  </a:txBody>
                  <a:tcPr/>
                </a:tc>
                <a:tc>
                  <a:txBody>
                    <a:bodyPr/>
                    <a:lstStyle/>
                    <a:p>
                      <a:r>
                        <a:rPr lang="en-US" sz="1400" dirty="0" smtClean="0"/>
                        <a:t>Encrypted</a:t>
                      </a:r>
                      <a:endParaRPr lang="en-US" sz="1400" dirty="0"/>
                    </a:p>
                  </a:txBody>
                  <a:tcPr/>
                </a:tc>
                <a:extLst>
                  <a:ext uri="{0D108BD9-81ED-4DB2-BD59-A6C34878D82A}">
                    <a16:rowId xmlns:a16="http://schemas.microsoft.com/office/drawing/2014/main" val="1115322215"/>
                  </a:ext>
                </a:extLst>
              </a:tr>
              <a:tr h="1075398">
                <a:tc rowSpan="2">
                  <a:txBody>
                    <a:bodyPr/>
                    <a:lstStyle/>
                    <a:p>
                      <a:pPr algn="ctr"/>
                      <a:endParaRPr lang="en-US" sz="1200" dirty="0" smtClean="0"/>
                    </a:p>
                    <a:p>
                      <a:pPr algn="ctr"/>
                      <a:endParaRPr lang="en-US" sz="1200" dirty="0" smtClean="0"/>
                    </a:p>
                    <a:p>
                      <a:pPr algn="ctr"/>
                      <a:endParaRPr lang="en-US" sz="1200" dirty="0" smtClean="0"/>
                    </a:p>
                    <a:p>
                      <a:pPr algn="ctr"/>
                      <a:r>
                        <a:rPr lang="en-US" sz="1200" b="1" i="1" u="sng" dirty="0" smtClean="0"/>
                        <a:t>Health Plan </a:t>
                      </a:r>
                      <a:r>
                        <a:rPr lang="en-US" sz="1200" dirty="0" smtClean="0"/>
                        <a:t>Membership,</a:t>
                      </a:r>
                      <a:r>
                        <a:rPr lang="en-US" sz="1200" baseline="0" dirty="0" smtClean="0"/>
                        <a:t> Claims, Product, Provider, Lab results, Member Satisfaction</a:t>
                      </a:r>
                      <a:endParaRPr lang="en-US" sz="1200" dirty="0"/>
                    </a:p>
                  </a:txBody>
                  <a:tcPr/>
                </a:tc>
                <a:tc rowSpan="4">
                  <a:txBody>
                    <a:bodyPr/>
                    <a:lstStyle/>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r>
                        <a:rPr lang="en-US" sz="1200" dirty="0" smtClean="0"/>
                        <a:t>PHI / PII</a:t>
                      </a:r>
                    </a:p>
                  </a:txBody>
                  <a:tcPr/>
                </a:tc>
                <a:tc rowSpan="4">
                  <a:txBody>
                    <a:bodyPr/>
                    <a:lstStyle/>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endParaRPr lang="en-US" sz="1200" dirty="0" smtClean="0"/>
                    </a:p>
                    <a:p>
                      <a:r>
                        <a:rPr lang="en-US" sz="1200" dirty="0" smtClean="0"/>
                        <a:t>Database</a:t>
                      </a:r>
                    </a:p>
                  </a:txBody>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Internal</a:t>
                      </a:r>
                      <a:r>
                        <a:rPr lang="en-US" sz="1200" baseline="0" dirty="0" smtClean="0"/>
                        <a:t> / </a:t>
                      </a:r>
                      <a:r>
                        <a:rPr lang="en-US" sz="1200" dirty="0" smtClean="0"/>
                        <a:t>Confidential</a:t>
                      </a:r>
                      <a:r>
                        <a:rPr lang="en-US" sz="1200" baseline="0" dirty="0" smtClean="0"/>
                        <a:t> / Restricted</a:t>
                      </a:r>
                      <a:endParaRPr lang="en-US" sz="1200" dirty="0" smtClean="0"/>
                    </a:p>
                  </a:txBody>
                  <a:tcPr/>
                </a:tc>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dk1"/>
                          </a:solidFill>
                          <a:effectLst/>
                          <a:latin typeface="+mn-lt"/>
                          <a:ea typeface="+mn-ea"/>
                          <a:cs typeface="+mn-cs"/>
                        </a:rPr>
                        <a:t>Data Packet/Encapsulated</a:t>
                      </a:r>
                      <a:endParaRPr lang="en-US" sz="1200" dirty="0" smtClean="0"/>
                    </a:p>
                  </a:txBody>
                  <a:tcPr/>
                </a:tc>
                <a:tc>
                  <a:txBody>
                    <a:bodyPr/>
                    <a:lstStyle/>
                    <a:p>
                      <a:r>
                        <a:rPr lang="en-US" sz="1200" dirty="0" smtClean="0"/>
                        <a:t>At rest</a:t>
                      </a:r>
                      <a:r>
                        <a:rPr lang="en-US" sz="1200" dirty="0" smtClean="0">
                          <a:solidFill>
                            <a:srgbClr val="FF0000"/>
                          </a:solidFill>
                        </a:rPr>
                        <a:t> </a:t>
                      </a:r>
                    </a:p>
                    <a:p>
                      <a:r>
                        <a:rPr lang="en-US" sz="1200" b="1" dirty="0" smtClean="0">
                          <a:solidFill>
                            <a:srgbClr val="FF0000"/>
                          </a:solidFill>
                        </a:rPr>
                        <a:t>(No Access)</a:t>
                      </a:r>
                      <a:endParaRPr lang="en-US" sz="1200" b="1" dirty="0">
                        <a:solidFill>
                          <a:srgbClr val="FF0000"/>
                        </a:solidFill>
                      </a:endParaRPr>
                    </a:p>
                  </a:txBody>
                  <a:tcPr/>
                </a:tc>
                <a:tc rowSpan="4">
                  <a:txBody>
                    <a:bodyPr/>
                    <a:lstStyle/>
                    <a:p>
                      <a:endParaRPr lang="en-US" sz="1200" b="1" u="sng" dirty="0" smtClean="0"/>
                    </a:p>
                    <a:p>
                      <a:endParaRPr lang="en-US" sz="1200" b="1" u="sng" dirty="0" smtClean="0"/>
                    </a:p>
                    <a:p>
                      <a:endParaRPr lang="en-US" sz="1200" b="1" u="sng" dirty="0" smtClean="0"/>
                    </a:p>
                    <a:p>
                      <a:endParaRPr lang="en-US" sz="1200" b="1" u="sng" dirty="0" smtClean="0"/>
                    </a:p>
                    <a:p>
                      <a:endParaRPr lang="en-US" sz="1200" b="1" u="sng" dirty="0" smtClean="0"/>
                    </a:p>
                    <a:p>
                      <a:r>
                        <a:rPr lang="en-US" sz="1200" b="1" u="sng" dirty="0" smtClean="0"/>
                        <a:t>At Rest: </a:t>
                      </a:r>
                      <a:r>
                        <a:rPr lang="en-US" sz="1200" dirty="0" smtClean="0"/>
                        <a:t>No Access</a:t>
                      </a:r>
                      <a:r>
                        <a:rPr lang="en-US" sz="1200" baseline="0" dirty="0" smtClean="0"/>
                        <a:t> will be provided while data is at rest</a:t>
                      </a:r>
                    </a:p>
                    <a:p>
                      <a:endParaRPr lang="en-US" sz="1200" baseline="0" dirty="0" smtClean="0"/>
                    </a:p>
                    <a:p>
                      <a:r>
                        <a:rPr lang="en-US" sz="1200" b="1" u="sng" baseline="0" dirty="0" smtClean="0"/>
                        <a:t>At Motion:</a:t>
                      </a:r>
                      <a:r>
                        <a:rPr lang="en-US" sz="1200" b="1" u="none" baseline="0" dirty="0" smtClean="0"/>
                        <a:t>  R</a:t>
                      </a:r>
                      <a:r>
                        <a:rPr lang="en-US" sz="1200" b="1" i="1" baseline="0" dirty="0" smtClean="0"/>
                        <a:t>ole based security </a:t>
                      </a:r>
                      <a:r>
                        <a:rPr lang="en-US" sz="1200" baseline="0" dirty="0" smtClean="0"/>
                        <a:t>to comply with </a:t>
                      </a:r>
                      <a:r>
                        <a:rPr lang="en-US" sz="1200" dirty="0" smtClean="0"/>
                        <a:t>HIPAA-compliant </a:t>
                      </a:r>
                      <a:r>
                        <a:rPr lang="en-US" sz="1200" baseline="0" dirty="0" smtClean="0"/>
                        <a:t> , Anti-Trust laws , Data sharing across business units and capitated providers</a:t>
                      </a:r>
                      <a:endParaRPr lang="en-US" sz="1200" dirty="0"/>
                    </a:p>
                  </a:txBody>
                  <a:tcPr/>
                </a:tc>
                <a:extLst>
                  <a:ext uri="{0D108BD9-81ED-4DB2-BD59-A6C34878D82A}">
                    <a16:rowId xmlns:a16="http://schemas.microsoft.com/office/drawing/2014/main" val="1031189482"/>
                  </a:ext>
                </a:extLst>
              </a:tr>
              <a:tr h="1080120">
                <a:tc vMerge="1">
                  <a:txBody>
                    <a:bodyPr/>
                    <a:lstStyle/>
                    <a:p>
                      <a:pPr algn="ctr"/>
                      <a:endParaRPr lang="en-US" sz="1200" dirty="0"/>
                    </a:p>
                  </a:txBody>
                  <a:tcPr/>
                </a:tc>
                <a:tc vMerge="1">
                  <a:txBody>
                    <a:bodyPr/>
                    <a:lstStyle/>
                    <a:p>
                      <a:endParaRPr lang="en-US" sz="1200" dirty="0" smtClean="0"/>
                    </a:p>
                  </a:txBody>
                  <a:tcPr/>
                </a:tc>
                <a:tc vMerge="1">
                  <a:txBody>
                    <a:bodyPr/>
                    <a:lstStyle/>
                    <a:p>
                      <a:endParaRPr lang="en-US" sz="1200" dirty="0" smtClean="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dirty="0" smtClean="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a:txBody>
                    <a:bodyPr/>
                    <a:lstStyle/>
                    <a:p>
                      <a:r>
                        <a:rPr lang="en-US" sz="1200" dirty="0" smtClean="0"/>
                        <a:t>At Motion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1" baseline="0" dirty="0" smtClean="0">
                          <a:solidFill>
                            <a:srgbClr val="FF0000"/>
                          </a:solidFill>
                        </a:rPr>
                        <a:t>(Role based Access)</a:t>
                      </a:r>
                      <a:endParaRPr lang="en-US" sz="1200" b="1" i="1" dirty="0" smtClean="0">
                        <a:solidFill>
                          <a:srgbClr val="FF0000"/>
                        </a:solidFill>
                      </a:endParaRPr>
                    </a:p>
                  </a:txBody>
                  <a:tcPr/>
                </a:tc>
                <a:tc vMerge="1">
                  <a:txBody>
                    <a:bodyPr/>
                    <a:lstStyle/>
                    <a:p>
                      <a:endParaRPr lang="en-US"/>
                    </a:p>
                  </a:txBody>
                  <a:tcPr/>
                </a:tc>
                <a:extLst>
                  <a:ext uri="{0D108BD9-81ED-4DB2-BD59-A6C34878D82A}">
                    <a16:rowId xmlns:a16="http://schemas.microsoft.com/office/drawing/2014/main" val="3531546267"/>
                  </a:ext>
                </a:extLst>
              </a:tr>
              <a:tr h="1044116">
                <a:tc rowSpan="2">
                  <a:txBody>
                    <a:bodyPr/>
                    <a:lstStyle/>
                    <a:p>
                      <a:pPr algn="ctr"/>
                      <a:endParaRPr lang="en-US" sz="1200" dirty="0" smtClean="0"/>
                    </a:p>
                    <a:p>
                      <a:pPr algn="ctr"/>
                      <a:endParaRPr lang="en-US" sz="1200" dirty="0" smtClean="0"/>
                    </a:p>
                    <a:p>
                      <a:pPr algn="ctr"/>
                      <a:endParaRPr lang="en-US" sz="1200" dirty="0" smtClean="0"/>
                    </a:p>
                    <a:p>
                      <a:pPr algn="ctr"/>
                      <a:r>
                        <a:rPr lang="en-US" sz="1200" b="1" i="1" u="sng" dirty="0" smtClean="0"/>
                        <a:t>Delivery</a:t>
                      </a:r>
                      <a:r>
                        <a:rPr lang="en-US" sz="1200" b="1" i="1" u="sng" baseline="0" dirty="0" smtClean="0"/>
                        <a:t> System </a:t>
                      </a:r>
                      <a:r>
                        <a:rPr lang="en-US" sz="1200" baseline="0" dirty="0" smtClean="0"/>
                        <a:t>Patient Lab results, Encounters, Medication, Patient Satisfaction</a:t>
                      </a:r>
                      <a:endParaRPr lang="en-US" sz="12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vMerge="1">
                  <a:txBody>
                    <a:bodyPr/>
                    <a:lstStyle/>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At rest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FF0000"/>
                          </a:solidFill>
                        </a:rPr>
                        <a:t>(No Access)</a:t>
                      </a:r>
                    </a:p>
                  </a:txBody>
                  <a:tcPr/>
                </a:tc>
                <a:tc vMerge="1">
                  <a:txBody>
                    <a:bodyPr/>
                    <a:lstStyle/>
                    <a:p>
                      <a:endParaRPr lang="en-US" sz="1200" dirty="0"/>
                    </a:p>
                  </a:txBody>
                  <a:tcPr/>
                </a:tc>
                <a:extLst>
                  <a:ext uri="{0D108BD9-81ED-4DB2-BD59-A6C34878D82A}">
                    <a16:rowId xmlns:a16="http://schemas.microsoft.com/office/drawing/2014/main" val="4209474571"/>
                  </a:ext>
                </a:extLst>
              </a:tr>
              <a:tr h="1188397">
                <a:tc vMerge="1">
                  <a:txBody>
                    <a:bodyPr/>
                    <a:lstStyle/>
                    <a:p>
                      <a:pPr algn="ctr"/>
                      <a:endParaRPr lang="en-US" sz="1200" dirty="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0" dirty="0" smtClean="0"/>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At Motion </a:t>
                      </a:r>
                      <a:r>
                        <a:rPr lang="en-US" sz="1200" b="1" i="1" baseline="0" dirty="0" smtClean="0">
                          <a:solidFill>
                            <a:srgbClr val="FF0000"/>
                          </a:solidFill>
                        </a:rPr>
                        <a:t>(Role based Access)</a:t>
                      </a:r>
                      <a:endParaRPr lang="en-US" sz="1200" b="1" i="1" dirty="0" smtClean="0">
                        <a:solidFill>
                          <a:srgbClr val="FF0000"/>
                        </a:solidFill>
                      </a:endParaRPr>
                    </a:p>
                  </a:txBody>
                  <a:tcPr/>
                </a:tc>
                <a:tc vMerge="1">
                  <a:txBody>
                    <a:bodyPr/>
                    <a:lstStyle/>
                    <a:p>
                      <a:endParaRPr lang="en-US" sz="1200" dirty="0"/>
                    </a:p>
                  </a:txBody>
                  <a:tcPr/>
                </a:tc>
                <a:extLst>
                  <a:ext uri="{0D108BD9-81ED-4DB2-BD59-A6C34878D82A}">
                    <a16:rowId xmlns:a16="http://schemas.microsoft.com/office/drawing/2014/main" val="3644513703"/>
                  </a:ext>
                </a:extLst>
              </a:tr>
            </a:tbl>
          </a:graphicData>
        </a:graphic>
      </p:graphicFrame>
      <p:pic>
        <p:nvPicPr>
          <p:cNvPr id="4" name="Picture 3"/>
          <p:cNvPicPr>
            <a:picLocks noChangeAspect="1"/>
          </p:cNvPicPr>
          <p:nvPr/>
        </p:nvPicPr>
        <p:blipFill>
          <a:blip r:embed="rId2"/>
          <a:stretch>
            <a:fillRect/>
          </a:stretch>
        </p:blipFill>
        <p:spPr>
          <a:xfrm>
            <a:off x="6840252" y="140504"/>
            <a:ext cx="2266950" cy="413931"/>
          </a:xfrm>
          <a:prstGeom prst="rect">
            <a:avLst/>
          </a:prstGeom>
        </p:spPr>
      </p:pic>
      <p:sp>
        <p:nvSpPr>
          <p:cNvPr id="3" name="TextBox 2"/>
          <p:cNvSpPr txBox="1"/>
          <p:nvPr/>
        </p:nvSpPr>
        <p:spPr>
          <a:xfrm>
            <a:off x="2267745" y="6057292"/>
            <a:ext cx="6565734" cy="369332"/>
          </a:xfrm>
          <a:prstGeom prst="rect">
            <a:avLst/>
          </a:prstGeom>
          <a:noFill/>
        </p:spPr>
        <p:txBody>
          <a:bodyPr wrap="square" rtlCol="0">
            <a:spAutoFit/>
          </a:bodyPr>
          <a:lstStyle/>
          <a:p>
            <a:r>
              <a:rPr lang="en-US" b="1" i="1" dirty="0" smtClean="0">
                <a:hlinkClick r:id="rId3" action="ppaction://hlinksldjump"/>
              </a:rPr>
              <a:t>See role based security design for data protection at motion</a:t>
            </a:r>
            <a:endParaRPr lang="en-US" b="1" i="1" dirty="0"/>
          </a:p>
        </p:txBody>
      </p:sp>
    </p:spTree>
    <p:extLst>
      <p:ext uri="{BB962C8B-B14F-4D97-AF65-F5344CB8AC3E}">
        <p14:creationId xmlns:p14="http://schemas.microsoft.com/office/powerpoint/2010/main" val="33894559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334" y="278715"/>
            <a:ext cx="6275500" cy="576000"/>
          </a:xfrm>
        </p:spPr>
        <p:txBody>
          <a:bodyPr/>
          <a:lstStyle/>
          <a:p>
            <a:r>
              <a:rPr lang="en-US" sz="2800" dirty="0" smtClean="0"/>
              <a:t>Data </a:t>
            </a:r>
            <a:r>
              <a:rPr lang="en-US" sz="2800" dirty="0"/>
              <a:t>Security </a:t>
            </a:r>
            <a:r>
              <a:rPr lang="en-US" sz="2800" dirty="0" smtClean="0"/>
              <a:t>Stakeholder Requirements</a:t>
            </a:r>
            <a:endParaRPr lang="en-US" sz="2800" dirty="0"/>
          </a:p>
        </p:txBody>
      </p:sp>
      <p:sp>
        <p:nvSpPr>
          <p:cNvPr id="3" name="Text Placeholder 2"/>
          <p:cNvSpPr>
            <a:spLocks noGrp="1"/>
          </p:cNvSpPr>
          <p:nvPr>
            <p:ph type="body" sz="quarter" idx="10"/>
          </p:nvPr>
        </p:nvSpPr>
        <p:spPr>
          <a:xfrm>
            <a:off x="304800" y="1052736"/>
            <a:ext cx="8534400" cy="5184576"/>
          </a:xfrm>
        </p:spPr>
        <p:txBody>
          <a:bodyPr>
            <a:normAutofit/>
          </a:bodyPr>
          <a:lstStyle/>
          <a:p>
            <a:r>
              <a:rPr lang="en-US" sz="1800" dirty="0">
                <a:solidFill>
                  <a:schemeClr val="tx1">
                    <a:lumMod val="65000"/>
                    <a:lumOff val="35000"/>
                  </a:schemeClr>
                </a:solidFill>
                <a:cs typeface="Arial" panose="020B0604020202020204" pitchFamily="34" charset="0"/>
              </a:rPr>
              <a:t>Must secure </a:t>
            </a:r>
            <a:r>
              <a:rPr lang="en-US" sz="1800" dirty="0" smtClean="0">
                <a:solidFill>
                  <a:schemeClr val="tx1">
                    <a:lumMod val="65000"/>
                    <a:lumOff val="35000"/>
                  </a:schemeClr>
                </a:solidFill>
                <a:cs typeface="Arial" panose="020B0604020202020204" pitchFamily="34" charset="0"/>
              </a:rPr>
              <a:t>Protected Health Information (PHI) or Personal Identifiable Information (PII) </a:t>
            </a:r>
            <a:r>
              <a:rPr lang="en-US" sz="1800" dirty="0">
                <a:solidFill>
                  <a:schemeClr val="tx1">
                    <a:lumMod val="65000"/>
                    <a:lumOff val="35000"/>
                  </a:schemeClr>
                </a:solidFill>
                <a:cs typeface="Arial" panose="020B0604020202020204" pitchFamily="34" charset="0"/>
              </a:rPr>
              <a:t>in a method that will comply with </a:t>
            </a:r>
            <a:r>
              <a:rPr lang="en-US" sz="1800" dirty="0"/>
              <a:t>HIPAA-compliant data </a:t>
            </a:r>
            <a:r>
              <a:rPr lang="en-US" sz="1800" dirty="0" smtClean="0"/>
              <a:t>environment. </a:t>
            </a:r>
            <a:r>
              <a:rPr lang="en-US" sz="1800" dirty="0" smtClean="0">
                <a:solidFill>
                  <a:srgbClr val="00B0F0"/>
                </a:solidFill>
              </a:rPr>
              <a:t>In Scope for IRADW </a:t>
            </a:r>
          </a:p>
          <a:p>
            <a:r>
              <a:rPr lang="en-US" sz="1800" dirty="0" smtClean="0">
                <a:solidFill>
                  <a:schemeClr val="tx1">
                    <a:lumMod val="65000"/>
                    <a:lumOff val="35000"/>
                  </a:schemeClr>
                </a:solidFill>
                <a:cs typeface="Arial" panose="020B0604020202020204" pitchFamily="34" charset="0"/>
              </a:rPr>
              <a:t>Must comply with Anti-Trust </a:t>
            </a:r>
            <a:r>
              <a:rPr lang="en-US" sz="1800" dirty="0">
                <a:solidFill>
                  <a:schemeClr val="tx1">
                    <a:lumMod val="65000"/>
                    <a:lumOff val="35000"/>
                  </a:schemeClr>
                </a:solidFill>
                <a:cs typeface="Arial" panose="020B0604020202020204" pitchFamily="34" charset="0"/>
              </a:rPr>
              <a:t>laws in a method that will </a:t>
            </a:r>
            <a:r>
              <a:rPr lang="en-US" sz="1800" dirty="0" smtClean="0">
                <a:solidFill>
                  <a:schemeClr val="tx1">
                    <a:lumMod val="65000"/>
                    <a:lumOff val="35000"/>
                  </a:schemeClr>
                </a:solidFill>
                <a:cs typeface="Arial" panose="020B0604020202020204" pitchFamily="34" charset="0"/>
              </a:rPr>
              <a:t>provide </a:t>
            </a:r>
            <a:r>
              <a:rPr lang="en-US" sz="1800" dirty="0">
                <a:solidFill>
                  <a:schemeClr val="tx1">
                    <a:lumMod val="65000"/>
                    <a:lumOff val="35000"/>
                  </a:schemeClr>
                </a:solidFill>
                <a:cs typeface="Arial" panose="020B0604020202020204" pitchFamily="34" charset="0"/>
              </a:rPr>
              <a:t>confidence in </a:t>
            </a:r>
            <a:r>
              <a:rPr lang="en-US" sz="1800" b="1" i="1" dirty="0">
                <a:solidFill>
                  <a:schemeClr val="tx1">
                    <a:lumMod val="65000"/>
                    <a:lumOff val="35000"/>
                  </a:schemeClr>
                </a:solidFill>
                <a:cs typeface="Arial" panose="020B0604020202020204" pitchFamily="34" charset="0"/>
              </a:rPr>
              <a:t>information sharing </a:t>
            </a:r>
            <a:r>
              <a:rPr lang="en-US" sz="1800" dirty="0">
                <a:solidFill>
                  <a:schemeClr val="tx1">
                    <a:lumMod val="65000"/>
                    <a:lumOff val="35000"/>
                  </a:schemeClr>
                </a:solidFill>
                <a:cs typeface="Arial" panose="020B0604020202020204" pitchFamily="34" charset="0"/>
              </a:rPr>
              <a:t>between healthcare entities</a:t>
            </a:r>
            <a:r>
              <a:rPr lang="en-US" sz="1800" dirty="0" smtClean="0">
                <a:solidFill>
                  <a:schemeClr val="tx1">
                    <a:lumMod val="65000"/>
                    <a:lumOff val="35000"/>
                  </a:schemeClr>
                </a:solidFill>
                <a:cs typeface="Arial" panose="020B0604020202020204" pitchFamily="34" charset="0"/>
              </a:rPr>
              <a:t>. </a:t>
            </a:r>
            <a:r>
              <a:rPr lang="en-US" sz="1800" dirty="0">
                <a:solidFill>
                  <a:srgbClr val="00B0F0"/>
                </a:solidFill>
              </a:rPr>
              <a:t>In Scope for IRADW </a:t>
            </a:r>
            <a:endParaRPr lang="en-US" sz="1800" dirty="0" smtClean="0">
              <a:solidFill>
                <a:schemeClr val="tx1">
                  <a:lumMod val="65000"/>
                  <a:lumOff val="35000"/>
                </a:schemeClr>
              </a:solidFill>
              <a:cs typeface="Arial" panose="020B0604020202020204" pitchFamily="34" charset="0"/>
            </a:endParaRPr>
          </a:p>
          <a:p>
            <a:r>
              <a:rPr lang="en-US" sz="1800" dirty="0" smtClean="0">
                <a:solidFill>
                  <a:schemeClr val="tx1">
                    <a:lumMod val="65000"/>
                    <a:lumOff val="35000"/>
                  </a:schemeClr>
                </a:solidFill>
                <a:cs typeface="Arial" panose="020B0604020202020204" pitchFamily="34" charset="0"/>
              </a:rPr>
              <a:t>Must </a:t>
            </a:r>
            <a:r>
              <a:rPr lang="en-US" sz="1800" dirty="0">
                <a:solidFill>
                  <a:schemeClr val="tx1">
                    <a:lumMod val="65000"/>
                    <a:lumOff val="35000"/>
                  </a:schemeClr>
                </a:solidFill>
                <a:cs typeface="Arial" panose="020B0604020202020204" pitchFamily="34" charset="0"/>
              </a:rPr>
              <a:t>provide an adequate amount of authentication in order to meet the business requirements for security</a:t>
            </a:r>
            <a:r>
              <a:rPr lang="en-US" sz="1800" dirty="0" smtClean="0">
                <a:solidFill>
                  <a:schemeClr val="tx1">
                    <a:lumMod val="65000"/>
                    <a:lumOff val="35000"/>
                  </a:schemeClr>
                </a:solidFill>
                <a:cs typeface="Arial" panose="020B0604020202020204" pitchFamily="34" charset="0"/>
              </a:rPr>
              <a:t>. </a:t>
            </a:r>
            <a:r>
              <a:rPr lang="en-US" sz="1800" dirty="0">
                <a:solidFill>
                  <a:srgbClr val="00B0F0"/>
                </a:solidFill>
              </a:rPr>
              <a:t>In Scope for IRADW </a:t>
            </a:r>
          </a:p>
          <a:p>
            <a:r>
              <a:rPr lang="en-US" sz="1800" dirty="0" smtClean="0">
                <a:solidFill>
                  <a:schemeClr val="tx1">
                    <a:lumMod val="65000"/>
                    <a:lumOff val="35000"/>
                  </a:schemeClr>
                </a:solidFill>
                <a:cs typeface="Arial" panose="020B0604020202020204" pitchFamily="34" charset="0"/>
              </a:rPr>
              <a:t>Must </a:t>
            </a:r>
            <a:r>
              <a:rPr lang="en-US" sz="1800" dirty="0">
                <a:solidFill>
                  <a:schemeClr val="tx1">
                    <a:lumMod val="65000"/>
                    <a:lumOff val="35000"/>
                  </a:schemeClr>
                </a:solidFill>
                <a:cs typeface="Arial" panose="020B0604020202020204" pitchFamily="34" charset="0"/>
              </a:rPr>
              <a:t>provide data provisioning limitation based on the </a:t>
            </a:r>
            <a:r>
              <a:rPr lang="en-US" sz="1800" b="1" i="1" dirty="0">
                <a:solidFill>
                  <a:schemeClr val="tx1">
                    <a:lumMod val="65000"/>
                    <a:lumOff val="35000"/>
                  </a:schemeClr>
                </a:solidFill>
                <a:cs typeface="Arial" panose="020B0604020202020204" pitchFamily="34" charset="0"/>
              </a:rPr>
              <a:t>tenant's </a:t>
            </a:r>
            <a:r>
              <a:rPr lang="en-US" sz="1800" b="1" i="1" dirty="0" smtClean="0">
                <a:solidFill>
                  <a:schemeClr val="tx1">
                    <a:lumMod val="65000"/>
                    <a:lumOff val="35000"/>
                  </a:schemeClr>
                </a:solidFill>
                <a:cs typeface="Arial" panose="020B0604020202020204" pitchFamily="34" charset="0"/>
              </a:rPr>
              <a:t>role </a:t>
            </a:r>
            <a:r>
              <a:rPr lang="en-US" sz="1800" dirty="0">
                <a:solidFill>
                  <a:schemeClr val="tx1">
                    <a:lumMod val="65000"/>
                    <a:lumOff val="35000"/>
                  </a:schemeClr>
                </a:solidFill>
                <a:cs typeface="Arial" panose="020B0604020202020204" pitchFamily="34" charset="0"/>
              </a:rPr>
              <a:t>and the </a:t>
            </a:r>
            <a:r>
              <a:rPr lang="en-US" sz="1800" b="1" i="1" dirty="0">
                <a:solidFill>
                  <a:schemeClr val="tx1">
                    <a:lumMod val="65000"/>
                    <a:lumOff val="35000"/>
                  </a:schemeClr>
                </a:solidFill>
                <a:cs typeface="Arial" panose="020B0604020202020204" pitchFamily="34" charset="0"/>
              </a:rPr>
              <a:t>data sensitivity</a:t>
            </a:r>
            <a:r>
              <a:rPr lang="en-US" sz="1800" dirty="0" smtClean="0">
                <a:solidFill>
                  <a:schemeClr val="tx1">
                    <a:lumMod val="65000"/>
                    <a:lumOff val="35000"/>
                  </a:schemeClr>
                </a:solidFill>
                <a:cs typeface="Arial" panose="020B0604020202020204" pitchFamily="34" charset="0"/>
              </a:rPr>
              <a:t>. </a:t>
            </a:r>
            <a:r>
              <a:rPr lang="en-US" sz="1800" dirty="0">
                <a:solidFill>
                  <a:srgbClr val="00B0F0"/>
                </a:solidFill>
              </a:rPr>
              <a:t>In Scope for IRADW </a:t>
            </a:r>
            <a:endParaRPr lang="en-US" sz="1800" dirty="0" smtClean="0">
              <a:solidFill>
                <a:schemeClr val="tx1">
                  <a:lumMod val="65000"/>
                  <a:lumOff val="35000"/>
                </a:schemeClr>
              </a:solidFill>
              <a:cs typeface="Arial" panose="020B0604020202020204" pitchFamily="34" charset="0"/>
            </a:endParaRPr>
          </a:p>
          <a:p>
            <a:r>
              <a:rPr lang="en-US" sz="1800" dirty="0" smtClean="0">
                <a:solidFill>
                  <a:schemeClr val="tx1">
                    <a:lumMod val="65000"/>
                    <a:lumOff val="35000"/>
                  </a:schemeClr>
                </a:solidFill>
                <a:cs typeface="Arial" panose="020B0604020202020204" pitchFamily="34" charset="0"/>
              </a:rPr>
              <a:t>Must protect the data in motion using appropriate algorithm as per information security guidance and policies. </a:t>
            </a:r>
            <a:r>
              <a:rPr lang="en-US" sz="1800" dirty="0">
                <a:solidFill>
                  <a:srgbClr val="00B0F0"/>
                </a:solidFill>
              </a:rPr>
              <a:t>In Scope for IRADW </a:t>
            </a:r>
            <a:endParaRPr lang="en-US" sz="1800" dirty="0">
              <a:solidFill>
                <a:schemeClr val="tx1">
                  <a:lumMod val="65000"/>
                  <a:lumOff val="35000"/>
                </a:schemeClr>
              </a:solidFill>
              <a:cs typeface="Arial" panose="020B0604020202020204" pitchFamily="34" charset="0"/>
            </a:endParaRPr>
          </a:p>
          <a:p>
            <a:r>
              <a:rPr lang="en-US" sz="1800" dirty="0" smtClean="0"/>
              <a:t>Must </a:t>
            </a:r>
            <a:r>
              <a:rPr lang="en-US" sz="1800" dirty="0"/>
              <a:t>implement strong, granular and auditable security controls</a:t>
            </a:r>
            <a:r>
              <a:rPr lang="en-US" sz="1800" dirty="0" smtClean="0"/>
              <a:t>. </a:t>
            </a:r>
            <a:r>
              <a:rPr lang="en-US" sz="1800" dirty="0">
                <a:solidFill>
                  <a:srgbClr val="00B0F0"/>
                </a:solidFill>
              </a:rPr>
              <a:t>Out of Scope for CitiusTech </a:t>
            </a:r>
            <a:r>
              <a:rPr lang="en-US" sz="1800" dirty="0" smtClean="0">
                <a:solidFill>
                  <a:srgbClr val="00B0F0"/>
                </a:solidFill>
              </a:rPr>
              <a:t>but In Scope for day to day operations</a:t>
            </a:r>
          </a:p>
          <a:p>
            <a:r>
              <a:rPr lang="en-US" sz="1800" dirty="0" smtClean="0"/>
              <a:t>Implement Netezza LDAP authentication</a:t>
            </a:r>
            <a:endParaRPr lang="en-US" sz="1800" dirty="0"/>
          </a:p>
          <a:p>
            <a:r>
              <a:rPr lang="en-US" sz="1800" dirty="0" smtClean="0"/>
              <a:t>Apply </a:t>
            </a:r>
            <a:r>
              <a:rPr lang="en-US" sz="1800" dirty="0"/>
              <a:t>OHCA Type &amp; Healthcare Operations </a:t>
            </a:r>
            <a:r>
              <a:rPr lang="en-US" sz="1800" dirty="0">
                <a:solidFill>
                  <a:schemeClr val="bg2">
                    <a:lumMod val="25000"/>
                  </a:schemeClr>
                </a:solidFill>
              </a:rPr>
              <a:t>Restrictions</a:t>
            </a:r>
            <a:r>
              <a:rPr lang="en-US" sz="1800" dirty="0">
                <a:solidFill>
                  <a:srgbClr val="0000CC"/>
                </a:solidFill>
              </a:rPr>
              <a:t> </a:t>
            </a:r>
            <a:r>
              <a:rPr lang="en-US" sz="1800" dirty="0"/>
              <a:t>as </a:t>
            </a:r>
            <a:r>
              <a:rPr lang="en-US" sz="1800" dirty="0" smtClean="0"/>
              <a:t>applicable </a:t>
            </a:r>
            <a:r>
              <a:rPr lang="en-US" sz="1800" b="1" i="1" dirty="0"/>
              <a:t>Reference Number DAN.PHS-E.002 – See</a:t>
            </a:r>
            <a:r>
              <a:rPr lang="en-US" sz="1800" dirty="0" smtClean="0"/>
              <a:t> (</a:t>
            </a:r>
            <a:r>
              <a:rPr lang="en-US" sz="1800" b="1" i="1" dirty="0">
                <a:hlinkClick r:id="rId2" action="ppaction://hlinksldjump"/>
              </a:rPr>
              <a:t>Appendix Data Sharing Across the Business Units / Capitated </a:t>
            </a:r>
            <a:r>
              <a:rPr lang="en-US" sz="1800" b="1" i="1" dirty="0" smtClean="0">
                <a:hlinkClick r:id="rId2" action="ppaction://hlinksldjump"/>
              </a:rPr>
              <a:t>Providers</a:t>
            </a:r>
            <a:r>
              <a:rPr lang="en-US" sz="1800" dirty="0" smtClean="0"/>
              <a:t>) </a:t>
            </a:r>
            <a:r>
              <a:rPr lang="en-US" sz="1800" dirty="0" smtClean="0">
                <a:solidFill>
                  <a:srgbClr val="00B0F0"/>
                </a:solidFill>
              </a:rPr>
              <a:t>In </a:t>
            </a:r>
            <a:r>
              <a:rPr lang="en-US" sz="1800" dirty="0">
                <a:solidFill>
                  <a:srgbClr val="00B0F0"/>
                </a:solidFill>
              </a:rPr>
              <a:t>Scope for IRADW </a:t>
            </a:r>
            <a:endParaRPr lang="en-US" sz="1800" dirty="0">
              <a:solidFill>
                <a:schemeClr val="tx1">
                  <a:lumMod val="65000"/>
                  <a:lumOff val="35000"/>
                </a:schemeClr>
              </a:solidFill>
              <a:cs typeface="Arial" panose="020B0604020202020204" pitchFamily="34" charset="0"/>
            </a:endParaRPr>
          </a:p>
        </p:txBody>
      </p:sp>
      <p:pic>
        <p:nvPicPr>
          <p:cNvPr id="4" name="Picture 3"/>
          <p:cNvPicPr>
            <a:picLocks noChangeAspect="1"/>
          </p:cNvPicPr>
          <p:nvPr/>
        </p:nvPicPr>
        <p:blipFill>
          <a:blip r:embed="rId3"/>
          <a:stretch>
            <a:fillRect/>
          </a:stretch>
        </p:blipFill>
        <p:spPr>
          <a:xfrm>
            <a:off x="6572250" y="332829"/>
            <a:ext cx="2266950" cy="413931"/>
          </a:xfrm>
          <a:prstGeom prst="rect">
            <a:avLst/>
          </a:prstGeom>
        </p:spPr>
      </p:pic>
    </p:spTree>
    <p:extLst>
      <p:ext uri="{BB962C8B-B14F-4D97-AF65-F5344CB8AC3E}">
        <p14:creationId xmlns:p14="http://schemas.microsoft.com/office/powerpoint/2010/main" val="35977354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84213"/>
            <a:ext cx="6372708" cy="576000"/>
          </a:xfrm>
        </p:spPr>
        <p:txBody>
          <a:bodyPr/>
          <a:lstStyle/>
          <a:p>
            <a:r>
              <a:rPr lang="en-US" sz="2800" dirty="0" smtClean="0"/>
              <a:t>Solution Highlights: Data </a:t>
            </a:r>
            <a:r>
              <a:rPr lang="en-US" sz="2800" dirty="0"/>
              <a:t>Security </a:t>
            </a:r>
            <a:r>
              <a:rPr lang="en-US" sz="2800" dirty="0" smtClean="0"/>
              <a:t>Design</a:t>
            </a:r>
            <a:endParaRPr lang="en-US" sz="2800" dirty="0"/>
          </a:p>
        </p:txBody>
      </p:sp>
      <p:sp>
        <p:nvSpPr>
          <p:cNvPr id="3" name="Text Placeholder 2"/>
          <p:cNvSpPr>
            <a:spLocks noGrp="1"/>
          </p:cNvSpPr>
          <p:nvPr>
            <p:ph type="body" sz="quarter" idx="10"/>
          </p:nvPr>
        </p:nvSpPr>
        <p:spPr>
          <a:xfrm>
            <a:off x="287524" y="1232756"/>
            <a:ext cx="8534400" cy="5139579"/>
          </a:xfrm>
        </p:spPr>
        <p:txBody>
          <a:bodyPr>
            <a:normAutofit/>
          </a:bodyPr>
          <a:lstStyle/>
          <a:p>
            <a:r>
              <a:rPr lang="en-US" sz="2000" b="1" i="1" dirty="0" smtClean="0"/>
              <a:t>IBM UDMH </a:t>
            </a:r>
            <a:r>
              <a:rPr lang="en-US" sz="2000" dirty="0" smtClean="0"/>
              <a:t>package provides tables that </a:t>
            </a:r>
            <a:r>
              <a:rPr lang="en-US" sz="2000" dirty="0"/>
              <a:t>contains data elements that support information related to </a:t>
            </a:r>
            <a:r>
              <a:rPr lang="en-US" sz="2000" b="1" i="1" u="sng" dirty="0"/>
              <a:t>control of user access to application </a:t>
            </a:r>
            <a:r>
              <a:rPr lang="en-US" sz="2000" dirty="0"/>
              <a:t>functionality</a:t>
            </a:r>
            <a:r>
              <a:rPr lang="en-US" sz="2000" dirty="0" smtClean="0"/>
              <a:t>.</a:t>
            </a:r>
          </a:p>
          <a:p>
            <a:r>
              <a:rPr lang="en-US" sz="2000" b="1" i="1" dirty="0" smtClean="0"/>
              <a:t>IBM UDMH </a:t>
            </a:r>
            <a:r>
              <a:rPr lang="en-US" sz="2000" dirty="0" smtClean="0"/>
              <a:t>package </a:t>
            </a:r>
            <a:r>
              <a:rPr lang="en-US" sz="2000" dirty="0"/>
              <a:t>provides tables </a:t>
            </a:r>
            <a:r>
              <a:rPr lang="en-US" sz="2000" dirty="0" smtClean="0"/>
              <a:t>that contains data elements that support </a:t>
            </a:r>
            <a:r>
              <a:rPr lang="en-US" sz="2000" b="1" i="1" u="sng" dirty="0" smtClean="0"/>
              <a:t>grouping of users that is based on business role</a:t>
            </a:r>
          </a:p>
          <a:p>
            <a:r>
              <a:rPr lang="en-US" sz="2000" b="1" i="1" dirty="0"/>
              <a:t>IBM UDMH </a:t>
            </a:r>
            <a:r>
              <a:rPr lang="en-US" sz="2000" dirty="0"/>
              <a:t>package provides tables that contains data elements that support </a:t>
            </a:r>
            <a:r>
              <a:rPr lang="en-US" sz="2000" b="1" i="1" u="sng" dirty="0" smtClean="0"/>
              <a:t>Object Permissions based on business role</a:t>
            </a:r>
            <a:endParaRPr lang="en-US" sz="2000" b="1" i="1" u="sng" dirty="0"/>
          </a:p>
          <a:p>
            <a:r>
              <a:rPr lang="en-US" sz="2000" b="1" i="1" dirty="0" smtClean="0">
                <a:cs typeface="Arial" panose="020B0604020202020204" pitchFamily="34" charset="0"/>
              </a:rPr>
              <a:t>Enterprise</a:t>
            </a:r>
            <a:r>
              <a:rPr lang="en-US" sz="2000" dirty="0" smtClean="0">
                <a:cs typeface="Arial" panose="020B0604020202020204" pitchFamily="34" charset="0"/>
              </a:rPr>
              <a:t> </a:t>
            </a:r>
            <a:r>
              <a:rPr lang="en-US" sz="2000" b="1" i="1" dirty="0" smtClean="0">
                <a:cs typeface="Arial" panose="020B0604020202020204" pitchFamily="34" charset="0"/>
              </a:rPr>
              <a:t>sensitivity codes </a:t>
            </a:r>
            <a:r>
              <a:rPr lang="en-US" sz="2000" dirty="0" smtClean="0">
                <a:cs typeface="Arial" panose="020B0604020202020204" pitchFamily="34" charset="0"/>
              </a:rPr>
              <a:t>in code domain module entity will be customized by adding additional data elements to flag them. The flagged sensitivity codes will be excluded in data provisioning as per guidelines</a:t>
            </a:r>
          </a:p>
          <a:p>
            <a:endParaRPr lang="en-US" sz="2000" dirty="0" smtClean="0">
              <a:cs typeface="Arial" panose="020B0604020202020204" pitchFamily="34" charset="0"/>
            </a:endParaRPr>
          </a:p>
          <a:p>
            <a:pPr marL="0" indent="0">
              <a:buNone/>
            </a:pPr>
            <a:endParaRPr lang="en-US" sz="2000" dirty="0" smtClean="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3681413" y="4686410"/>
            <a:ext cx="1990725" cy="1685925"/>
          </a:xfrm>
          <a:prstGeom prst="rect">
            <a:avLst/>
          </a:prstGeom>
        </p:spPr>
      </p:pic>
      <p:pic>
        <p:nvPicPr>
          <p:cNvPr id="6" name="Picture 5"/>
          <p:cNvPicPr>
            <a:picLocks noChangeAspect="1"/>
          </p:cNvPicPr>
          <p:nvPr/>
        </p:nvPicPr>
        <p:blipFill>
          <a:blip r:embed="rId3"/>
          <a:stretch>
            <a:fillRect/>
          </a:stretch>
        </p:blipFill>
        <p:spPr>
          <a:xfrm>
            <a:off x="6768244" y="384213"/>
            <a:ext cx="2266950" cy="413931"/>
          </a:xfrm>
          <a:prstGeom prst="rect">
            <a:avLst/>
          </a:prstGeom>
        </p:spPr>
      </p:pic>
    </p:spTree>
    <p:extLst>
      <p:ext uri="{BB962C8B-B14F-4D97-AF65-F5344CB8AC3E}">
        <p14:creationId xmlns:p14="http://schemas.microsoft.com/office/powerpoint/2010/main" val="8001411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9918" y="432837"/>
            <a:ext cx="6447576" cy="576000"/>
          </a:xfrm>
        </p:spPr>
        <p:txBody>
          <a:bodyPr/>
          <a:lstStyle/>
          <a:p>
            <a:r>
              <a:rPr lang="en-US" sz="2400" dirty="0" smtClean="0"/>
              <a:t>Solution Highlights: Data </a:t>
            </a:r>
            <a:r>
              <a:rPr lang="en-US" sz="2400" dirty="0"/>
              <a:t>Security </a:t>
            </a:r>
            <a:r>
              <a:rPr lang="en-US" sz="2400" dirty="0" smtClean="0"/>
              <a:t>Design Cont’d..</a:t>
            </a:r>
            <a:endParaRPr lang="en-US" sz="2400" dirty="0"/>
          </a:p>
        </p:txBody>
      </p:sp>
      <p:sp>
        <p:nvSpPr>
          <p:cNvPr id="3" name="Text Placeholder 2"/>
          <p:cNvSpPr>
            <a:spLocks noGrp="1"/>
          </p:cNvSpPr>
          <p:nvPr>
            <p:ph type="body" sz="quarter" idx="10"/>
          </p:nvPr>
        </p:nvSpPr>
        <p:spPr>
          <a:xfrm>
            <a:off x="287524" y="1232756"/>
            <a:ext cx="8534400" cy="5625244"/>
          </a:xfrm>
        </p:spPr>
        <p:txBody>
          <a:bodyPr>
            <a:normAutofit lnSpcReduction="10000"/>
          </a:bodyPr>
          <a:lstStyle/>
          <a:p>
            <a:r>
              <a:rPr lang="en-US" sz="2000" b="1" i="1" dirty="0" smtClean="0"/>
              <a:t>IBM </a:t>
            </a:r>
            <a:r>
              <a:rPr lang="en-US" sz="2000" b="1" i="1" dirty="0"/>
              <a:t>RDM: </a:t>
            </a:r>
            <a:r>
              <a:rPr lang="en-US" sz="2000" dirty="0"/>
              <a:t>Integration with IBM Reference Data Management will be developed to </a:t>
            </a:r>
            <a:r>
              <a:rPr lang="en-US" sz="2000" b="1" i="1" dirty="0"/>
              <a:t>securely access the restricted Mental health codes, HIV &amp; STD Codes, OB Codes etc.. </a:t>
            </a:r>
            <a:r>
              <a:rPr lang="en-US" sz="2000" dirty="0"/>
              <a:t>that provides the governance, process, security, and audit control for managing reference data as an enterprise standard, resulting in fewer errors, reduced business risk, and cost </a:t>
            </a:r>
            <a:r>
              <a:rPr lang="en-US" sz="2000" dirty="0" smtClean="0"/>
              <a:t>savings. See </a:t>
            </a:r>
            <a:r>
              <a:rPr lang="en-US" sz="2000" b="1" i="1" dirty="0">
                <a:hlinkClick r:id="rId2" action="ppaction://hlinksldjump"/>
              </a:rPr>
              <a:t>Appendix Overall IRADW Security </a:t>
            </a:r>
            <a:r>
              <a:rPr lang="en-US" sz="2000" b="1" i="1" dirty="0" smtClean="0">
                <a:hlinkClick r:id="rId2" action="ppaction://hlinksldjump"/>
              </a:rPr>
              <a:t>Context</a:t>
            </a:r>
            <a:endParaRPr lang="en-US" sz="2000" b="1" i="1" dirty="0" smtClean="0"/>
          </a:p>
          <a:p>
            <a:pPr marL="0" indent="0">
              <a:buNone/>
            </a:pPr>
            <a:endParaRPr lang="en-US" sz="2000" b="1" i="1" dirty="0" smtClean="0"/>
          </a:p>
          <a:p>
            <a:r>
              <a:rPr lang="en-US" sz="2000" b="1" i="1" dirty="0" smtClean="0">
                <a:cs typeface="Arial" panose="020B0604020202020204" pitchFamily="34" charset="0"/>
              </a:rPr>
              <a:t>LDAP </a:t>
            </a:r>
            <a:r>
              <a:rPr lang="en-US" sz="2000" i="1" dirty="0" smtClean="0">
                <a:cs typeface="Arial" panose="020B0604020202020204" pitchFamily="34" charset="0"/>
              </a:rPr>
              <a:t>(Light Directory Access Protocol) </a:t>
            </a:r>
            <a:r>
              <a:rPr lang="en-US" sz="2000" b="1" i="1" dirty="0" smtClean="0">
                <a:cs typeface="Arial" panose="020B0604020202020204" pitchFamily="34" charset="0"/>
              </a:rPr>
              <a:t>Authentication: </a:t>
            </a:r>
            <a:r>
              <a:rPr lang="en-US" sz="2000" dirty="0" smtClean="0">
                <a:cs typeface="Arial" panose="020B0604020202020204" pitchFamily="34" charset="0"/>
              </a:rPr>
              <a:t>IRADW team successfully enabled Netezza LDAP authentication in Development environment</a:t>
            </a:r>
            <a:r>
              <a:rPr lang="en-US" sz="2000" dirty="0">
                <a:cs typeface="Arial" panose="020B0604020202020204" pitchFamily="34" charset="0"/>
              </a:rPr>
              <a:t>. </a:t>
            </a:r>
            <a:r>
              <a:rPr lang="en-US" sz="2000" dirty="0" smtClean="0"/>
              <a:t>Netezza appliance can </a:t>
            </a:r>
            <a:r>
              <a:rPr lang="en-US" sz="2000" dirty="0"/>
              <a:t>use </a:t>
            </a:r>
            <a:r>
              <a:rPr lang="en-US" sz="2000" dirty="0" smtClean="0"/>
              <a:t>PHS external </a:t>
            </a:r>
            <a:r>
              <a:rPr lang="en-US" sz="2000" dirty="0"/>
              <a:t>authentication server which is used for most other application authentication log-in security, hence there is only one placed to maintain authentication </a:t>
            </a:r>
            <a:r>
              <a:rPr lang="en-US" sz="2000" dirty="0" smtClean="0"/>
              <a:t>information</a:t>
            </a:r>
            <a:r>
              <a:rPr lang="en-US" sz="2000" dirty="0">
                <a:cs typeface="Arial" panose="020B0604020202020204" pitchFamily="34" charset="0"/>
              </a:rPr>
              <a:t> </a:t>
            </a:r>
            <a:r>
              <a:rPr lang="en-US" sz="2000" dirty="0" smtClean="0">
                <a:cs typeface="Arial" panose="020B0604020202020204" pitchFamily="34" charset="0"/>
              </a:rPr>
              <a:t>and therefore </a:t>
            </a:r>
            <a:r>
              <a:rPr lang="en-US" sz="2000" dirty="0"/>
              <a:t>LDAP authentication provides ease of </a:t>
            </a:r>
            <a:r>
              <a:rPr lang="en-US" sz="2000" dirty="0" smtClean="0"/>
              <a:t>management</a:t>
            </a:r>
            <a:r>
              <a:rPr lang="en-US" sz="2000" dirty="0"/>
              <a:t> </a:t>
            </a:r>
            <a:r>
              <a:rPr lang="en-US" sz="2000" dirty="0" smtClean="0"/>
              <a:t>for access provisioning. </a:t>
            </a:r>
            <a:r>
              <a:rPr lang="en-US" sz="2000" b="1" i="1" u="sng" dirty="0" smtClean="0">
                <a:hlinkClick r:id="rId3"/>
              </a:rPr>
              <a:t>See LDAP Configuration</a:t>
            </a:r>
            <a:endParaRPr lang="en-US" sz="2000" b="1" i="1" u="sng" dirty="0" smtClean="0"/>
          </a:p>
          <a:p>
            <a:pPr marL="0" indent="0">
              <a:buNone/>
            </a:pPr>
            <a:endParaRPr lang="en-US" sz="2000" dirty="0" smtClean="0">
              <a:cs typeface="Arial" panose="020B0604020202020204" pitchFamily="34" charset="0"/>
            </a:endParaRPr>
          </a:p>
          <a:p>
            <a:pPr marL="400050" lvl="1" indent="0">
              <a:buNone/>
            </a:pPr>
            <a:r>
              <a:rPr lang="en-US" sz="1600" dirty="0" smtClean="0">
                <a:cs typeface="Arial" panose="020B0604020202020204" pitchFamily="34" charset="0"/>
              </a:rPr>
              <a:t>For </a:t>
            </a:r>
            <a:r>
              <a:rPr lang="en-US" sz="1600" dirty="0">
                <a:cs typeface="Arial" panose="020B0604020202020204" pitchFamily="34" charset="0"/>
              </a:rPr>
              <a:t>example, when a user logs into a computer that is part of a Windows domain, Active Directory checks the submitted password and determines whether the user is a system administrator or normal user.</a:t>
            </a:r>
            <a:endParaRPr lang="en-US" sz="1600" dirty="0" smtClean="0">
              <a:cs typeface="Arial" panose="020B0604020202020204" pitchFamily="34" charset="0"/>
            </a:endParaRPr>
          </a:p>
        </p:txBody>
      </p:sp>
      <p:pic>
        <p:nvPicPr>
          <p:cNvPr id="6" name="Picture 5"/>
          <p:cNvPicPr>
            <a:picLocks noChangeAspect="1"/>
          </p:cNvPicPr>
          <p:nvPr/>
        </p:nvPicPr>
        <p:blipFill>
          <a:blip r:embed="rId4"/>
          <a:stretch>
            <a:fillRect/>
          </a:stretch>
        </p:blipFill>
        <p:spPr>
          <a:xfrm>
            <a:off x="6729369" y="460725"/>
            <a:ext cx="2266950" cy="413931"/>
          </a:xfrm>
          <a:prstGeom prst="rect">
            <a:avLst/>
          </a:prstGeom>
        </p:spPr>
      </p:pic>
    </p:spTree>
    <p:extLst>
      <p:ext uri="{BB962C8B-B14F-4D97-AF65-F5344CB8AC3E}">
        <p14:creationId xmlns:p14="http://schemas.microsoft.com/office/powerpoint/2010/main" val="16208100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6455520" cy="576000"/>
          </a:xfrm>
        </p:spPr>
        <p:txBody>
          <a:bodyPr/>
          <a:lstStyle/>
          <a:p>
            <a:r>
              <a:rPr lang="en-US" sz="2400" dirty="0" smtClean="0"/>
              <a:t>Solution Highlights: Data </a:t>
            </a:r>
            <a:r>
              <a:rPr lang="en-US" sz="2400" dirty="0"/>
              <a:t>Security </a:t>
            </a:r>
            <a:r>
              <a:rPr lang="en-US" sz="2400" dirty="0" smtClean="0"/>
              <a:t>Design Cont’d..</a:t>
            </a:r>
            <a:endParaRPr lang="en-US" sz="2400" dirty="0"/>
          </a:p>
        </p:txBody>
      </p:sp>
      <p:sp>
        <p:nvSpPr>
          <p:cNvPr id="3" name="Text Placeholder 2"/>
          <p:cNvSpPr>
            <a:spLocks noGrp="1"/>
          </p:cNvSpPr>
          <p:nvPr>
            <p:ph type="body" sz="quarter" idx="10"/>
          </p:nvPr>
        </p:nvSpPr>
        <p:spPr>
          <a:xfrm>
            <a:off x="304800" y="682823"/>
            <a:ext cx="8534400" cy="5520000"/>
          </a:xfrm>
        </p:spPr>
        <p:txBody>
          <a:bodyPr>
            <a:normAutofit lnSpcReduction="10000"/>
          </a:bodyPr>
          <a:lstStyle/>
          <a:p>
            <a:r>
              <a:rPr lang="en-US" sz="2100" b="1" i="1" dirty="0" smtClean="0">
                <a:cs typeface="Arial" panose="020B0604020202020204" pitchFamily="34" charset="0"/>
              </a:rPr>
              <a:t>IBM UDMH </a:t>
            </a:r>
            <a:r>
              <a:rPr lang="en-US" sz="2100" dirty="0" smtClean="0">
                <a:solidFill>
                  <a:schemeClr val="tx1">
                    <a:lumMod val="65000"/>
                    <a:lumOff val="35000"/>
                  </a:schemeClr>
                </a:solidFill>
                <a:cs typeface="Arial" panose="020B0604020202020204" pitchFamily="34" charset="0"/>
              </a:rPr>
              <a:t>security design includes minimum three tenant security Roles for all Health Plan tenants to protect PHI / PII data access in IRADW</a:t>
            </a:r>
          </a:p>
          <a:p>
            <a:pPr lvl="1"/>
            <a:r>
              <a:rPr lang="en-US" sz="2100" b="1" i="1" dirty="0" smtClean="0">
                <a:solidFill>
                  <a:schemeClr val="tx1">
                    <a:lumMod val="65000"/>
                    <a:lumOff val="35000"/>
                  </a:schemeClr>
                </a:solidFill>
                <a:cs typeface="Arial" panose="020B0604020202020204" pitchFamily="34" charset="0"/>
              </a:rPr>
              <a:t>R1/Regular </a:t>
            </a:r>
            <a:r>
              <a:rPr lang="en-US" sz="2100" b="1" i="1" dirty="0">
                <a:solidFill>
                  <a:schemeClr val="tx1">
                    <a:lumMod val="65000"/>
                    <a:lumOff val="35000"/>
                  </a:schemeClr>
                </a:solidFill>
                <a:cs typeface="Arial" panose="020B0604020202020204" pitchFamily="34" charset="0"/>
              </a:rPr>
              <a:t>– NOPHI - </a:t>
            </a:r>
            <a:r>
              <a:rPr lang="en-US" sz="2100" i="1" dirty="0">
                <a:solidFill>
                  <a:schemeClr val="tx1">
                    <a:lumMod val="65000"/>
                    <a:lumOff val="35000"/>
                  </a:schemeClr>
                </a:solidFill>
                <a:cs typeface="Arial" panose="020B0604020202020204" pitchFamily="34" charset="0"/>
              </a:rPr>
              <a:t>Protected Health Information (PHI) (ex: such as member id and name) will be </a:t>
            </a:r>
            <a:r>
              <a:rPr lang="en-US" sz="2100" i="1" dirty="0" smtClean="0">
                <a:solidFill>
                  <a:schemeClr val="tx1">
                    <a:lumMod val="65000"/>
                    <a:lumOff val="35000"/>
                  </a:schemeClr>
                </a:solidFill>
                <a:cs typeface="Arial" panose="020B0604020202020204" pitchFamily="34" charset="0"/>
              </a:rPr>
              <a:t>masked and excluding sensitivity codes</a:t>
            </a:r>
            <a:endParaRPr lang="en-US" sz="2100" i="1" dirty="0">
              <a:solidFill>
                <a:schemeClr val="tx1">
                  <a:lumMod val="65000"/>
                  <a:lumOff val="35000"/>
                </a:schemeClr>
              </a:solidFill>
              <a:cs typeface="Arial" panose="020B0604020202020204" pitchFamily="34" charset="0"/>
            </a:endParaRPr>
          </a:p>
          <a:p>
            <a:pPr lvl="1"/>
            <a:r>
              <a:rPr lang="en-US" sz="2100" b="1" i="1" dirty="0">
                <a:solidFill>
                  <a:schemeClr val="tx1">
                    <a:lumMod val="65000"/>
                    <a:lumOff val="35000"/>
                  </a:schemeClr>
                </a:solidFill>
                <a:cs typeface="Arial" panose="020B0604020202020204" pitchFamily="34" charset="0"/>
              </a:rPr>
              <a:t>S2/Secure –NOHAPHI </a:t>
            </a:r>
            <a:r>
              <a:rPr lang="en-US" sz="2100" i="1" dirty="0">
                <a:solidFill>
                  <a:schemeClr val="tx1">
                    <a:lumMod val="65000"/>
                    <a:lumOff val="35000"/>
                  </a:schemeClr>
                </a:solidFill>
                <a:cs typeface="Arial" panose="020B0604020202020204" pitchFamily="34" charset="0"/>
              </a:rPr>
              <a:t>- House Account (Employee) PHI </a:t>
            </a:r>
            <a:r>
              <a:rPr lang="en-US" sz="2100" i="1" dirty="0" smtClean="0">
                <a:solidFill>
                  <a:schemeClr val="tx1">
                    <a:lumMod val="65000"/>
                    <a:lumOff val="35000"/>
                  </a:schemeClr>
                </a:solidFill>
                <a:cs typeface="Arial" panose="020B0604020202020204" pitchFamily="34" charset="0"/>
              </a:rPr>
              <a:t>will be masked</a:t>
            </a:r>
            <a:r>
              <a:rPr lang="en-US" sz="2100" i="1" dirty="0">
                <a:solidFill>
                  <a:schemeClr val="tx1">
                    <a:lumMod val="65000"/>
                    <a:lumOff val="35000"/>
                  </a:schemeClr>
                </a:solidFill>
                <a:cs typeface="Arial" panose="020B0604020202020204" pitchFamily="34" charset="0"/>
              </a:rPr>
              <a:t>, all other PHI will be available and </a:t>
            </a:r>
            <a:r>
              <a:rPr lang="en-US" sz="2100" i="1" dirty="0" smtClean="0">
                <a:solidFill>
                  <a:schemeClr val="tx1">
                    <a:lumMod val="65000"/>
                    <a:lumOff val="35000"/>
                  </a:schemeClr>
                </a:solidFill>
                <a:cs typeface="Arial" panose="020B0604020202020204" pitchFamily="34" charset="0"/>
              </a:rPr>
              <a:t>excluding </a:t>
            </a:r>
            <a:r>
              <a:rPr lang="en-US" sz="2100" i="1" dirty="0">
                <a:solidFill>
                  <a:schemeClr val="tx1">
                    <a:lumMod val="65000"/>
                    <a:lumOff val="35000"/>
                  </a:schemeClr>
                </a:solidFill>
                <a:cs typeface="Arial" panose="020B0604020202020204" pitchFamily="34" charset="0"/>
              </a:rPr>
              <a:t>sensitivity codes</a:t>
            </a:r>
          </a:p>
          <a:p>
            <a:pPr lvl="1"/>
            <a:r>
              <a:rPr lang="en-US" sz="2100" b="1" i="1" dirty="0" smtClean="0">
                <a:solidFill>
                  <a:schemeClr val="tx1">
                    <a:lumMod val="65000"/>
                    <a:lumOff val="35000"/>
                  </a:schemeClr>
                </a:solidFill>
                <a:cs typeface="Arial" panose="020B0604020202020204" pitchFamily="34" charset="0"/>
              </a:rPr>
              <a:t>P3/Private </a:t>
            </a:r>
            <a:r>
              <a:rPr lang="en-US" sz="2100" b="1" i="1" dirty="0">
                <a:solidFill>
                  <a:schemeClr val="tx1">
                    <a:lumMod val="65000"/>
                    <a:lumOff val="35000"/>
                  </a:schemeClr>
                </a:solidFill>
                <a:cs typeface="Arial" panose="020B0604020202020204" pitchFamily="34" charset="0"/>
              </a:rPr>
              <a:t>– ALLPHI </a:t>
            </a:r>
            <a:r>
              <a:rPr lang="en-US" sz="2100" i="1" dirty="0">
                <a:solidFill>
                  <a:schemeClr val="tx1">
                    <a:lumMod val="65000"/>
                    <a:lumOff val="35000"/>
                  </a:schemeClr>
                </a:solidFill>
                <a:cs typeface="Arial" panose="020B0604020202020204" pitchFamily="34" charset="0"/>
              </a:rPr>
              <a:t>- All PHI data is available including House Account (Employee</a:t>
            </a:r>
            <a:r>
              <a:rPr lang="en-US" sz="2100" i="1" dirty="0" smtClean="0">
                <a:solidFill>
                  <a:schemeClr val="tx1">
                    <a:lumMod val="65000"/>
                    <a:lumOff val="35000"/>
                  </a:schemeClr>
                </a:solidFill>
                <a:cs typeface="Arial" panose="020B0604020202020204" pitchFamily="34" charset="0"/>
              </a:rPr>
              <a:t>) </a:t>
            </a:r>
            <a:r>
              <a:rPr lang="en-US" sz="2100" i="1" dirty="0">
                <a:solidFill>
                  <a:schemeClr val="tx1">
                    <a:lumMod val="65000"/>
                    <a:lumOff val="35000"/>
                  </a:schemeClr>
                </a:solidFill>
                <a:cs typeface="Arial" panose="020B0604020202020204" pitchFamily="34" charset="0"/>
              </a:rPr>
              <a:t>and </a:t>
            </a:r>
            <a:r>
              <a:rPr lang="en-US" sz="2100" i="1" dirty="0" smtClean="0">
                <a:solidFill>
                  <a:schemeClr val="tx1">
                    <a:lumMod val="65000"/>
                    <a:lumOff val="35000"/>
                  </a:schemeClr>
                </a:solidFill>
                <a:cs typeface="Arial" panose="020B0604020202020204" pitchFamily="34" charset="0"/>
              </a:rPr>
              <a:t>including </a:t>
            </a:r>
            <a:r>
              <a:rPr lang="en-US" sz="2100" i="1" dirty="0">
                <a:solidFill>
                  <a:schemeClr val="tx1">
                    <a:lumMod val="65000"/>
                    <a:lumOff val="35000"/>
                  </a:schemeClr>
                </a:solidFill>
                <a:cs typeface="Arial" panose="020B0604020202020204" pitchFamily="34" charset="0"/>
              </a:rPr>
              <a:t>sensitivity </a:t>
            </a:r>
            <a:r>
              <a:rPr lang="en-US" sz="2100" i="1" dirty="0" smtClean="0">
                <a:solidFill>
                  <a:schemeClr val="tx1">
                    <a:lumMod val="65000"/>
                    <a:lumOff val="35000"/>
                  </a:schemeClr>
                </a:solidFill>
                <a:cs typeface="Arial" panose="020B0604020202020204" pitchFamily="34" charset="0"/>
              </a:rPr>
              <a:t>codes?</a:t>
            </a:r>
            <a:endParaRPr lang="en-US" sz="2100" i="1" dirty="0">
              <a:solidFill>
                <a:schemeClr val="tx1">
                  <a:lumMod val="65000"/>
                  <a:lumOff val="35000"/>
                </a:schemeClr>
              </a:solidFill>
              <a:cs typeface="Arial" panose="020B0604020202020204" pitchFamily="34" charset="0"/>
            </a:endParaRPr>
          </a:p>
          <a:p>
            <a:pPr marL="457200" lvl="1" indent="0">
              <a:buNone/>
            </a:pPr>
            <a:endParaRPr lang="en-US" sz="2100" i="1" dirty="0" smtClean="0">
              <a:solidFill>
                <a:schemeClr val="tx1">
                  <a:lumMod val="65000"/>
                  <a:lumOff val="35000"/>
                </a:schemeClr>
              </a:solidFill>
              <a:cs typeface="Arial" panose="020B0604020202020204" pitchFamily="34" charset="0"/>
            </a:endParaRPr>
          </a:p>
          <a:p>
            <a:r>
              <a:rPr lang="en-US" sz="2100" b="1" i="1" dirty="0">
                <a:cs typeface="Arial" panose="020B0604020202020204" pitchFamily="34" charset="0"/>
              </a:rPr>
              <a:t>IBM UDMH </a:t>
            </a:r>
            <a:r>
              <a:rPr lang="en-US" sz="2100" dirty="0">
                <a:solidFill>
                  <a:schemeClr val="tx1">
                    <a:lumMod val="65000"/>
                    <a:lumOff val="35000"/>
                  </a:schemeClr>
                </a:solidFill>
                <a:cs typeface="Arial" panose="020B0604020202020204" pitchFamily="34" charset="0"/>
              </a:rPr>
              <a:t>security design includes minimum </a:t>
            </a:r>
            <a:r>
              <a:rPr lang="en-US" sz="2100" dirty="0" smtClean="0">
                <a:solidFill>
                  <a:schemeClr val="tx1">
                    <a:lumMod val="65000"/>
                    <a:lumOff val="35000"/>
                  </a:schemeClr>
                </a:solidFill>
                <a:cs typeface="Arial" panose="020B0604020202020204" pitchFamily="34" charset="0"/>
              </a:rPr>
              <a:t>two </a:t>
            </a:r>
            <a:r>
              <a:rPr lang="en-US" sz="2100" dirty="0">
                <a:solidFill>
                  <a:schemeClr val="tx1">
                    <a:lumMod val="65000"/>
                    <a:lumOff val="35000"/>
                  </a:schemeClr>
                </a:solidFill>
                <a:cs typeface="Arial" panose="020B0604020202020204" pitchFamily="34" charset="0"/>
              </a:rPr>
              <a:t>tenant security Roles for </a:t>
            </a:r>
            <a:r>
              <a:rPr lang="en-US" sz="2100" dirty="0" smtClean="0">
                <a:solidFill>
                  <a:schemeClr val="tx1">
                    <a:lumMod val="65000"/>
                    <a:lumOff val="35000"/>
                  </a:schemeClr>
                </a:solidFill>
                <a:cs typeface="Arial" panose="020B0604020202020204" pitchFamily="34" charset="0"/>
              </a:rPr>
              <a:t>all Health Delivery System </a:t>
            </a:r>
            <a:r>
              <a:rPr lang="en-US" sz="2100" dirty="0">
                <a:solidFill>
                  <a:schemeClr val="tx1">
                    <a:lumMod val="65000"/>
                    <a:lumOff val="35000"/>
                  </a:schemeClr>
                </a:solidFill>
                <a:cs typeface="Arial" panose="020B0604020202020204" pitchFamily="34" charset="0"/>
              </a:rPr>
              <a:t>tenants to protect PHI / PII data access in IRADW</a:t>
            </a:r>
          </a:p>
          <a:p>
            <a:pPr lvl="1"/>
            <a:r>
              <a:rPr lang="en-US" sz="2100" b="1" i="1" dirty="0" smtClean="0">
                <a:solidFill>
                  <a:schemeClr val="tx1">
                    <a:lumMod val="65000"/>
                    <a:lumOff val="35000"/>
                  </a:schemeClr>
                </a:solidFill>
                <a:cs typeface="Arial" panose="020B0604020202020204" pitchFamily="34" charset="0"/>
              </a:rPr>
              <a:t>R1/Regular </a:t>
            </a:r>
            <a:r>
              <a:rPr lang="en-US" sz="2100" b="1" i="1" dirty="0">
                <a:solidFill>
                  <a:schemeClr val="tx1">
                    <a:lumMod val="65000"/>
                    <a:lumOff val="35000"/>
                  </a:schemeClr>
                </a:solidFill>
                <a:cs typeface="Arial" panose="020B0604020202020204" pitchFamily="34" charset="0"/>
              </a:rPr>
              <a:t>– NOPHI </a:t>
            </a:r>
            <a:r>
              <a:rPr lang="en-US" sz="2100" i="1" dirty="0">
                <a:solidFill>
                  <a:schemeClr val="tx1">
                    <a:lumMod val="65000"/>
                    <a:lumOff val="35000"/>
                  </a:schemeClr>
                </a:solidFill>
                <a:cs typeface="Arial" panose="020B0604020202020204" pitchFamily="34" charset="0"/>
              </a:rPr>
              <a:t>- Protected Health Information (PHI) (ex: such as member id and name) will be </a:t>
            </a:r>
            <a:r>
              <a:rPr lang="en-US" sz="2100" i="1" dirty="0" smtClean="0">
                <a:solidFill>
                  <a:schemeClr val="tx1">
                    <a:lumMod val="65000"/>
                    <a:lumOff val="35000"/>
                  </a:schemeClr>
                </a:solidFill>
                <a:cs typeface="Arial" panose="020B0604020202020204" pitchFamily="34" charset="0"/>
              </a:rPr>
              <a:t>masked </a:t>
            </a:r>
            <a:r>
              <a:rPr lang="en-US" sz="2100" i="1" dirty="0">
                <a:solidFill>
                  <a:schemeClr val="tx1">
                    <a:lumMod val="65000"/>
                    <a:lumOff val="35000"/>
                  </a:schemeClr>
                </a:solidFill>
                <a:cs typeface="Arial" panose="020B0604020202020204" pitchFamily="34" charset="0"/>
              </a:rPr>
              <a:t>and excluding sensitivity </a:t>
            </a:r>
            <a:r>
              <a:rPr lang="en-US" sz="2100" i="1" dirty="0" smtClean="0">
                <a:solidFill>
                  <a:schemeClr val="tx1">
                    <a:lumMod val="65000"/>
                    <a:lumOff val="35000"/>
                  </a:schemeClr>
                </a:solidFill>
                <a:cs typeface="Arial" panose="020B0604020202020204" pitchFamily="34" charset="0"/>
              </a:rPr>
              <a:t>codes</a:t>
            </a:r>
          </a:p>
          <a:p>
            <a:pPr lvl="1"/>
            <a:r>
              <a:rPr lang="en-US" sz="2100" b="1" i="1" dirty="0">
                <a:solidFill>
                  <a:schemeClr val="tx1">
                    <a:lumMod val="65000"/>
                    <a:lumOff val="35000"/>
                  </a:schemeClr>
                </a:solidFill>
                <a:cs typeface="Arial" panose="020B0604020202020204" pitchFamily="34" charset="0"/>
              </a:rPr>
              <a:t>S2/Secure –</a:t>
            </a:r>
            <a:r>
              <a:rPr lang="en-US" sz="2100" b="1" i="1" dirty="0" smtClean="0">
                <a:solidFill>
                  <a:schemeClr val="tx1">
                    <a:lumMod val="65000"/>
                    <a:lumOff val="35000"/>
                  </a:schemeClr>
                </a:solidFill>
                <a:cs typeface="Arial" panose="020B0604020202020204" pitchFamily="34" charset="0"/>
              </a:rPr>
              <a:t>NOHAPHI? </a:t>
            </a:r>
            <a:r>
              <a:rPr lang="en-US" sz="1100" b="1" i="1" dirty="0" smtClean="0">
                <a:solidFill>
                  <a:srgbClr val="FF0000"/>
                </a:solidFill>
                <a:cs typeface="Arial" panose="020B0604020202020204" pitchFamily="34" charset="0"/>
              </a:rPr>
              <a:t>(This is not required as R1/ Regular will mask all PHI information)</a:t>
            </a:r>
            <a:endParaRPr lang="en-US" sz="1100" i="1" dirty="0">
              <a:solidFill>
                <a:srgbClr val="FF0000"/>
              </a:solidFill>
              <a:cs typeface="Arial" panose="020B0604020202020204" pitchFamily="34" charset="0"/>
            </a:endParaRPr>
          </a:p>
          <a:p>
            <a:pPr lvl="1"/>
            <a:r>
              <a:rPr lang="en-US" sz="2100" b="1" i="1" dirty="0" smtClean="0">
                <a:solidFill>
                  <a:schemeClr val="tx1">
                    <a:lumMod val="65000"/>
                    <a:lumOff val="35000"/>
                  </a:schemeClr>
                </a:solidFill>
                <a:cs typeface="Arial" panose="020B0604020202020204" pitchFamily="34" charset="0"/>
              </a:rPr>
              <a:t>P3/Private </a:t>
            </a:r>
            <a:r>
              <a:rPr lang="en-US" sz="2100" b="1" i="1" dirty="0">
                <a:solidFill>
                  <a:schemeClr val="tx1">
                    <a:lumMod val="65000"/>
                    <a:lumOff val="35000"/>
                  </a:schemeClr>
                </a:solidFill>
                <a:cs typeface="Arial" panose="020B0604020202020204" pitchFamily="34" charset="0"/>
              </a:rPr>
              <a:t>– ALLPHI </a:t>
            </a:r>
            <a:r>
              <a:rPr lang="en-US" sz="2100" i="1" dirty="0">
                <a:solidFill>
                  <a:schemeClr val="tx1">
                    <a:lumMod val="65000"/>
                    <a:lumOff val="35000"/>
                  </a:schemeClr>
                </a:solidFill>
                <a:cs typeface="Arial" panose="020B0604020202020204" pitchFamily="34" charset="0"/>
              </a:rPr>
              <a:t>- All PHI data is </a:t>
            </a:r>
            <a:r>
              <a:rPr lang="en-US" sz="2100" i="1" dirty="0" smtClean="0">
                <a:solidFill>
                  <a:schemeClr val="tx1">
                    <a:lumMod val="65000"/>
                    <a:lumOff val="35000"/>
                  </a:schemeClr>
                </a:solidFill>
                <a:cs typeface="Arial" panose="020B0604020202020204" pitchFamily="34" charset="0"/>
              </a:rPr>
              <a:t>available </a:t>
            </a:r>
            <a:r>
              <a:rPr lang="en-US" sz="2100" i="1" dirty="0">
                <a:solidFill>
                  <a:schemeClr val="tx1">
                    <a:lumMod val="65000"/>
                    <a:lumOff val="35000"/>
                  </a:schemeClr>
                </a:solidFill>
                <a:cs typeface="Arial" panose="020B0604020202020204" pitchFamily="34" charset="0"/>
              </a:rPr>
              <a:t>and </a:t>
            </a:r>
            <a:r>
              <a:rPr lang="en-US" sz="2100" i="1" dirty="0" smtClean="0">
                <a:solidFill>
                  <a:schemeClr val="tx1">
                    <a:lumMod val="65000"/>
                    <a:lumOff val="35000"/>
                  </a:schemeClr>
                </a:solidFill>
                <a:cs typeface="Arial" panose="020B0604020202020204" pitchFamily="34" charset="0"/>
              </a:rPr>
              <a:t>including </a:t>
            </a:r>
            <a:r>
              <a:rPr lang="en-US" sz="2100" i="1" dirty="0">
                <a:solidFill>
                  <a:schemeClr val="tx1">
                    <a:lumMod val="65000"/>
                    <a:lumOff val="35000"/>
                  </a:schemeClr>
                </a:solidFill>
                <a:cs typeface="Arial" panose="020B0604020202020204" pitchFamily="34" charset="0"/>
              </a:rPr>
              <a:t>sensitivity </a:t>
            </a:r>
            <a:r>
              <a:rPr lang="en-US" sz="2100" i="1" dirty="0" smtClean="0">
                <a:solidFill>
                  <a:schemeClr val="tx1">
                    <a:lumMod val="65000"/>
                    <a:lumOff val="35000"/>
                  </a:schemeClr>
                </a:solidFill>
                <a:cs typeface="Arial" panose="020B0604020202020204" pitchFamily="34" charset="0"/>
              </a:rPr>
              <a:t>codes?</a:t>
            </a:r>
            <a:r>
              <a:rPr lang="en-US" sz="2100" b="1" i="1" dirty="0">
                <a:cs typeface="Arial" panose="020B0604020202020204" pitchFamily="34" charset="0"/>
              </a:rPr>
              <a:t> </a:t>
            </a:r>
            <a:endParaRPr lang="en-US" sz="2100" b="1" i="1" dirty="0" smtClean="0">
              <a:cs typeface="Arial" panose="020B0604020202020204" pitchFamily="34" charset="0"/>
            </a:endParaRPr>
          </a:p>
          <a:p>
            <a:pPr lvl="1"/>
            <a:endParaRPr lang="en-US" sz="2100" i="1" dirty="0" smtClean="0">
              <a:solidFill>
                <a:schemeClr val="tx1">
                  <a:lumMod val="65000"/>
                  <a:lumOff val="35000"/>
                </a:schemeClr>
              </a:solidFill>
              <a:cs typeface="Arial" panose="020B0604020202020204" pitchFamily="34" charset="0"/>
            </a:endParaRPr>
          </a:p>
          <a:p>
            <a:pPr lvl="1"/>
            <a:endParaRPr lang="en-US" sz="1800" i="1" dirty="0">
              <a:solidFill>
                <a:schemeClr val="tx1">
                  <a:lumMod val="65000"/>
                  <a:lumOff val="35000"/>
                </a:schemeClr>
              </a:solidFill>
              <a:cs typeface="Arial" panose="020B0604020202020204" pitchFamily="34" charset="0"/>
            </a:endParaRPr>
          </a:p>
        </p:txBody>
      </p:sp>
      <p:sp>
        <p:nvSpPr>
          <p:cNvPr id="4" name="TextBox 3"/>
          <p:cNvSpPr txBox="1"/>
          <p:nvPr/>
        </p:nvSpPr>
        <p:spPr>
          <a:xfrm>
            <a:off x="62136" y="6202823"/>
            <a:ext cx="9019728" cy="307777"/>
          </a:xfrm>
          <a:prstGeom prst="rect">
            <a:avLst/>
          </a:prstGeom>
          <a:noFill/>
        </p:spPr>
        <p:txBody>
          <a:bodyPr wrap="square" rtlCol="0">
            <a:spAutoFit/>
          </a:bodyPr>
          <a:lstStyle/>
          <a:p>
            <a:r>
              <a:rPr lang="en-US" sz="1400" i="1" dirty="0" smtClean="0">
                <a:solidFill>
                  <a:srgbClr val="FF0000"/>
                </a:solidFill>
              </a:rPr>
              <a:t>* IRADW solution team will work with Data Sharing committee while building the objects to share with different Roles</a:t>
            </a:r>
            <a:endParaRPr lang="en-US" sz="1400" i="1" dirty="0">
              <a:solidFill>
                <a:srgbClr val="FF0000"/>
              </a:solidFill>
            </a:endParaRPr>
          </a:p>
        </p:txBody>
      </p:sp>
      <p:pic>
        <p:nvPicPr>
          <p:cNvPr id="5" name="Picture 4"/>
          <p:cNvPicPr>
            <a:picLocks noChangeAspect="1"/>
          </p:cNvPicPr>
          <p:nvPr/>
        </p:nvPicPr>
        <p:blipFill>
          <a:blip r:embed="rId2"/>
          <a:stretch>
            <a:fillRect/>
          </a:stretch>
        </p:blipFill>
        <p:spPr>
          <a:xfrm>
            <a:off x="6732240" y="170753"/>
            <a:ext cx="2266950" cy="413931"/>
          </a:xfrm>
          <a:prstGeom prst="rect">
            <a:avLst/>
          </a:prstGeom>
        </p:spPr>
      </p:pic>
    </p:spTree>
    <p:extLst>
      <p:ext uri="{BB962C8B-B14F-4D97-AF65-F5344CB8AC3E}">
        <p14:creationId xmlns:p14="http://schemas.microsoft.com/office/powerpoint/2010/main" val="5354514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6491524" cy="576000"/>
          </a:xfrm>
        </p:spPr>
        <p:txBody>
          <a:bodyPr/>
          <a:lstStyle/>
          <a:p>
            <a:r>
              <a:rPr lang="en-US" sz="2400" dirty="0" smtClean="0"/>
              <a:t>Solution Highlights: Data </a:t>
            </a:r>
            <a:r>
              <a:rPr lang="en-US" sz="2400" dirty="0"/>
              <a:t>Security </a:t>
            </a:r>
            <a:r>
              <a:rPr lang="en-US" sz="2400" dirty="0" smtClean="0"/>
              <a:t>Design Cont’d..</a:t>
            </a:r>
            <a:endParaRPr lang="en-US" sz="2400" dirty="0"/>
          </a:p>
        </p:txBody>
      </p:sp>
      <p:sp>
        <p:nvSpPr>
          <p:cNvPr id="3" name="Text Placeholder 2"/>
          <p:cNvSpPr>
            <a:spLocks noGrp="1"/>
          </p:cNvSpPr>
          <p:nvPr>
            <p:ph type="body" sz="quarter" idx="10"/>
          </p:nvPr>
        </p:nvSpPr>
        <p:spPr>
          <a:xfrm>
            <a:off x="304800" y="836712"/>
            <a:ext cx="8534400" cy="5520000"/>
          </a:xfrm>
        </p:spPr>
        <p:txBody>
          <a:bodyPr>
            <a:normAutofit lnSpcReduction="10000"/>
          </a:bodyPr>
          <a:lstStyle/>
          <a:p>
            <a:r>
              <a:rPr lang="en-US" sz="2200" b="1" i="1" dirty="0" smtClean="0">
                <a:cs typeface="Arial" panose="020B0604020202020204" pitchFamily="34" charset="0"/>
              </a:rPr>
              <a:t>IBM </a:t>
            </a:r>
            <a:r>
              <a:rPr lang="en-US" sz="2200" b="1" i="1" dirty="0">
                <a:cs typeface="Arial" panose="020B0604020202020204" pitchFamily="34" charset="0"/>
              </a:rPr>
              <a:t>UDMH </a:t>
            </a:r>
            <a:r>
              <a:rPr lang="en-US" sz="2200" dirty="0">
                <a:solidFill>
                  <a:schemeClr val="tx1">
                    <a:lumMod val="65000"/>
                    <a:lumOff val="35000"/>
                  </a:schemeClr>
                </a:solidFill>
                <a:cs typeface="Arial" panose="020B0604020202020204" pitchFamily="34" charset="0"/>
              </a:rPr>
              <a:t>security design includes </a:t>
            </a:r>
            <a:r>
              <a:rPr lang="en-US" sz="2200" dirty="0" smtClean="0">
                <a:solidFill>
                  <a:schemeClr val="tx1">
                    <a:lumMod val="65000"/>
                    <a:lumOff val="35000"/>
                  </a:schemeClr>
                </a:solidFill>
                <a:cs typeface="Arial" panose="020B0604020202020204" pitchFamily="34" charset="0"/>
              </a:rPr>
              <a:t>one more additional tenant </a:t>
            </a:r>
            <a:r>
              <a:rPr lang="en-US" sz="2200" dirty="0">
                <a:solidFill>
                  <a:schemeClr val="tx1">
                    <a:lumMod val="65000"/>
                    <a:lumOff val="35000"/>
                  </a:schemeClr>
                </a:solidFill>
                <a:cs typeface="Arial" panose="020B0604020202020204" pitchFamily="34" charset="0"/>
              </a:rPr>
              <a:t>security </a:t>
            </a:r>
            <a:r>
              <a:rPr lang="en-US" sz="2200" dirty="0" smtClean="0">
                <a:solidFill>
                  <a:schemeClr val="tx1">
                    <a:lumMod val="65000"/>
                    <a:lumOff val="35000"/>
                  </a:schemeClr>
                </a:solidFill>
                <a:cs typeface="Arial" panose="020B0604020202020204" pitchFamily="34" charset="0"/>
              </a:rPr>
              <a:t>Role(s) </a:t>
            </a:r>
            <a:r>
              <a:rPr lang="en-US" sz="2200" dirty="0">
                <a:solidFill>
                  <a:schemeClr val="tx1">
                    <a:lumMod val="65000"/>
                    <a:lumOff val="35000"/>
                  </a:schemeClr>
                </a:solidFill>
                <a:cs typeface="Arial" panose="020B0604020202020204" pitchFamily="34" charset="0"/>
              </a:rPr>
              <a:t>for </a:t>
            </a:r>
            <a:r>
              <a:rPr lang="en-US" sz="2200" dirty="0" smtClean="0">
                <a:solidFill>
                  <a:schemeClr val="tx1">
                    <a:lumMod val="65000"/>
                    <a:lumOff val="35000"/>
                  </a:schemeClr>
                </a:solidFill>
                <a:cs typeface="Arial" panose="020B0604020202020204" pitchFamily="34" charset="0"/>
              </a:rPr>
              <a:t>Data Sharing between organizations / tenants in the context of </a:t>
            </a:r>
            <a:r>
              <a:rPr lang="en-US" sz="2200" b="1" i="1" dirty="0" smtClean="0">
                <a:solidFill>
                  <a:schemeClr val="tx1">
                    <a:lumMod val="65000"/>
                    <a:lumOff val="35000"/>
                  </a:schemeClr>
                </a:solidFill>
                <a:cs typeface="Arial" panose="020B0604020202020204" pitchFamily="34" charset="0"/>
              </a:rPr>
              <a:t>Capitation arrangement ONLY</a:t>
            </a:r>
          </a:p>
          <a:p>
            <a:pPr lvl="1"/>
            <a:r>
              <a:rPr lang="en-US" sz="1600" b="1" i="1" dirty="0" smtClean="0">
                <a:solidFill>
                  <a:schemeClr val="tx1">
                    <a:lumMod val="65000"/>
                    <a:lumOff val="35000"/>
                  </a:schemeClr>
                </a:solidFill>
                <a:cs typeface="Arial" panose="020B0604020202020204" pitchFamily="34" charset="0"/>
              </a:rPr>
              <a:t>R1 Health Plan Data Sharing/Regular </a:t>
            </a:r>
            <a:r>
              <a:rPr lang="en-US" sz="1600" b="1" i="1" dirty="0">
                <a:solidFill>
                  <a:schemeClr val="tx1">
                    <a:lumMod val="65000"/>
                    <a:lumOff val="35000"/>
                  </a:schemeClr>
                </a:solidFill>
                <a:cs typeface="Arial" panose="020B0604020202020204" pitchFamily="34" charset="0"/>
              </a:rPr>
              <a:t>– NOPHI </a:t>
            </a:r>
            <a:r>
              <a:rPr lang="en-US" sz="1600" i="1" dirty="0">
                <a:solidFill>
                  <a:schemeClr val="tx1">
                    <a:lumMod val="65000"/>
                    <a:lumOff val="35000"/>
                  </a:schemeClr>
                </a:solidFill>
                <a:cs typeface="Arial" panose="020B0604020202020204" pitchFamily="34" charset="0"/>
              </a:rPr>
              <a:t>- Protected Health Information (PHI) (ex: such as member id and name) will be encrypted or masked </a:t>
            </a:r>
            <a:r>
              <a:rPr lang="en-US" sz="1600" i="1" dirty="0" smtClean="0">
                <a:solidFill>
                  <a:schemeClr val="tx1">
                    <a:lumMod val="65000"/>
                    <a:lumOff val="35000"/>
                  </a:schemeClr>
                </a:solidFill>
                <a:cs typeface="Arial" panose="020B0604020202020204" pitchFamily="34" charset="0"/>
              </a:rPr>
              <a:t>, </a:t>
            </a:r>
            <a:r>
              <a:rPr lang="en-US" sz="1600" i="1" dirty="0">
                <a:solidFill>
                  <a:schemeClr val="tx1">
                    <a:lumMod val="65000"/>
                    <a:lumOff val="35000"/>
                  </a:schemeClr>
                </a:solidFill>
                <a:cs typeface="Arial" panose="020B0604020202020204" pitchFamily="34" charset="0"/>
              </a:rPr>
              <a:t>excluding sensitivity </a:t>
            </a:r>
            <a:r>
              <a:rPr lang="en-US" sz="1600" i="1" dirty="0" smtClean="0">
                <a:solidFill>
                  <a:schemeClr val="tx1">
                    <a:lumMod val="65000"/>
                    <a:lumOff val="35000"/>
                  </a:schemeClr>
                </a:solidFill>
                <a:cs typeface="Arial" panose="020B0604020202020204" pitchFamily="34" charset="0"/>
              </a:rPr>
              <a:t>codes and Health Plan can share Provider information, header level claim data such as dummy financial data based on a determined % of actual allowed and also can share the following clinical data with capitated arrangement provider tenant users - </a:t>
            </a:r>
            <a:r>
              <a:rPr lang="en-US" sz="1600" dirty="0" smtClean="0">
                <a:solidFill>
                  <a:schemeClr val="tx1">
                    <a:lumMod val="65000"/>
                    <a:lumOff val="35000"/>
                  </a:schemeClr>
                </a:solidFill>
                <a:cs typeface="Arial" panose="020B0604020202020204" pitchFamily="34" charset="0"/>
              </a:rPr>
              <a:t>CPT/HCPC/Revenue/ICD9-10 Procedure codes , Diagnosis/MS-DRG codes, Prescriptions, Responses to Health Risk Assessments , Problem Lists , Care Plans , Orders and Referrals , Prior Authorizations , Level of Income Support , Lab Results , Biometric screenings , Vital signs , Risk Scores , Patient Pain Scores , Activity of Daily Living Results </a:t>
            </a:r>
            <a:r>
              <a:rPr lang="en-US" sz="1600" i="1" dirty="0">
                <a:solidFill>
                  <a:schemeClr val="tx1">
                    <a:lumMod val="65000"/>
                    <a:lumOff val="35000"/>
                  </a:schemeClr>
                </a:solidFill>
                <a:cs typeface="Arial" panose="020B0604020202020204" pitchFamily="34" charset="0"/>
              </a:rPr>
              <a:t>with capitated arrangement provider tenant users </a:t>
            </a:r>
            <a:endParaRPr lang="en-US" sz="1600" dirty="0" smtClean="0">
              <a:solidFill>
                <a:schemeClr val="tx1">
                  <a:lumMod val="65000"/>
                  <a:lumOff val="35000"/>
                </a:schemeClr>
              </a:solidFill>
              <a:cs typeface="Arial" panose="020B0604020202020204" pitchFamily="34" charset="0"/>
            </a:endParaRPr>
          </a:p>
          <a:p>
            <a:pPr lvl="1"/>
            <a:r>
              <a:rPr lang="en-US" sz="1600" b="1" i="1" dirty="0">
                <a:solidFill>
                  <a:schemeClr val="tx1">
                    <a:lumMod val="65000"/>
                    <a:lumOff val="35000"/>
                  </a:schemeClr>
                </a:solidFill>
                <a:cs typeface="Arial" panose="020B0604020202020204" pitchFamily="34" charset="0"/>
              </a:rPr>
              <a:t>R1 </a:t>
            </a:r>
            <a:r>
              <a:rPr lang="en-US" sz="1600" b="1" i="1" dirty="0" smtClean="0">
                <a:solidFill>
                  <a:schemeClr val="tx1">
                    <a:lumMod val="65000"/>
                    <a:lumOff val="35000"/>
                  </a:schemeClr>
                </a:solidFill>
                <a:cs typeface="Arial" panose="020B0604020202020204" pitchFamily="34" charset="0"/>
              </a:rPr>
              <a:t>Delivery System Data </a:t>
            </a:r>
            <a:r>
              <a:rPr lang="en-US" sz="1600" b="1" i="1" dirty="0">
                <a:solidFill>
                  <a:schemeClr val="tx1">
                    <a:lumMod val="65000"/>
                    <a:lumOff val="35000"/>
                  </a:schemeClr>
                </a:solidFill>
                <a:cs typeface="Arial" panose="020B0604020202020204" pitchFamily="34" charset="0"/>
              </a:rPr>
              <a:t>Sharing/Regular – NOPHI </a:t>
            </a:r>
            <a:r>
              <a:rPr lang="en-US" sz="1600" i="1" dirty="0">
                <a:solidFill>
                  <a:schemeClr val="tx1">
                    <a:lumMod val="65000"/>
                    <a:lumOff val="35000"/>
                  </a:schemeClr>
                </a:solidFill>
                <a:cs typeface="Arial" panose="020B0604020202020204" pitchFamily="34" charset="0"/>
              </a:rPr>
              <a:t>- Protected Health Information (PHI) (ex: such as member id and name) will be encrypted or masked , excluding sensitivity codes and </a:t>
            </a:r>
            <a:r>
              <a:rPr lang="en-US" sz="1600" i="1" dirty="0" smtClean="0">
                <a:solidFill>
                  <a:schemeClr val="tx1">
                    <a:lumMod val="65000"/>
                    <a:lumOff val="35000"/>
                  </a:schemeClr>
                </a:solidFill>
                <a:cs typeface="Arial" panose="020B0604020202020204" pitchFamily="34" charset="0"/>
              </a:rPr>
              <a:t>delivery system can </a:t>
            </a:r>
            <a:r>
              <a:rPr lang="en-US" sz="1600" i="1" dirty="0">
                <a:solidFill>
                  <a:schemeClr val="tx1">
                    <a:lumMod val="65000"/>
                    <a:lumOff val="35000"/>
                  </a:schemeClr>
                </a:solidFill>
                <a:cs typeface="Arial" panose="020B0604020202020204" pitchFamily="34" charset="0"/>
              </a:rPr>
              <a:t>share </a:t>
            </a:r>
            <a:r>
              <a:rPr lang="en-US" sz="1600" i="1" dirty="0" smtClean="0">
                <a:solidFill>
                  <a:schemeClr val="tx1">
                    <a:lumMod val="65000"/>
                    <a:lumOff val="35000"/>
                  </a:schemeClr>
                </a:solidFill>
                <a:cs typeface="Arial" panose="020B0604020202020204" pitchFamily="34" charset="0"/>
              </a:rPr>
              <a:t>Charge </a:t>
            </a:r>
            <a:r>
              <a:rPr lang="en-US" sz="1600" i="1" dirty="0">
                <a:solidFill>
                  <a:schemeClr val="tx1">
                    <a:lumMod val="65000"/>
                    <a:lumOff val="35000"/>
                  </a:schemeClr>
                </a:solidFill>
                <a:cs typeface="Arial" panose="020B0604020202020204" pitchFamily="34" charset="0"/>
              </a:rPr>
              <a:t>to </a:t>
            </a:r>
            <a:r>
              <a:rPr lang="en-US" sz="1600" i="1" dirty="0" smtClean="0">
                <a:solidFill>
                  <a:schemeClr val="tx1">
                    <a:lumMod val="65000"/>
                    <a:lumOff val="35000"/>
                  </a:schemeClr>
                </a:solidFill>
                <a:cs typeface="Arial" panose="020B0604020202020204" pitchFamily="34" charset="0"/>
              </a:rPr>
              <a:t>Payer  </a:t>
            </a:r>
            <a:r>
              <a:rPr lang="en-US" sz="1600" i="1" dirty="0">
                <a:solidFill>
                  <a:schemeClr val="tx1">
                    <a:lumMod val="65000"/>
                    <a:lumOff val="35000"/>
                  </a:schemeClr>
                </a:solidFill>
                <a:cs typeface="Arial" panose="020B0604020202020204" pitchFamily="34" charset="0"/>
              </a:rPr>
              <a:t>(No Cost Data will be Shared) and </a:t>
            </a:r>
            <a:r>
              <a:rPr lang="en-US" sz="1600" i="1" dirty="0" smtClean="0">
                <a:solidFill>
                  <a:schemeClr val="tx1">
                    <a:lumMod val="65000"/>
                    <a:lumOff val="35000"/>
                  </a:schemeClr>
                </a:solidFill>
                <a:cs typeface="Arial" panose="020B0604020202020204" pitchFamily="34" charset="0"/>
              </a:rPr>
              <a:t>Payer Type and </a:t>
            </a:r>
            <a:r>
              <a:rPr lang="en-US" sz="1600" i="1" dirty="0">
                <a:solidFill>
                  <a:schemeClr val="tx1">
                    <a:lumMod val="65000"/>
                    <a:lumOff val="35000"/>
                  </a:schemeClr>
                </a:solidFill>
                <a:cs typeface="Arial" panose="020B0604020202020204" pitchFamily="34" charset="0"/>
              </a:rPr>
              <a:t>also can share the following clinical data with capitated arrangement provider tenant users - </a:t>
            </a:r>
            <a:r>
              <a:rPr lang="en-US" sz="1600" dirty="0">
                <a:solidFill>
                  <a:schemeClr val="tx1">
                    <a:lumMod val="65000"/>
                    <a:lumOff val="35000"/>
                  </a:schemeClr>
                </a:solidFill>
                <a:cs typeface="Arial" panose="020B0604020202020204" pitchFamily="34" charset="0"/>
              </a:rPr>
              <a:t>CPT/HCPC/Revenue/ICD9-10 Procedure codes , Diagnosis/MS-DRG codes, Prescriptions, Responses to Health Risk Assessments , Problem Lists , Care Plans , Orders and Referrals , Prior Authorizations , Level of Income Support , Lab Results , Biometric screenings , Vital signs , Risk Scores , Patient Pain Scores , Activity of Daily Living </a:t>
            </a:r>
            <a:r>
              <a:rPr lang="en-US" sz="1600" dirty="0" smtClean="0">
                <a:solidFill>
                  <a:schemeClr val="tx1">
                    <a:lumMod val="65000"/>
                    <a:lumOff val="35000"/>
                  </a:schemeClr>
                </a:solidFill>
                <a:cs typeface="Arial" panose="020B0604020202020204" pitchFamily="34" charset="0"/>
              </a:rPr>
              <a:t>Results </a:t>
            </a:r>
            <a:r>
              <a:rPr lang="en-US" sz="1600" i="1" dirty="0">
                <a:solidFill>
                  <a:schemeClr val="tx1">
                    <a:lumMod val="65000"/>
                    <a:lumOff val="35000"/>
                  </a:schemeClr>
                </a:solidFill>
                <a:cs typeface="Arial" panose="020B0604020202020204" pitchFamily="34" charset="0"/>
              </a:rPr>
              <a:t>allowed with capitated arrangement </a:t>
            </a:r>
            <a:r>
              <a:rPr lang="en-US" sz="1600" i="1" dirty="0" smtClean="0">
                <a:solidFill>
                  <a:schemeClr val="tx1">
                    <a:lumMod val="65000"/>
                    <a:lumOff val="35000"/>
                  </a:schemeClr>
                </a:solidFill>
                <a:cs typeface="Arial" panose="020B0604020202020204" pitchFamily="34" charset="0"/>
              </a:rPr>
              <a:t>health plan </a:t>
            </a:r>
            <a:r>
              <a:rPr lang="en-US" sz="1600" i="1" dirty="0">
                <a:solidFill>
                  <a:schemeClr val="tx1">
                    <a:lumMod val="65000"/>
                    <a:lumOff val="35000"/>
                  </a:schemeClr>
                </a:solidFill>
                <a:cs typeface="Arial" panose="020B0604020202020204" pitchFamily="34" charset="0"/>
              </a:rPr>
              <a:t>tenant users</a:t>
            </a:r>
            <a:endParaRPr lang="en-US" sz="1600" dirty="0" smtClean="0">
              <a:solidFill>
                <a:schemeClr val="tx1">
                  <a:lumMod val="65000"/>
                  <a:lumOff val="35000"/>
                </a:schemeClr>
              </a:solidFill>
              <a:cs typeface="Arial" panose="020B0604020202020204" pitchFamily="34" charset="0"/>
            </a:endParaRPr>
          </a:p>
          <a:p>
            <a:pPr lvl="1"/>
            <a:endParaRPr lang="en-US" sz="1800" i="1" dirty="0" smtClean="0">
              <a:solidFill>
                <a:schemeClr val="tx1">
                  <a:lumMod val="65000"/>
                  <a:lumOff val="35000"/>
                </a:schemeClr>
              </a:solidFill>
              <a:cs typeface="Arial" panose="020B0604020202020204" pitchFamily="34" charset="0"/>
            </a:endParaRPr>
          </a:p>
          <a:p>
            <a:pPr lvl="1"/>
            <a:endParaRPr lang="en-US" sz="1800" i="1" dirty="0">
              <a:solidFill>
                <a:schemeClr val="tx1">
                  <a:lumMod val="65000"/>
                  <a:lumOff val="35000"/>
                </a:schemeClr>
              </a:solidFill>
              <a:cs typeface="Arial" panose="020B0604020202020204" pitchFamily="34" charset="0"/>
            </a:endParaRPr>
          </a:p>
        </p:txBody>
      </p:sp>
      <p:sp>
        <p:nvSpPr>
          <p:cNvPr id="4" name="TextBox 3"/>
          <p:cNvSpPr txBox="1"/>
          <p:nvPr/>
        </p:nvSpPr>
        <p:spPr>
          <a:xfrm>
            <a:off x="431540" y="5926908"/>
            <a:ext cx="8568952" cy="523220"/>
          </a:xfrm>
          <a:prstGeom prst="rect">
            <a:avLst/>
          </a:prstGeom>
          <a:noFill/>
        </p:spPr>
        <p:txBody>
          <a:bodyPr wrap="square" rtlCol="0">
            <a:spAutoFit/>
          </a:bodyPr>
          <a:lstStyle/>
          <a:p>
            <a:r>
              <a:rPr lang="en-US" sz="1400" i="1" dirty="0" smtClean="0">
                <a:solidFill>
                  <a:srgbClr val="FF0000"/>
                </a:solidFill>
              </a:rPr>
              <a:t>* IRADW solution team will work with Data Sharing committee while building the objects to share with Data Sharing Role</a:t>
            </a:r>
            <a:endParaRPr lang="en-US" sz="1400" i="1" dirty="0">
              <a:solidFill>
                <a:srgbClr val="FF0000"/>
              </a:solidFill>
            </a:endParaRPr>
          </a:p>
        </p:txBody>
      </p:sp>
      <p:pic>
        <p:nvPicPr>
          <p:cNvPr id="5" name="Picture 4"/>
          <p:cNvPicPr>
            <a:picLocks noChangeAspect="1"/>
          </p:cNvPicPr>
          <p:nvPr/>
        </p:nvPicPr>
        <p:blipFill>
          <a:blip r:embed="rId2"/>
          <a:stretch>
            <a:fillRect/>
          </a:stretch>
        </p:blipFill>
        <p:spPr>
          <a:xfrm>
            <a:off x="6732240" y="206757"/>
            <a:ext cx="2266950" cy="413931"/>
          </a:xfrm>
          <a:prstGeom prst="rect">
            <a:avLst/>
          </a:prstGeom>
        </p:spPr>
      </p:pic>
    </p:spTree>
    <p:extLst>
      <p:ext uri="{BB962C8B-B14F-4D97-AF65-F5344CB8AC3E}">
        <p14:creationId xmlns:p14="http://schemas.microsoft.com/office/powerpoint/2010/main" val="11258929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569" y="219763"/>
            <a:ext cx="6491524" cy="576000"/>
          </a:xfrm>
        </p:spPr>
        <p:txBody>
          <a:bodyPr/>
          <a:lstStyle/>
          <a:p>
            <a:r>
              <a:rPr lang="en-US" sz="2400" dirty="0" smtClean="0"/>
              <a:t>Solution Highlights: Data </a:t>
            </a:r>
            <a:r>
              <a:rPr lang="en-US" sz="2400" dirty="0"/>
              <a:t>Security </a:t>
            </a:r>
            <a:r>
              <a:rPr lang="en-US" sz="2400" dirty="0" smtClean="0"/>
              <a:t>Design Cont’d..</a:t>
            </a:r>
            <a:br>
              <a:rPr lang="en-US" sz="2400" dirty="0" smtClean="0"/>
            </a:br>
            <a:r>
              <a:rPr lang="en-US" sz="1800" b="0" i="1" dirty="0" smtClean="0">
                <a:solidFill>
                  <a:schemeClr val="tx1">
                    <a:lumMod val="65000"/>
                    <a:lumOff val="35000"/>
                  </a:schemeClr>
                </a:solidFill>
                <a:cs typeface="Arial" panose="020B0604020202020204" pitchFamily="34" charset="0"/>
              </a:rPr>
              <a:t>Sensitive &amp; Restrictive Codes</a:t>
            </a:r>
            <a:endParaRPr lang="en-US" sz="1800" b="0" dirty="0"/>
          </a:p>
        </p:txBody>
      </p:sp>
      <p:pic>
        <p:nvPicPr>
          <p:cNvPr id="5" name="Picture 4"/>
          <p:cNvPicPr>
            <a:picLocks noChangeAspect="1"/>
          </p:cNvPicPr>
          <p:nvPr/>
        </p:nvPicPr>
        <p:blipFill>
          <a:blip r:embed="rId2"/>
          <a:stretch>
            <a:fillRect/>
          </a:stretch>
        </p:blipFill>
        <p:spPr>
          <a:xfrm>
            <a:off x="6732240" y="206757"/>
            <a:ext cx="2266950" cy="413931"/>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643916208"/>
              </p:ext>
            </p:extLst>
          </p:nvPr>
        </p:nvGraphicFramePr>
        <p:xfrm>
          <a:off x="161238" y="3609179"/>
          <a:ext cx="8382533" cy="1554480"/>
        </p:xfrm>
        <a:graphic>
          <a:graphicData uri="http://schemas.openxmlformats.org/drawingml/2006/table">
            <a:tbl>
              <a:tblPr firstRow="1" bandRow="1">
                <a:tableStyleId>{5C22544A-7EE6-4342-B048-85BDC9FD1C3A}</a:tableStyleId>
              </a:tblPr>
              <a:tblGrid>
                <a:gridCol w="677675">
                  <a:extLst>
                    <a:ext uri="{9D8B030D-6E8A-4147-A177-3AD203B41FA5}">
                      <a16:colId xmlns:a16="http://schemas.microsoft.com/office/drawing/2014/main" val="360628541"/>
                    </a:ext>
                  </a:extLst>
                </a:gridCol>
                <a:gridCol w="972108">
                  <a:extLst>
                    <a:ext uri="{9D8B030D-6E8A-4147-A177-3AD203B41FA5}">
                      <a16:colId xmlns:a16="http://schemas.microsoft.com/office/drawing/2014/main" val="2821603197"/>
                    </a:ext>
                  </a:extLst>
                </a:gridCol>
                <a:gridCol w="1872208">
                  <a:extLst>
                    <a:ext uri="{9D8B030D-6E8A-4147-A177-3AD203B41FA5}">
                      <a16:colId xmlns:a16="http://schemas.microsoft.com/office/drawing/2014/main" val="1221513302"/>
                    </a:ext>
                  </a:extLst>
                </a:gridCol>
                <a:gridCol w="1188132">
                  <a:extLst>
                    <a:ext uri="{9D8B030D-6E8A-4147-A177-3AD203B41FA5}">
                      <a16:colId xmlns:a16="http://schemas.microsoft.com/office/drawing/2014/main" val="4149239729"/>
                    </a:ext>
                  </a:extLst>
                </a:gridCol>
                <a:gridCol w="2016224">
                  <a:extLst>
                    <a:ext uri="{9D8B030D-6E8A-4147-A177-3AD203B41FA5}">
                      <a16:colId xmlns:a16="http://schemas.microsoft.com/office/drawing/2014/main" val="3371589968"/>
                    </a:ext>
                  </a:extLst>
                </a:gridCol>
                <a:gridCol w="1656186">
                  <a:extLst>
                    <a:ext uri="{9D8B030D-6E8A-4147-A177-3AD203B41FA5}">
                      <a16:colId xmlns:a16="http://schemas.microsoft.com/office/drawing/2014/main" val="2064034547"/>
                    </a:ext>
                  </a:extLst>
                </a:gridCol>
              </a:tblGrid>
              <a:tr h="640080">
                <a:tc>
                  <a:txBody>
                    <a:bodyPr/>
                    <a:lstStyle/>
                    <a:p>
                      <a:r>
                        <a:rPr lang="en-US" sz="1400" dirty="0" smtClean="0"/>
                        <a:t>Encounter</a:t>
                      </a:r>
                      <a:r>
                        <a:rPr lang="en-US" sz="1400" baseline="0" dirty="0" smtClean="0"/>
                        <a:t> ID</a:t>
                      </a:r>
                      <a:endParaRPr lang="en-US" sz="1400" dirty="0"/>
                    </a:p>
                  </a:txBody>
                  <a:tcPr/>
                </a:tc>
                <a:tc>
                  <a:txBody>
                    <a:bodyPr/>
                    <a:lstStyle/>
                    <a:p>
                      <a:r>
                        <a:rPr lang="en-US" sz="1400" dirty="0" smtClean="0"/>
                        <a:t>PAT ID</a:t>
                      </a:r>
                      <a:endParaRPr lang="en-US" sz="1400" dirty="0"/>
                    </a:p>
                  </a:txBody>
                  <a:tcPr/>
                </a:tc>
                <a:tc>
                  <a:txBody>
                    <a:bodyPr/>
                    <a:lstStyle/>
                    <a:p>
                      <a:r>
                        <a:rPr lang="en-US" sz="1400" dirty="0" smtClean="0"/>
                        <a:t>Prim</a:t>
                      </a:r>
                      <a:r>
                        <a:rPr lang="en-US" sz="1400" baseline="0" dirty="0" smtClean="0"/>
                        <a:t> </a:t>
                      </a:r>
                      <a:r>
                        <a:rPr lang="en-US" sz="1400" dirty="0" smtClean="0"/>
                        <a:t>Diagnosis</a:t>
                      </a:r>
                      <a:r>
                        <a:rPr lang="en-US" sz="1400" baseline="0" dirty="0" smtClean="0"/>
                        <a:t> Cd</a:t>
                      </a:r>
                      <a:endParaRPr lang="en-US" sz="1400" dirty="0"/>
                    </a:p>
                  </a:txBody>
                  <a:tcPr/>
                </a:tc>
                <a:tc>
                  <a:txBody>
                    <a:bodyPr/>
                    <a:lstStyle/>
                    <a:p>
                      <a:r>
                        <a:rPr lang="en-US" sz="1400" dirty="0" smtClean="0"/>
                        <a:t>Pat First Name</a:t>
                      </a:r>
                      <a:endParaRPr lang="en-US" sz="1400" dirty="0"/>
                    </a:p>
                  </a:txBody>
                  <a:tcPr/>
                </a:tc>
                <a:tc>
                  <a:txBody>
                    <a:bodyPr/>
                    <a:lstStyle/>
                    <a:p>
                      <a:r>
                        <a:rPr lang="en-US" sz="1400" dirty="0" smtClean="0"/>
                        <a:t>Sec Diagnosis</a:t>
                      </a:r>
                      <a:endParaRPr lang="en-US" sz="1400" dirty="0"/>
                    </a:p>
                  </a:txBody>
                  <a:tcPr/>
                </a:tc>
                <a:tc>
                  <a:txBody>
                    <a:bodyPr/>
                    <a:lstStyle/>
                    <a:p>
                      <a:r>
                        <a:rPr lang="en-US" sz="1400" dirty="0" smtClean="0"/>
                        <a:t>Tertiary Diagnosis Cd</a:t>
                      </a:r>
                      <a:endParaRPr lang="en-US" sz="1400" dirty="0"/>
                    </a:p>
                  </a:txBody>
                  <a:tcPr/>
                </a:tc>
                <a:extLst>
                  <a:ext uri="{0D108BD9-81ED-4DB2-BD59-A6C34878D82A}">
                    <a16:rowId xmlns:a16="http://schemas.microsoft.com/office/drawing/2014/main" val="2809795678"/>
                  </a:ext>
                </a:extLst>
              </a:tr>
              <a:tr h="822959">
                <a:tc>
                  <a:txBody>
                    <a:bodyPr/>
                    <a:lstStyle/>
                    <a:p>
                      <a:r>
                        <a:rPr lang="en-US" sz="1600" dirty="0" smtClean="0"/>
                        <a:t>1001</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P843899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A37.90 ~ Whooping cough, without</a:t>
                      </a:r>
                      <a:r>
                        <a:rPr lang="en-US" sz="1600" baseline="0" dirty="0" smtClean="0"/>
                        <a:t> </a:t>
                      </a:r>
                      <a:r>
                        <a:rPr lang="en-US" sz="1600" dirty="0" smtClean="0"/>
                        <a:t>pneumonia</a:t>
                      </a:r>
                      <a:endParaRPr lang="en-US" sz="1600" b="0" i="0" u="none" strike="noStrike" dirty="0" smtClean="0">
                        <a:solidFill>
                          <a:srgbClr val="000000"/>
                        </a:solidFill>
                        <a:effectLst/>
                        <a:latin typeface="Calibri" panose="020F050202020403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xxxxxx</a:t>
                      </a:r>
                    </a:p>
                  </a:txBody>
                  <a:tcPr/>
                </a:tc>
                <a:tc>
                  <a:txBody>
                    <a:bodyPr/>
                    <a:lstStyle/>
                    <a:p>
                      <a:pPr algn="l" fontAlgn="b"/>
                      <a:r>
                        <a:rPr lang="en-US" sz="1600" b="0" i="0" u="none" strike="noStrike" dirty="0" smtClean="0">
                          <a:solidFill>
                            <a:srgbClr val="000000"/>
                          </a:solidFill>
                          <a:effectLst/>
                          <a:latin typeface="Calibri" panose="020F0502020204030204" pitchFamily="34" charset="0"/>
                        </a:rPr>
                        <a:t>B20 ~Human immunodeficiency virus [HIV] disease</a:t>
                      </a:r>
                      <a:endParaRPr lang="en-US" sz="1600" b="0" i="0" u="none" strike="noStrike" dirty="0">
                        <a:solidFill>
                          <a:srgbClr val="000000"/>
                        </a:solidFill>
                        <a:effectLst/>
                        <a:latin typeface="Calibri" panose="020F050202020403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A54.81~Gonococcal meningitis</a:t>
                      </a:r>
                    </a:p>
                    <a:p>
                      <a:endParaRPr lang="en-US" sz="1600" dirty="0"/>
                    </a:p>
                  </a:txBody>
                  <a:tcPr/>
                </a:tc>
                <a:extLst>
                  <a:ext uri="{0D108BD9-81ED-4DB2-BD59-A6C34878D82A}">
                    <a16:rowId xmlns:a16="http://schemas.microsoft.com/office/drawing/2014/main" val="1330540035"/>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293681564"/>
              </p:ext>
            </p:extLst>
          </p:nvPr>
        </p:nvGraphicFramePr>
        <p:xfrm>
          <a:off x="261569" y="1412776"/>
          <a:ext cx="6877918" cy="1779709"/>
        </p:xfrm>
        <a:graphic>
          <a:graphicData uri="http://schemas.openxmlformats.org/drawingml/2006/table">
            <a:tbl>
              <a:tblPr firstRow="1" bandRow="1">
                <a:tableStyleId>{5C22544A-7EE6-4342-B048-85BDC9FD1C3A}</a:tableStyleId>
              </a:tblPr>
              <a:tblGrid>
                <a:gridCol w="1480428">
                  <a:extLst>
                    <a:ext uri="{9D8B030D-6E8A-4147-A177-3AD203B41FA5}">
                      <a16:colId xmlns:a16="http://schemas.microsoft.com/office/drawing/2014/main" val="360628541"/>
                    </a:ext>
                  </a:extLst>
                </a:gridCol>
                <a:gridCol w="1435569">
                  <a:extLst>
                    <a:ext uri="{9D8B030D-6E8A-4147-A177-3AD203B41FA5}">
                      <a16:colId xmlns:a16="http://schemas.microsoft.com/office/drawing/2014/main" val="1221513302"/>
                    </a:ext>
                  </a:extLst>
                </a:gridCol>
                <a:gridCol w="2699214">
                  <a:extLst>
                    <a:ext uri="{9D8B030D-6E8A-4147-A177-3AD203B41FA5}">
                      <a16:colId xmlns:a16="http://schemas.microsoft.com/office/drawing/2014/main" val="100260903"/>
                    </a:ext>
                  </a:extLst>
                </a:gridCol>
                <a:gridCol w="1262707">
                  <a:extLst>
                    <a:ext uri="{9D8B030D-6E8A-4147-A177-3AD203B41FA5}">
                      <a16:colId xmlns:a16="http://schemas.microsoft.com/office/drawing/2014/main" val="2064034547"/>
                    </a:ext>
                  </a:extLst>
                </a:gridCol>
              </a:tblGrid>
              <a:tr h="492458">
                <a:tc>
                  <a:txBody>
                    <a:bodyPr/>
                    <a:lstStyle/>
                    <a:p>
                      <a:r>
                        <a:rPr lang="en-US" sz="1400" dirty="0" smtClean="0"/>
                        <a:t>Diagnosis</a:t>
                      </a:r>
                      <a:r>
                        <a:rPr lang="en-US" sz="1400" baseline="0" dirty="0" smtClean="0"/>
                        <a:t> SK</a:t>
                      </a:r>
                      <a:endParaRPr lang="en-US" sz="1400" dirty="0"/>
                    </a:p>
                  </a:txBody>
                  <a:tcPr/>
                </a:tc>
                <a:tc>
                  <a:txBody>
                    <a:bodyPr/>
                    <a:lstStyle/>
                    <a:p>
                      <a:r>
                        <a:rPr lang="en-US" sz="1400" dirty="0" smtClean="0"/>
                        <a:t>Diagnosis</a:t>
                      </a:r>
                      <a:r>
                        <a:rPr lang="en-US" sz="1400" baseline="0" dirty="0" smtClean="0"/>
                        <a:t> Cd</a:t>
                      </a:r>
                      <a:endParaRPr lang="en-US" sz="1400" dirty="0"/>
                    </a:p>
                  </a:txBody>
                  <a:tcPr/>
                </a:tc>
                <a:tc>
                  <a:txBody>
                    <a:bodyPr/>
                    <a:lstStyle/>
                    <a:p>
                      <a:r>
                        <a:rPr lang="en-US" sz="1400" dirty="0" smtClean="0"/>
                        <a:t>Diagnosis</a:t>
                      </a:r>
                      <a:r>
                        <a:rPr lang="en-US" sz="1400" baseline="0" dirty="0" smtClean="0"/>
                        <a:t> Description</a:t>
                      </a:r>
                      <a:endParaRPr lang="en-US" sz="1400" dirty="0"/>
                    </a:p>
                  </a:txBody>
                  <a:tcPr/>
                </a:tc>
                <a:tc>
                  <a:txBody>
                    <a:bodyPr/>
                    <a:lstStyle/>
                    <a:p>
                      <a:r>
                        <a:rPr lang="en-US" sz="1400" dirty="0" smtClean="0"/>
                        <a:t>Data Security</a:t>
                      </a:r>
                      <a:r>
                        <a:rPr lang="en-US" sz="1400" baseline="0" dirty="0" smtClean="0"/>
                        <a:t> Flag</a:t>
                      </a:r>
                      <a:endParaRPr lang="en-US" sz="1400" dirty="0"/>
                    </a:p>
                  </a:txBody>
                  <a:tcPr/>
                </a:tc>
                <a:extLst>
                  <a:ext uri="{0D108BD9-81ED-4DB2-BD59-A6C34878D82A}">
                    <a16:rowId xmlns:a16="http://schemas.microsoft.com/office/drawing/2014/main" val="2809795678"/>
                  </a:ext>
                </a:extLst>
              </a:tr>
              <a:tr h="311891">
                <a:tc>
                  <a:txBody>
                    <a:bodyPr/>
                    <a:lstStyle/>
                    <a:p>
                      <a:r>
                        <a:rPr lang="en-US" sz="1200" dirty="0" smtClean="0"/>
                        <a:t>1</a:t>
                      </a:r>
                      <a:endParaRPr lang="en-US" sz="1200" dirty="0"/>
                    </a:p>
                  </a:txBody>
                  <a:tcPr/>
                </a:tc>
                <a:tc>
                  <a:txBody>
                    <a:bodyPr/>
                    <a:lstStyle/>
                    <a:p>
                      <a:r>
                        <a:rPr lang="en-US" sz="1200" dirty="0" smtClean="0"/>
                        <a:t>A37.90</a:t>
                      </a:r>
                      <a:endParaRPr lang="en-US" sz="1200" dirty="0"/>
                    </a:p>
                  </a:txBody>
                  <a:tcPr/>
                </a:tc>
                <a:tc>
                  <a:txBody>
                    <a:bodyPr/>
                    <a:lstStyle/>
                    <a:p>
                      <a:r>
                        <a:rPr lang="en-US" sz="1200" dirty="0" smtClean="0"/>
                        <a:t>Whooping cough, without</a:t>
                      </a:r>
                      <a:r>
                        <a:rPr lang="en-US" sz="1200" baseline="0" dirty="0" smtClean="0"/>
                        <a:t> </a:t>
                      </a:r>
                      <a:r>
                        <a:rPr lang="en-US" sz="1200" dirty="0" smtClean="0"/>
                        <a:t>pneumonia.</a:t>
                      </a:r>
                      <a:endParaRPr lang="en-US" sz="1200" dirty="0"/>
                    </a:p>
                  </a:txBody>
                  <a:tcPr/>
                </a:tc>
                <a:tc>
                  <a:txBody>
                    <a:bodyPr/>
                    <a:lstStyle/>
                    <a:p>
                      <a:r>
                        <a:rPr lang="en-US" sz="1200" dirty="0" smtClean="0"/>
                        <a:t>0</a:t>
                      </a:r>
                      <a:endParaRPr lang="en-US" sz="1200" dirty="0"/>
                    </a:p>
                  </a:txBody>
                  <a:tcPr/>
                </a:tc>
                <a:extLst>
                  <a:ext uri="{0D108BD9-81ED-4DB2-BD59-A6C34878D82A}">
                    <a16:rowId xmlns:a16="http://schemas.microsoft.com/office/drawing/2014/main" val="1330540035"/>
                  </a:ext>
                </a:extLst>
              </a:tr>
              <a:tr h="392454">
                <a:tc>
                  <a:txBody>
                    <a:bodyPr/>
                    <a:lstStyle/>
                    <a:p>
                      <a:r>
                        <a:rPr lang="en-US" sz="1200" dirty="0" smtClean="0"/>
                        <a:t>2</a:t>
                      </a:r>
                      <a:endParaRPr lang="en-US" sz="1200" dirty="0"/>
                    </a:p>
                  </a:txBody>
                  <a:tcPr/>
                </a:tc>
                <a:tc>
                  <a:txBody>
                    <a:bodyPr/>
                    <a:lstStyle/>
                    <a:p>
                      <a:r>
                        <a:rPr lang="en-US" sz="1200" b="0" i="0" u="none" strike="noStrike" dirty="0" smtClean="0">
                          <a:solidFill>
                            <a:srgbClr val="000000"/>
                          </a:solidFill>
                          <a:effectLst/>
                          <a:latin typeface="Calibri" panose="020F0502020204030204" pitchFamily="34" charset="0"/>
                        </a:rPr>
                        <a:t>B20</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smtClean="0">
                          <a:solidFill>
                            <a:srgbClr val="000000"/>
                          </a:solidFill>
                          <a:effectLst/>
                          <a:latin typeface="Calibri" panose="020F0502020204030204" pitchFamily="34" charset="0"/>
                        </a:rPr>
                        <a:t>Human immunodeficiency virus [HIV] disease</a:t>
                      </a:r>
                    </a:p>
                  </a:txBody>
                  <a:tcPr/>
                </a:tc>
                <a:tc>
                  <a:txBody>
                    <a:bodyPr/>
                    <a:lstStyle/>
                    <a:p>
                      <a:r>
                        <a:rPr lang="en-US" sz="1200" dirty="0" smtClean="0"/>
                        <a:t>1</a:t>
                      </a:r>
                      <a:endParaRPr lang="en-US" sz="1200" dirty="0"/>
                    </a:p>
                  </a:txBody>
                  <a:tcPr/>
                </a:tc>
                <a:extLst>
                  <a:ext uri="{0D108BD9-81ED-4DB2-BD59-A6C34878D82A}">
                    <a16:rowId xmlns:a16="http://schemas.microsoft.com/office/drawing/2014/main" val="3587272066"/>
                  </a:ext>
                </a:extLst>
              </a:tr>
              <a:tr h="492458">
                <a:tc>
                  <a:txBody>
                    <a:bodyPr/>
                    <a:lstStyle/>
                    <a:p>
                      <a:r>
                        <a:rPr lang="en-US" sz="1200" dirty="0" smtClean="0"/>
                        <a:t>3</a:t>
                      </a:r>
                      <a:endParaRPr lang="en-US" sz="1200" dirty="0"/>
                    </a:p>
                  </a:txBody>
                  <a:tcPr/>
                </a:tc>
                <a:tc>
                  <a:txBody>
                    <a:bodyPr/>
                    <a:lstStyle/>
                    <a:p>
                      <a:r>
                        <a:rPr lang="en-US" sz="1200" b="0" i="0" u="none" strike="noStrike" dirty="0" smtClean="0">
                          <a:solidFill>
                            <a:srgbClr val="000000"/>
                          </a:solidFill>
                          <a:effectLst/>
                          <a:latin typeface="Calibri" panose="020F0502020204030204" pitchFamily="34" charset="0"/>
                        </a:rPr>
                        <a:t>A54.81</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smtClean="0">
                          <a:solidFill>
                            <a:srgbClr val="000000"/>
                          </a:solidFill>
                          <a:effectLst/>
                          <a:latin typeface="Calibri" panose="020F0502020204030204" pitchFamily="34" charset="0"/>
                        </a:rPr>
                        <a:t>A54.81~Gonococcal meningitis</a:t>
                      </a:r>
                    </a:p>
                    <a:p>
                      <a:endParaRPr lang="en-US" sz="1200" dirty="0"/>
                    </a:p>
                  </a:txBody>
                  <a:tcPr/>
                </a:tc>
                <a:tc>
                  <a:txBody>
                    <a:bodyPr/>
                    <a:lstStyle/>
                    <a:p>
                      <a:r>
                        <a:rPr lang="en-US" sz="1200" dirty="0" smtClean="0"/>
                        <a:t>1</a:t>
                      </a:r>
                      <a:endParaRPr lang="en-US" sz="1200" dirty="0"/>
                    </a:p>
                  </a:txBody>
                  <a:tcPr/>
                </a:tc>
                <a:extLst>
                  <a:ext uri="{0D108BD9-81ED-4DB2-BD59-A6C34878D82A}">
                    <a16:rowId xmlns:a16="http://schemas.microsoft.com/office/drawing/2014/main" val="189762205"/>
                  </a:ext>
                </a:extLst>
              </a:tr>
            </a:tbl>
          </a:graphicData>
        </a:graphic>
      </p:graphicFrame>
      <p:pic>
        <p:nvPicPr>
          <p:cNvPr id="11" name="Picture 10"/>
          <p:cNvPicPr>
            <a:picLocks noChangeAspect="1"/>
          </p:cNvPicPr>
          <p:nvPr/>
        </p:nvPicPr>
        <p:blipFill>
          <a:blip r:embed="rId3"/>
          <a:stretch>
            <a:fillRect/>
          </a:stretch>
        </p:blipFill>
        <p:spPr>
          <a:xfrm>
            <a:off x="7257119" y="1506560"/>
            <a:ext cx="1742071" cy="1685925"/>
          </a:xfrm>
          <a:prstGeom prst="rect">
            <a:avLst/>
          </a:prstGeom>
        </p:spPr>
      </p:pic>
      <p:sp>
        <p:nvSpPr>
          <p:cNvPr id="13" name="TextBox 12"/>
          <p:cNvSpPr txBox="1"/>
          <p:nvPr/>
        </p:nvSpPr>
        <p:spPr>
          <a:xfrm>
            <a:off x="261569" y="3220722"/>
            <a:ext cx="2654247" cy="369332"/>
          </a:xfrm>
          <a:prstGeom prst="rect">
            <a:avLst/>
          </a:prstGeom>
          <a:noFill/>
        </p:spPr>
        <p:txBody>
          <a:bodyPr wrap="square" rtlCol="0">
            <a:spAutoFit/>
          </a:bodyPr>
          <a:lstStyle/>
          <a:p>
            <a:r>
              <a:rPr lang="en-US" b="1" i="1" dirty="0" smtClean="0">
                <a:solidFill>
                  <a:schemeClr val="tx1">
                    <a:lumMod val="75000"/>
                    <a:lumOff val="25000"/>
                  </a:schemeClr>
                </a:solidFill>
              </a:rPr>
              <a:t>Data At Rest : No Access</a:t>
            </a:r>
            <a:endParaRPr lang="en-US" b="1" i="1" dirty="0">
              <a:solidFill>
                <a:schemeClr val="tx1">
                  <a:lumMod val="75000"/>
                  <a:lumOff val="25000"/>
                </a:schemeClr>
              </a:solidFill>
            </a:endParaRPr>
          </a:p>
        </p:txBody>
      </p:sp>
    </p:spTree>
    <p:extLst>
      <p:ext uri="{BB962C8B-B14F-4D97-AF65-F5344CB8AC3E}">
        <p14:creationId xmlns:p14="http://schemas.microsoft.com/office/powerpoint/2010/main" val="24017862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569" y="219763"/>
            <a:ext cx="6491524" cy="576000"/>
          </a:xfrm>
        </p:spPr>
        <p:txBody>
          <a:bodyPr/>
          <a:lstStyle/>
          <a:p>
            <a:r>
              <a:rPr lang="en-US" sz="2400" dirty="0" smtClean="0"/>
              <a:t>Solution Highlights: Data </a:t>
            </a:r>
            <a:r>
              <a:rPr lang="en-US" sz="2400" dirty="0"/>
              <a:t>Security </a:t>
            </a:r>
            <a:r>
              <a:rPr lang="en-US" sz="2400" dirty="0" smtClean="0"/>
              <a:t>Design Cont’d..</a:t>
            </a:r>
            <a:br>
              <a:rPr lang="en-US" sz="2400" dirty="0" smtClean="0"/>
            </a:br>
            <a:r>
              <a:rPr lang="en-US" sz="1800" b="0" i="1" dirty="0" smtClean="0">
                <a:solidFill>
                  <a:schemeClr val="tx1">
                    <a:lumMod val="65000"/>
                    <a:lumOff val="35000"/>
                  </a:schemeClr>
                </a:solidFill>
                <a:cs typeface="Arial" panose="020B0604020202020204" pitchFamily="34" charset="0"/>
              </a:rPr>
              <a:t>Examples</a:t>
            </a:r>
            <a:endParaRPr lang="en-US" sz="1800" b="0" dirty="0"/>
          </a:p>
        </p:txBody>
      </p:sp>
      <p:pic>
        <p:nvPicPr>
          <p:cNvPr id="5" name="Picture 4"/>
          <p:cNvPicPr>
            <a:picLocks noChangeAspect="1"/>
          </p:cNvPicPr>
          <p:nvPr/>
        </p:nvPicPr>
        <p:blipFill>
          <a:blip r:embed="rId2"/>
          <a:stretch>
            <a:fillRect/>
          </a:stretch>
        </p:blipFill>
        <p:spPr>
          <a:xfrm>
            <a:off x="6732240" y="206757"/>
            <a:ext cx="2266950" cy="413931"/>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578136476"/>
              </p:ext>
            </p:extLst>
          </p:nvPr>
        </p:nvGraphicFramePr>
        <p:xfrm>
          <a:off x="174937" y="3000772"/>
          <a:ext cx="8839202" cy="1341120"/>
        </p:xfrm>
        <a:graphic>
          <a:graphicData uri="http://schemas.openxmlformats.org/drawingml/2006/table">
            <a:tbl>
              <a:tblPr firstRow="1" bandRow="1">
                <a:tableStyleId>{5C22544A-7EE6-4342-B048-85BDC9FD1C3A}</a:tableStyleId>
              </a:tblPr>
              <a:tblGrid>
                <a:gridCol w="1050585">
                  <a:extLst>
                    <a:ext uri="{9D8B030D-6E8A-4147-A177-3AD203B41FA5}">
                      <a16:colId xmlns:a16="http://schemas.microsoft.com/office/drawing/2014/main" val="360628541"/>
                    </a:ext>
                  </a:extLst>
                </a:gridCol>
                <a:gridCol w="1029625">
                  <a:extLst>
                    <a:ext uri="{9D8B030D-6E8A-4147-A177-3AD203B41FA5}">
                      <a16:colId xmlns:a16="http://schemas.microsoft.com/office/drawing/2014/main" val="469884314"/>
                    </a:ext>
                  </a:extLst>
                </a:gridCol>
                <a:gridCol w="1908212">
                  <a:extLst>
                    <a:ext uri="{9D8B030D-6E8A-4147-A177-3AD203B41FA5}">
                      <a16:colId xmlns:a16="http://schemas.microsoft.com/office/drawing/2014/main" val="1221513302"/>
                    </a:ext>
                  </a:extLst>
                </a:gridCol>
                <a:gridCol w="1644316">
                  <a:extLst>
                    <a:ext uri="{9D8B030D-6E8A-4147-A177-3AD203B41FA5}">
                      <a16:colId xmlns:a16="http://schemas.microsoft.com/office/drawing/2014/main" val="3102304696"/>
                    </a:ext>
                  </a:extLst>
                </a:gridCol>
                <a:gridCol w="1442217">
                  <a:extLst>
                    <a:ext uri="{9D8B030D-6E8A-4147-A177-3AD203B41FA5}">
                      <a16:colId xmlns:a16="http://schemas.microsoft.com/office/drawing/2014/main" val="3371589968"/>
                    </a:ext>
                  </a:extLst>
                </a:gridCol>
                <a:gridCol w="1764247">
                  <a:extLst>
                    <a:ext uri="{9D8B030D-6E8A-4147-A177-3AD203B41FA5}">
                      <a16:colId xmlns:a16="http://schemas.microsoft.com/office/drawing/2014/main" val="2064034547"/>
                    </a:ext>
                  </a:extLst>
                </a:gridCol>
              </a:tblGrid>
              <a:tr h="370840">
                <a:tc>
                  <a:txBody>
                    <a:bodyPr/>
                    <a:lstStyle/>
                    <a:p>
                      <a:r>
                        <a:rPr lang="en-US" sz="1400" dirty="0" smtClean="0"/>
                        <a:t>Encounter</a:t>
                      </a:r>
                      <a:r>
                        <a:rPr lang="en-US" sz="1400" baseline="0" dirty="0" smtClean="0"/>
                        <a:t> ID</a:t>
                      </a:r>
                      <a:endParaRPr lang="en-US" sz="1400" dirty="0"/>
                    </a:p>
                  </a:txBody>
                  <a:tcPr/>
                </a:tc>
                <a:tc>
                  <a:txBody>
                    <a:bodyPr/>
                    <a:lstStyle/>
                    <a:p>
                      <a:r>
                        <a:rPr lang="en-US" sz="1400" dirty="0" smtClean="0"/>
                        <a:t>PAT ID</a:t>
                      </a:r>
                      <a:endParaRPr lang="en-US" sz="1400" dirty="0"/>
                    </a:p>
                  </a:txBody>
                  <a:tcPr/>
                </a:tc>
                <a:tc>
                  <a:txBody>
                    <a:bodyPr/>
                    <a:lstStyle/>
                    <a:p>
                      <a:r>
                        <a:rPr lang="en-US" sz="1400" dirty="0" smtClean="0"/>
                        <a:t>Prim</a:t>
                      </a:r>
                      <a:r>
                        <a:rPr lang="en-US" sz="1400" baseline="0" dirty="0" smtClean="0"/>
                        <a:t> </a:t>
                      </a:r>
                      <a:r>
                        <a:rPr lang="en-US" sz="1400" dirty="0" smtClean="0"/>
                        <a:t>Diagnosis</a:t>
                      </a:r>
                      <a:r>
                        <a:rPr lang="en-US" sz="1400" baseline="0" dirty="0" smtClean="0"/>
                        <a:t> Cd</a:t>
                      </a:r>
                      <a:endParaRPr lang="en-US" sz="1400" dirty="0"/>
                    </a:p>
                  </a:txBody>
                  <a:tcPr/>
                </a:tc>
                <a:tc>
                  <a:txBody>
                    <a:bodyPr/>
                    <a:lstStyle/>
                    <a:p>
                      <a:r>
                        <a:rPr lang="en-US" sz="1400" dirty="0" smtClean="0"/>
                        <a:t>Pat First Name</a:t>
                      </a:r>
                      <a:endParaRPr lang="en-US" sz="1400" dirty="0"/>
                    </a:p>
                  </a:txBody>
                  <a:tcPr/>
                </a:tc>
                <a:tc>
                  <a:txBody>
                    <a:bodyPr/>
                    <a:lstStyle/>
                    <a:p>
                      <a:r>
                        <a:rPr lang="en-US" sz="1400" dirty="0" smtClean="0"/>
                        <a:t>Sec Diagnosis</a:t>
                      </a:r>
                      <a:endParaRPr lang="en-US" sz="1400" dirty="0"/>
                    </a:p>
                  </a:txBody>
                  <a:tcPr/>
                </a:tc>
                <a:tc>
                  <a:txBody>
                    <a:bodyPr/>
                    <a:lstStyle/>
                    <a:p>
                      <a:r>
                        <a:rPr lang="en-US" sz="1400" dirty="0" smtClean="0"/>
                        <a:t>Tertiary Diagnosis Cd</a:t>
                      </a:r>
                      <a:endParaRPr lang="en-US" sz="1400" dirty="0"/>
                    </a:p>
                  </a:txBody>
                  <a:tcPr/>
                </a:tc>
                <a:extLst>
                  <a:ext uri="{0D108BD9-81ED-4DB2-BD59-A6C34878D82A}">
                    <a16:rowId xmlns:a16="http://schemas.microsoft.com/office/drawing/2014/main" val="2809795678"/>
                  </a:ext>
                </a:extLst>
              </a:tr>
              <a:tr h="370840">
                <a:tc>
                  <a:txBody>
                    <a:bodyPr/>
                    <a:lstStyle/>
                    <a:p>
                      <a:r>
                        <a:rPr lang="en-US" sz="1600" dirty="0" smtClean="0"/>
                        <a:t>1001</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P843899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A37.90 ~ Whooping cough, without</a:t>
                      </a:r>
                      <a:r>
                        <a:rPr lang="en-US" sz="1600" baseline="0" dirty="0" smtClean="0"/>
                        <a:t> </a:t>
                      </a:r>
                      <a:r>
                        <a:rPr lang="en-US" sz="1600" dirty="0" smtClean="0"/>
                        <a:t>pneumonia</a:t>
                      </a:r>
                      <a:endParaRPr lang="en-US" sz="1600" b="0" i="0" u="none" strike="noStrike" dirty="0" smtClean="0">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xxxxxx</a:t>
                      </a:r>
                    </a:p>
                  </a:txBody>
                  <a:tcPr/>
                </a:tc>
                <a:tc>
                  <a:txBody>
                    <a:bodyPr/>
                    <a:lstStyle/>
                    <a:p>
                      <a:r>
                        <a:rPr lang="en-US" sz="1200" dirty="0" smtClean="0"/>
                        <a:t>XXXXXXX</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XXXXXXX</a:t>
                      </a:r>
                    </a:p>
                  </a:txBody>
                  <a:tcPr/>
                </a:tc>
                <a:extLst>
                  <a:ext uri="{0D108BD9-81ED-4DB2-BD59-A6C34878D82A}">
                    <a16:rowId xmlns:a16="http://schemas.microsoft.com/office/drawing/2014/main" val="1330540035"/>
                  </a:ext>
                </a:extLst>
              </a:tr>
            </a:tbl>
          </a:graphicData>
        </a:graphic>
      </p:graphicFrame>
      <p:sp>
        <p:nvSpPr>
          <p:cNvPr id="9" name="TextBox 8"/>
          <p:cNvSpPr txBox="1"/>
          <p:nvPr/>
        </p:nvSpPr>
        <p:spPr>
          <a:xfrm>
            <a:off x="16633" y="2617181"/>
            <a:ext cx="8680056" cy="369332"/>
          </a:xfrm>
          <a:prstGeom prst="rect">
            <a:avLst/>
          </a:prstGeom>
          <a:noFill/>
        </p:spPr>
        <p:txBody>
          <a:bodyPr wrap="square" rtlCol="0">
            <a:spAutoFit/>
          </a:bodyPr>
          <a:lstStyle/>
          <a:p>
            <a:r>
              <a:rPr lang="en-US" b="1" i="1" dirty="0" smtClean="0">
                <a:solidFill>
                  <a:schemeClr val="tx1">
                    <a:lumMod val="75000"/>
                    <a:lumOff val="25000"/>
                  </a:schemeClr>
                </a:solidFill>
              </a:rPr>
              <a:t>Data At Motion : Role Based Access S2 – Secure No PHI including Employee data</a:t>
            </a:r>
            <a:endParaRPr lang="en-US" b="1" i="1" dirty="0">
              <a:solidFill>
                <a:schemeClr val="tx1">
                  <a:lumMod val="75000"/>
                  <a:lumOff val="25000"/>
                </a:schemeClr>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4232287905"/>
              </p:ext>
            </p:extLst>
          </p:nvPr>
        </p:nvGraphicFramePr>
        <p:xfrm>
          <a:off x="174937" y="4770136"/>
          <a:ext cx="8839202" cy="1584960"/>
        </p:xfrm>
        <a:graphic>
          <a:graphicData uri="http://schemas.openxmlformats.org/drawingml/2006/table">
            <a:tbl>
              <a:tblPr firstRow="1" bandRow="1">
                <a:tableStyleId>{5C22544A-7EE6-4342-B048-85BDC9FD1C3A}</a:tableStyleId>
              </a:tblPr>
              <a:tblGrid>
                <a:gridCol w="1050585">
                  <a:extLst>
                    <a:ext uri="{9D8B030D-6E8A-4147-A177-3AD203B41FA5}">
                      <a16:colId xmlns:a16="http://schemas.microsoft.com/office/drawing/2014/main" val="360628541"/>
                    </a:ext>
                  </a:extLst>
                </a:gridCol>
                <a:gridCol w="1029625">
                  <a:extLst>
                    <a:ext uri="{9D8B030D-6E8A-4147-A177-3AD203B41FA5}">
                      <a16:colId xmlns:a16="http://schemas.microsoft.com/office/drawing/2014/main" val="469884314"/>
                    </a:ext>
                  </a:extLst>
                </a:gridCol>
                <a:gridCol w="1908212">
                  <a:extLst>
                    <a:ext uri="{9D8B030D-6E8A-4147-A177-3AD203B41FA5}">
                      <a16:colId xmlns:a16="http://schemas.microsoft.com/office/drawing/2014/main" val="1221513302"/>
                    </a:ext>
                  </a:extLst>
                </a:gridCol>
                <a:gridCol w="1644316">
                  <a:extLst>
                    <a:ext uri="{9D8B030D-6E8A-4147-A177-3AD203B41FA5}">
                      <a16:colId xmlns:a16="http://schemas.microsoft.com/office/drawing/2014/main" val="3102304696"/>
                    </a:ext>
                  </a:extLst>
                </a:gridCol>
                <a:gridCol w="1442217">
                  <a:extLst>
                    <a:ext uri="{9D8B030D-6E8A-4147-A177-3AD203B41FA5}">
                      <a16:colId xmlns:a16="http://schemas.microsoft.com/office/drawing/2014/main" val="3371589968"/>
                    </a:ext>
                  </a:extLst>
                </a:gridCol>
                <a:gridCol w="1764247">
                  <a:extLst>
                    <a:ext uri="{9D8B030D-6E8A-4147-A177-3AD203B41FA5}">
                      <a16:colId xmlns:a16="http://schemas.microsoft.com/office/drawing/2014/main" val="2064034547"/>
                    </a:ext>
                  </a:extLst>
                </a:gridCol>
              </a:tblGrid>
              <a:tr h="370840">
                <a:tc>
                  <a:txBody>
                    <a:bodyPr/>
                    <a:lstStyle/>
                    <a:p>
                      <a:r>
                        <a:rPr lang="en-US" sz="1400" dirty="0" smtClean="0"/>
                        <a:t>Encounter</a:t>
                      </a:r>
                      <a:r>
                        <a:rPr lang="en-US" sz="1400" baseline="0" dirty="0" smtClean="0"/>
                        <a:t> ID</a:t>
                      </a:r>
                      <a:endParaRPr lang="en-US" sz="1400" dirty="0"/>
                    </a:p>
                  </a:txBody>
                  <a:tcPr/>
                </a:tc>
                <a:tc>
                  <a:txBody>
                    <a:bodyPr/>
                    <a:lstStyle/>
                    <a:p>
                      <a:r>
                        <a:rPr lang="en-US" sz="1400" dirty="0" smtClean="0"/>
                        <a:t>PAT ID</a:t>
                      </a:r>
                      <a:endParaRPr lang="en-US" sz="1400" dirty="0"/>
                    </a:p>
                  </a:txBody>
                  <a:tcPr/>
                </a:tc>
                <a:tc>
                  <a:txBody>
                    <a:bodyPr/>
                    <a:lstStyle/>
                    <a:p>
                      <a:r>
                        <a:rPr lang="en-US" sz="1400" dirty="0" smtClean="0"/>
                        <a:t>Prim</a:t>
                      </a:r>
                      <a:r>
                        <a:rPr lang="en-US" sz="1400" baseline="0" dirty="0" smtClean="0"/>
                        <a:t> </a:t>
                      </a:r>
                      <a:r>
                        <a:rPr lang="en-US" sz="1400" dirty="0" smtClean="0"/>
                        <a:t>Diagnosis</a:t>
                      </a:r>
                      <a:r>
                        <a:rPr lang="en-US" sz="1400" baseline="0" dirty="0" smtClean="0"/>
                        <a:t> Cd</a:t>
                      </a:r>
                      <a:endParaRPr lang="en-US" sz="1400" dirty="0"/>
                    </a:p>
                  </a:txBody>
                  <a:tcPr/>
                </a:tc>
                <a:tc>
                  <a:txBody>
                    <a:bodyPr/>
                    <a:lstStyle/>
                    <a:p>
                      <a:r>
                        <a:rPr lang="en-US" sz="1400" dirty="0" smtClean="0"/>
                        <a:t>Pat First Name</a:t>
                      </a:r>
                      <a:endParaRPr lang="en-US" sz="1400" dirty="0"/>
                    </a:p>
                  </a:txBody>
                  <a:tcPr/>
                </a:tc>
                <a:tc>
                  <a:txBody>
                    <a:bodyPr/>
                    <a:lstStyle/>
                    <a:p>
                      <a:r>
                        <a:rPr lang="en-US" sz="1400" dirty="0" smtClean="0"/>
                        <a:t>Sec Diagnosis</a:t>
                      </a:r>
                      <a:endParaRPr lang="en-US" sz="1400" dirty="0"/>
                    </a:p>
                  </a:txBody>
                  <a:tcPr/>
                </a:tc>
                <a:tc>
                  <a:txBody>
                    <a:bodyPr/>
                    <a:lstStyle/>
                    <a:p>
                      <a:r>
                        <a:rPr lang="en-US" sz="1400" dirty="0" smtClean="0"/>
                        <a:t>Tertiary Diagnosis Cd</a:t>
                      </a:r>
                      <a:endParaRPr lang="en-US" sz="1400" dirty="0"/>
                    </a:p>
                  </a:txBody>
                  <a:tcPr/>
                </a:tc>
                <a:extLst>
                  <a:ext uri="{0D108BD9-81ED-4DB2-BD59-A6C34878D82A}">
                    <a16:rowId xmlns:a16="http://schemas.microsoft.com/office/drawing/2014/main" val="2809795678"/>
                  </a:ext>
                </a:extLst>
              </a:tr>
              <a:tr h="370840">
                <a:tc>
                  <a:txBody>
                    <a:bodyPr/>
                    <a:lstStyle/>
                    <a:p>
                      <a:r>
                        <a:rPr lang="en-US" sz="1600" dirty="0" smtClean="0"/>
                        <a:t>1001</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P843899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A37.90 ~ Whooping cough, without</a:t>
                      </a:r>
                      <a:r>
                        <a:rPr lang="en-US" sz="1600" baseline="0" dirty="0" smtClean="0"/>
                        <a:t> </a:t>
                      </a:r>
                      <a:r>
                        <a:rPr lang="en-US" sz="1600" dirty="0" smtClean="0"/>
                        <a:t>pneumonia</a:t>
                      </a:r>
                      <a:endParaRPr lang="en-US" sz="1600" b="0" i="0" u="none" strike="noStrike" dirty="0" smtClean="0">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Smith</a:t>
                      </a:r>
                      <a:r>
                        <a:rPr lang="en-US" sz="1600" b="0" i="0" u="none" strike="noStrike" baseline="0" dirty="0" smtClean="0">
                          <a:solidFill>
                            <a:srgbClr val="000000"/>
                          </a:solidFill>
                          <a:effectLst/>
                          <a:latin typeface="Calibri" panose="020F0502020204030204" pitchFamily="34" charset="0"/>
                        </a:rPr>
                        <a:t> xyz</a:t>
                      </a:r>
                      <a:endParaRPr lang="en-US" sz="1600" b="0" i="0" u="none" strike="noStrike" dirty="0" smtClean="0">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B20 ~Human immunodeficiency virus [HIV] disease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A54.81~Gonococcal meningitis</a:t>
                      </a:r>
                    </a:p>
                  </a:txBody>
                  <a:tcPr/>
                </a:tc>
                <a:extLst>
                  <a:ext uri="{0D108BD9-81ED-4DB2-BD59-A6C34878D82A}">
                    <a16:rowId xmlns:a16="http://schemas.microsoft.com/office/drawing/2014/main" val="1330540035"/>
                  </a:ext>
                </a:extLst>
              </a:tr>
            </a:tbl>
          </a:graphicData>
        </a:graphic>
      </p:graphicFrame>
      <p:sp>
        <p:nvSpPr>
          <p:cNvPr id="13" name="TextBox 12"/>
          <p:cNvSpPr txBox="1"/>
          <p:nvPr/>
        </p:nvSpPr>
        <p:spPr>
          <a:xfrm>
            <a:off x="15396" y="4400804"/>
            <a:ext cx="9174437" cy="369332"/>
          </a:xfrm>
          <a:prstGeom prst="rect">
            <a:avLst/>
          </a:prstGeom>
          <a:noFill/>
        </p:spPr>
        <p:txBody>
          <a:bodyPr wrap="square" rtlCol="0">
            <a:spAutoFit/>
          </a:bodyPr>
          <a:lstStyle/>
          <a:p>
            <a:r>
              <a:rPr lang="en-US" b="1" i="1" dirty="0" smtClean="0">
                <a:solidFill>
                  <a:schemeClr val="tx1">
                    <a:lumMod val="75000"/>
                    <a:lumOff val="25000"/>
                  </a:schemeClr>
                </a:solidFill>
              </a:rPr>
              <a:t>Data At Motion : Role Based Access P3 – Private PHI including ALL data with restricted codes?</a:t>
            </a:r>
            <a:endParaRPr lang="en-US" b="1" i="1" dirty="0">
              <a:solidFill>
                <a:schemeClr val="tx1">
                  <a:lumMod val="75000"/>
                  <a:lumOff val="25000"/>
                </a:schemeClr>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2009735313"/>
              </p:ext>
            </p:extLst>
          </p:nvPr>
        </p:nvGraphicFramePr>
        <p:xfrm>
          <a:off x="174937" y="1223950"/>
          <a:ext cx="8382533" cy="1341120"/>
        </p:xfrm>
        <a:graphic>
          <a:graphicData uri="http://schemas.openxmlformats.org/drawingml/2006/table">
            <a:tbl>
              <a:tblPr firstRow="1" bandRow="1">
                <a:tableStyleId>{5C22544A-7EE6-4342-B048-85BDC9FD1C3A}</a:tableStyleId>
              </a:tblPr>
              <a:tblGrid>
                <a:gridCol w="996308">
                  <a:extLst>
                    <a:ext uri="{9D8B030D-6E8A-4147-A177-3AD203B41FA5}">
                      <a16:colId xmlns:a16="http://schemas.microsoft.com/office/drawing/2014/main" val="360628541"/>
                    </a:ext>
                  </a:extLst>
                </a:gridCol>
                <a:gridCol w="987004">
                  <a:extLst>
                    <a:ext uri="{9D8B030D-6E8A-4147-A177-3AD203B41FA5}">
                      <a16:colId xmlns:a16="http://schemas.microsoft.com/office/drawing/2014/main" val="469884314"/>
                    </a:ext>
                  </a:extLst>
                </a:gridCol>
                <a:gridCol w="1912024">
                  <a:extLst>
                    <a:ext uri="{9D8B030D-6E8A-4147-A177-3AD203B41FA5}">
                      <a16:colId xmlns:a16="http://schemas.microsoft.com/office/drawing/2014/main" val="1221513302"/>
                    </a:ext>
                  </a:extLst>
                </a:gridCol>
                <a:gridCol w="1446392">
                  <a:extLst>
                    <a:ext uri="{9D8B030D-6E8A-4147-A177-3AD203B41FA5}">
                      <a16:colId xmlns:a16="http://schemas.microsoft.com/office/drawing/2014/main" val="3102304696"/>
                    </a:ext>
                  </a:extLst>
                </a:gridCol>
                <a:gridCol w="1182687">
                  <a:extLst>
                    <a:ext uri="{9D8B030D-6E8A-4147-A177-3AD203B41FA5}">
                      <a16:colId xmlns:a16="http://schemas.microsoft.com/office/drawing/2014/main" val="3371589968"/>
                    </a:ext>
                  </a:extLst>
                </a:gridCol>
                <a:gridCol w="1858118">
                  <a:extLst>
                    <a:ext uri="{9D8B030D-6E8A-4147-A177-3AD203B41FA5}">
                      <a16:colId xmlns:a16="http://schemas.microsoft.com/office/drawing/2014/main" val="2064034547"/>
                    </a:ext>
                  </a:extLst>
                </a:gridCol>
              </a:tblGrid>
              <a:tr h="370840">
                <a:tc>
                  <a:txBody>
                    <a:bodyPr/>
                    <a:lstStyle/>
                    <a:p>
                      <a:r>
                        <a:rPr lang="en-US" sz="1400" dirty="0" smtClean="0"/>
                        <a:t>Encounter</a:t>
                      </a:r>
                      <a:r>
                        <a:rPr lang="en-US" sz="1400" baseline="0" dirty="0" smtClean="0"/>
                        <a:t> ID</a:t>
                      </a:r>
                      <a:endParaRPr lang="en-US" sz="1400" dirty="0"/>
                    </a:p>
                  </a:txBody>
                  <a:tcPr/>
                </a:tc>
                <a:tc>
                  <a:txBody>
                    <a:bodyPr/>
                    <a:lstStyle/>
                    <a:p>
                      <a:r>
                        <a:rPr lang="en-US" sz="1400" dirty="0" smtClean="0"/>
                        <a:t>PAT ID</a:t>
                      </a:r>
                      <a:endParaRPr lang="en-US" sz="1400" dirty="0"/>
                    </a:p>
                  </a:txBody>
                  <a:tcPr/>
                </a:tc>
                <a:tc>
                  <a:txBody>
                    <a:bodyPr/>
                    <a:lstStyle/>
                    <a:p>
                      <a:r>
                        <a:rPr lang="en-US" sz="1400" dirty="0" smtClean="0"/>
                        <a:t>Prim</a:t>
                      </a:r>
                      <a:r>
                        <a:rPr lang="en-US" sz="1400" baseline="0" dirty="0" smtClean="0"/>
                        <a:t> </a:t>
                      </a:r>
                      <a:r>
                        <a:rPr lang="en-US" sz="1400" dirty="0" smtClean="0"/>
                        <a:t>Diagnosis</a:t>
                      </a:r>
                      <a:r>
                        <a:rPr lang="en-US" sz="1400" baseline="0" dirty="0" smtClean="0"/>
                        <a:t> Cd</a:t>
                      </a:r>
                      <a:endParaRPr lang="en-US" sz="1400" dirty="0"/>
                    </a:p>
                  </a:txBody>
                  <a:tcPr/>
                </a:tc>
                <a:tc>
                  <a:txBody>
                    <a:bodyPr/>
                    <a:lstStyle/>
                    <a:p>
                      <a:r>
                        <a:rPr lang="en-US" sz="1400" dirty="0" smtClean="0"/>
                        <a:t>Pat First Name</a:t>
                      </a:r>
                      <a:endParaRPr lang="en-US" sz="1400" dirty="0"/>
                    </a:p>
                  </a:txBody>
                  <a:tcPr/>
                </a:tc>
                <a:tc>
                  <a:txBody>
                    <a:bodyPr/>
                    <a:lstStyle/>
                    <a:p>
                      <a:r>
                        <a:rPr lang="en-US" sz="1400" dirty="0" smtClean="0"/>
                        <a:t>Sec Diagnosis</a:t>
                      </a:r>
                      <a:endParaRPr lang="en-US" sz="1400" dirty="0"/>
                    </a:p>
                  </a:txBody>
                  <a:tcPr/>
                </a:tc>
                <a:tc>
                  <a:txBody>
                    <a:bodyPr/>
                    <a:lstStyle/>
                    <a:p>
                      <a:r>
                        <a:rPr lang="en-US" sz="1400" dirty="0" smtClean="0"/>
                        <a:t>Tertiary Diagnosis Cd</a:t>
                      </a:r>
                      <a:endParaRPr lang="en-US" sz="1400" dirty="0"/>
                    </a:p>
                  </a:txBody>
                  <a:tcPr/>
                </a:tc>
                <a:extLst>
                  <a:ext uri="{0D108BD9-81ED-4DB2-BD59-A6C34878D82A}">
                    <a16:rowId xmlns:a16="http://schemas.microsoft.com/office/drawing/2014/main" val="2809795678"/>
                  </a:ext>
                </a:extLst>
              </a:tr>
              <a:tr h="370840">
                <a:tc>
                  <a:txBody>
                    <a:bodyPr/>
                    <a:lstStyle/>
                    <a:p>
                      <a:r>
                        <a:rPr lang="en-US" sz="1600" dirty="0" smtClean="0"/>
                        <a:t>1001</a:t>
                      </a:r>
                      <a:endParaRPr lang="en-US"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P843899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A37.90 ~ Whooping cough, without</a:t>
                      </a:r>
                      <a:r>
                        <a:rPr lang="en-US" sz="1600" baseline="0" dirty="0" smtClean="0"/>
                        <a:t> </a:t>
                      </a:r>
                      <a:r>
                        <a:rPr lang="en-US" sz="1600" dirty="0" smtClean="0"/>
                        <a:t>pneumonia</a:t>
                      </a:r>
                      <a:endParaRPr lang="en-US" sz="1600" b="0" i="0" u="none" strike="noStrike" dirty="0" smtClean="0">
                        <a:solidFill>
                          <a:srgbClr val="000000"/>
                        </a:solidFill>
                        <a:effectLst/>
                        <a:latin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dirty="0" smtClean="0">
                          <a:solidFill>
                            <a:srgbClr val="000000"/>
                          </a:solidFill>
                          <a:effectLst/>
                          <a:latin typeface="Calibri" panose="020F0502020204030204" pitchFamily="34" charset="0"/>
                        </a:rPr>
                        <a:t>xxxxxx</a:t>
                      </a:r>
                    </a:p>
                  </a:txBody>
                  <a:tcPr/>
                </a:tc>
                <a:tc>
                  <a:txBody>
                    <a:bodyPr/>
                    <a:lstStyle/>
                    <a:p>
                      <a:r>
                        <a:rPr lang="en-US" sz="1200" dirty="0" smtClean="0"/>
                        <a:t>XXXXXXX</a:t>
                      </a:r>
                      <a:endParaRPr 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XXXXXXX</a:t>
                      </a:r>
                    </a:p>
                  </a:txBody>
                  <a:tcPr/>
                </a:tc>
                <a:extLst>
                  <a:ext uri="{0D108BD9-81ED-4DB2-BD59-A6C34878D82A}">
                    <a16:rowId xmlns:a16="http://schemas.microsoft.com/office/drawing/2014/main" val="1330540035"/>
                  </a:ext>
                </a:extLst>
              </a:tr>
            </a:tbl>
          </a:graphicData>
        </a:graphic>
      </p:graphicFrame>
      <p:sp>
        <p:nvSpPr>
          <p:cNvPr id="15" name="TextBox 14"/>
          <p:cNvSpPr txBox="1"/>
          <p:nvPr/>
        </p:nvSpPr>
        <p:spPr>
          <a:xfrm>
            <a:off x="26175" y="833823"/>
            <a:ext cx="8680056" cy="369332"/>
          </a:xfrm>
          <a:prstGeom prst="rect">
            <a:avLst/>
          </a:prstGeom>
          <a:noFill/>
        </p:spPr>
        <p:txBody>
          <a:bodyPr wrap="square" rtlCol="0">
            <a:spAutoFit/>
          </a:bodyPr>
          <a:lstStyle/>
          <a:p>
            <a:r>
              <a:rPr lang="en-US" b="1" i="1" dirty="0" smtClean="0">
                <a:solidFill>
                  <a:schemeClr val="tx1">
                    <a:lumMod val="75000"/>
                    <a:lumOff val="25000"/>
                  </a:schemeClr>
                </a:solidFill>
              </a:rPr>
              <a:t>Data At Motion : Role Based Access R1 – Regular No PHI &amp; No Access to Employee data</a:t>
            </a:r>
            <a:endParaRPr lang="en-US" b="1" i="1" dirty="0">
              <a:solidFill>
                <a:schemeClr val="tx1">
                  <a:lumMod val="75000"/>
                  <a:lumOff val="25000"/>
                </a:schemeClr>
              </a:solidFill>
            </a:endParaRPr>
          </a:p>
        </p:txBody>
      </p:sp>
    </p:spTree>
    <p:extLst>
      <p:ext uri="{BB962C8B-B14F-4D97-AF65-F5344CB8AC3E}">
        <p14:creationId xmlns:p14="http://schemas.microsoft.com/office/powerpoint/2010/main" val="13881751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6527528" cy="576000"/>
          </a:xfrm>
        </p:spPr>
        <p:txBody>
          <a:bodyPr/>
          <a:lstStyle/>
          <a:p>
            <a:r>
              <a:rPr lang="en-US" sz="2400" dirty="0" smtClean="0"/>
              <a:t>Solution Highlights: Data </a:t>
            </a:r>
            <a:r>
              <a:rPr lang="en-US" sz="2400" dirty="0"/>
              <a:t>Security </a:t>
            </a:r>
            <a:r>
              <a:rPr lang="en-US" sz="2400" dirty="0" smtClean="0"/>
              <a:t>Design Cont’d…</a:t>
            </a:r>
            <a:endParaRPr lang="en-US" sz="2400" dirty="0"/>
          </a:p>
        </p:txBody>
      </p:sp>
      <p:sp>
        <p:nvSpPr>
          <p:cNvPr id="3" name="Text Placeholder 2"/>
          <p:cNvSpPr>
            <a:spLocks noGrp="1"/>
          </p:cNvSpPr>
          <p:nvPr>
            <p:ph type="body" sz="quarter" idx="10"/>
          </p:nvPr>
        </p:nvSpPr>
        <p:spPr>
          <a:xfrm>
            <a:off x="304800" y="836712"/>
            <a:ext cx="8534400" cy="5520000"/>
          </a:xfrm>
        </p:spPr>
        <p:txBody>
          <a:bodyPr>
            <a:normAutofit fontScale="92500" lnSpcReduction="10000"/>
          </a:bodyPr>
          <a:lstStyle/>
          <a:p>
            <a:pPr marL="57150" indent="0">
              <a:buNone/>
            </a:pPr>
            <a:r>
              <a:rPr lang="en-US" sz="2800" i="1" dirty="0" smtClean="0">
                <a:solidFill>
                  <a:schemeClr val="tx1">
                    <a:lumMod val="65000"/>
                    <a:lumOff val="35000"/>
                  </a:schemeClr>
                </a:solidFill>
                <a:cs typeface="Arial" panose="020B0604020202020204" pitchFamily="34" charset="0"/>
              </a:rPr>
              <a:t>There are variety of options available how we can enable the security roles that we have reviewed in previous slides </a:t>
            </a:r>
          </a:p>
          <a:p>
            <a:pPr marL="571500" indent="-514350">
              <a:buFont typeface="+mj-lt"/>
              <a:buAutoNum type="arabicPeriod"/>
            </a:pPr>
            <a:r>
              <a:rPr lang="en-US" sz="2600" i="1" dirty="0" smtClean="0">
                <a:solidFill>
                  <a:schemeClr val="tx1">
                    <a:lumMod val="65000"/>
                    <a:lumOff val="35000"/>
                  </a:schemeClr>
                </a:solidFill>
                <a:cs typeface="Arial" panose="020B0604020202020204" pitchFamily="34" charset="0"/>
              </a:rPr>
              <a:t>Typically the security roles are defined in LDAP and the security roles are assigned to different Database schemas to hold the objects to share with R1, P2,S3 and R1 Roles </a:t>
            </a:r>
            <a:r>
              <a:rPr lang="en-US" sz="2600" i="1" dirty="0" smtClean="0">
                <a:solidFill>
                  <a:srgbClr val="FF0000"/>
                </a:solidFill>
                <a:cs typeface="Arial" panose="020B0604020202020204" pitchFamily="34" charset="0"/>
              </a:rPr>
              <a:t>(4 schemas per Tenant)=4 Tenants * 4=16 schemas. Maintenance nightmare</a:t>
            </a:r>
          </a:p>
          <a:p>
            <a:pPr marL="571500" indent="-514350">
              <a:buFont typeface="+mj-lt"/>
              <a:buAutoNum type="arabicPeriod"/>
            </a:pPr>
            <a:r>
              <a:rPr lang="en-US" sz="2600" i="1" dirty="0" smtClean="0">
                <a:solidFill>
                  <a:schemeClr val="tx1">
                    <a:lumMod val="65000"/>
                    <a:lumOff val="35000"/>
                  </a:schemeClr>
                </a:solidFill>
                <a:cs typeface="Arial" panose="020B0604020202020204" pitchFamily="34" charset="0"/>
              </a:rPr>
              <a:t>Provisioning - defining security roles in IBM UDMH application     </a:t>
            </a:r>
            <a:r>
              <a:rPr lang="en-US" sz="2600" i="1" dirty="0" smtClean="0">
                <a:solidFill>
                  <a:srgbClr val="FF0000"/>
                </a:solidFill>
                <a:cs typeface="Arial" panose="020B0604020202020204" pitchFamily="34" charset="0"/>
              </a:rPr>
              <a:t>(4 schemas for all Tenants) - Preferred</a:t>
            </a:r>
          </a:p>
          <a:p>
            <a:pPr marL="1371600" lvl="2" indent="-514350">
              <a:buFont typeface="+mj-lt"/>
              <a:buAutoNum type="alphaLcParenR"/>
            </a:pPr>
            <a:r>
              <a:rPr lang="en-US" sz="2200" i="1" dirty="0" smtClean="0">
                <a:cs typeface="Arial" panose="020B0604020202020204" pitchFamily="34" charset="0"/>
              </a:rPr>
              <a:t>Easy to generate data access compliant reports</a:t>
            </a:r>
          </a:p>
          <a:p>
            <a:pPr marL="1371600" lvl="2" indent="-514350">
              <a:buFont typeface="+mj-lt"/>
              <a:buAutoNum type="alphaLcParenR"/>
            </a:pPr>
            <a:r>
              <a:rPr lang="en-US" sz="2200" i="1" dirty="0" smtClean="0">
                <a:cs typeface="Arial" panose="020B0604020202020204" pitchFamily="34" charset="0"/>
              </a:rPr>
              <a:t>Maintenance of Objects are much more organized</a:t>
            </a:r>
          </a:p>
          <a:p>
            <a:pPr marL="1371600" lvl="2" indent="-514350">
              <a:buFont typeface="+mj-lt"/>
              <a:buAutoNum type="alphaLcParenR"/>
            </a:pPr>
            <a:r>
              <a:rPr lang="en-US" sz="2200" i="1" dirty="0" smtClean="0">
                <a:cs typeface="Arial" panose="020B0604020202020204" pitchFamily="34" charset="0"/>
              </a:rPr>
              <a:t>Dynamic identification of users and their Tenant to tailor the data what user can see</a:t>
            </a:r>
          </a:p>
          <a:p>
            <a:pPr marL="1371600" lvl="2" indent="-514350">
              <a:buFont typeface="+mj-lt"/>
              <a:buAutoNum type="alphaLcParenR"/>
            </a:pPr>
            <a:r>
              <a:rPr lang="en-US" sz="2200" dirty="0" smtClean="0"/>
              <a:t>Supports </a:t>
            </a:r>
            <a:r>
              <a:rPr lang="en-US" sz="2200" dirty="0"/>
              <a:t>Enterprise level view with ability for some </a:t>
            </a:r>
            <a:r>
              <a:rPr lang="en-US" sz="2200" dirty="0" smtClean="0"/>
              <a:t>enterprise business users </a:t>
            </a:r>
            <a:r>
              <a:rPr lang="en-US" sz="2200" dirty="0"/>
              <a:t>to view all Tenant </a:t>
            </a:r>
            <a:r>
              <a:rPr lang="en-US" sz="2200" dirty="0" smtClean="0"/>
              <a:t>Data</a:t>
            </a:r>
          </a:p>
          <a:p>
            <a:pPr marL="1371600" lvl="2" indent="-514350">
              <a:buFont typeface="+mj-lt"/>
              <a:buAutoNum type="alphaLcParenR"/>
            </a:pPr>
            <a:r>
              <a:rPr lang="en-US" sz="2200" dirty="0" smtClean="0"/>
              <a:t>Supports </a:t>
            </a:r>
            <a:r>
              <a:rPr lang="en-US" sz="2200" dirty="0"/>
              <a:t>enterprise reporting with no extra need to integrate </a:t>
            </a:r>
            <a:r>
              <a:rPr lang="en-US" sz="2200" dirty="0" smtClean="0"/>
              <a:t>the data</a:t>
            </a:r>
            <a:endParaRPr lang="en-US" sz="2200" dirty="0"/>
          </a:p>
          <a:p>
            <a:pPr marL="1371600" lvl="2" indent="-514350">
              <a:buFont typeface="+mj-lt"/>
              <a:buAutoNum type="alphaLcParenR"/>
            </a:pPr>
            <a:endParaRPr lang="en-US" sz="2200" i="1" dirty="0" smtClean="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6804248" y="233434"/>
            <a:ext cx="2266950" cy="413931"/>
          </a:xfrm>
          <a:prstGeom prst="rect">
            <a:avLst/>
          </a:prstGeom>
        </p:spPr>
      </p:pic>
    </p:spTree>
    <p:extLst>
      <p:ext uri="{BB962C8B-B14F-4D97-AF65-F5344CB8AC3E}">
        <p14:creationId xmlns:p14="http://schemas.microsoft.com/office/powerpoint/2010/main" val="18404370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6527528" cy="576000"/>
          </a:xfrm>
        </p:spPr>
        <p:txBody>
          <a:bodyPr/>
          <a:lstStyle/>
          <a:p>
            <a:r>
              <a:rPr lang="en-US" sz="2400" dirty="0" smtClean="0"/>
              <a:t>Solution Highlights: Data </a:t>
            </a:r>
            <a:r>
              <a:rPr lang="en-US" sz="2400" dirty="0"/>
              <a:t>Security </a:t>
            </a:r>
            <a:r>
              <a:rPr lang="en-US" sz="2400" dirty="0" smtClean="0"/>
              <a:t>Design Cont’d…</a:t>
            </a:r>
            <a:endParaRPr lang="en-US" sz="2400" dirty="0"/>
          </a:p>
        </p:txBody>
      </p:sp>
      <p:pic>
        <p:nvPicPr>
          <p:cNvPr id="7" name="Picture 6"/>
          <p:cNvPicPr>
            <a:picLocks noChangeAspect="1"/>
          </p:cNvPicPr>
          <p:nvPr/>
        </p:nvPicPr>
        <p:blipFill>
          <a:blip r:embed="rId2"/>
          <a:stretch>
            <a:fillRect/>
          </a:stretch>
        </p:blipFill>
        <p:spPr>
          <a:xfrm>
            <a:off x="291052" y="1124744"/>
            <a:ext cx="8676456" cy="4956245"/>
          </a:xfrm>
          <a:prstGeom prst="rect">
            <a:avLst/>
          </a:prstGeom>
        </p:spPr>
      </p:pic>
      <p:sp>
        <p:nvSpPr>
          <p:cNvPr id="3" name="TextBox 2"/>
          <p:cNvSpPr txBox="1"/>
          <p:nvPr/>
        </p:nvSpPr>
        <p:spPr>
          <a:xfrm>
            <a:off x="143508" y="559123"/>
            <a:ext cx="8424936" cy="338554"/>
          </a:xfrm>
          <a:prstGeom prst="rect">
            <a:avLst/>
          </a:prstGeom>
          <a:noFill/>
        </p:spPr>
        <p:txBody>
          <a:bodyPr wrap="square" rtlCol="0">
            <a:spAutoFit/>
          </a:bodyPr>
          <a:lstStyle/>
          <a:p>
            <a:r>
              <a:rPr lang="en-US" sz="1600" i="1" dirty="0" smtClean="0"/>
              <a:t>Option 2 (IBM UDMH Data Model is flexible to support wide range of data security requirements)</a:t>
            </a:r>
            <a:endParaRPr lang="en-US" sz="1600" i="1" dirty="0"/>
          </a:p>
        </p:txBody>
      </p:sp>
      <p:pic>
        <p:nvPicPr>
          <p:cNvPr id="5" name="Picture 4"/>
          <p:cNvPicPr>
            <a:picLocks noChangeAspect="1"/>
          </p:cNvPicPr>
          <p:nvPr/>
        </p:nvPicPr>
        <p:blipFill>
          <a:blip r:embed="rId3"/>
          <a:stretch>
            <a:fillRect/>
          </a:stretch>
        </p:blipFill>
        <p:spPr>
          <a:xfrm>
            <a:off x="6700558" y="221037"/>
            <a:ext cx="2266950" cy="413931"/>
          </a:xfrm>
          <a:prstGeom prst="rect">
            <a:avLst/>
          </a:prstGeom>
        </p:spPr>
      </p:pic>
    </p:spTree>
    <p:extLst>
      <p:ext uri="{BB962C8B-B14F-4D97-AF65-F5344CB8AC3E}">
        <p14:creationId xmlns:p14="http://schemas.microsoft.com/office/powerpoint/2010/main" val="26247890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832" y="2708920"/>
            <a:ext cx="2981860" cy="756320"/>
          </a:xfrm>
        </p:spPr>
        <p:txBody>
          <a:bodyPr/>
          <a:lstStyle/>
          <a:p>
            <a:pPr algn="ctr"/>
            <a:r>
              <a:rPr lang="en-US" sz="3600" dirty="0" smtClean="0"/>
              <a:t>Appendix</a:t>
            </a:r>
            <a:endParaRPr lang="en-US" sz="3600" dirty="0"/>
          </a:p>
        </p:txBody>
      </p:sp>
      <p:pic>
        <p:nvPicPr>
          <p:cNvPr id="3" name="Picture 2"/>
          <p:cNvPicPr>
            <a:picLocks noChangeAspect="1"/>
          </p:cNvPicPr>
          <p:nvPr/>
        </p:nvPicPr>
        <p:blipFill>
          <a:blip r:embed="rId2"/>
          <a:stretch>
            <a:fillRect/>
          </a:stretch>
        </p:blipFill>
        <p:spPr>
          <a:xfrm>
            <a:off x="6552220" y="224644"/>
            <a:ext cx="2266950" cy="413931"/>
          </a:xfrm>
          <a:prstGeom prst="rect">
            <a:avLst/>
          </a:prstGeom>
        </p:spPr>
      </p:pic>
    </p:spTree>
    <p:extLst>
      <p:ext uri="{BB962C8B-B14F-4D97-AF65-F5344CB8AC3E}">
        <p14:creationId xmlns:p14="http://schemas.microsoft.com/office/powerpoint/2010/main" val="35845408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745" y="188640"/>
            <a:ext cx="5832407" cy="720080"/>
          </a:xfrm>
        </p:spPr>
        <p:txBody>
          <a:bodyPr/>
          <a:lstStyle/>
          <a:p>
            <a:r>
              <a:rPr lang="en-US" sz="2400" dirty="0"/>
              <a:t>IBM Assessment </a:t>
            </a:r>
            <a:r>
              <a:rPr lang="en-US" sz="2400" dirty="0" smtClean="0"/>
              <a:t>key findings </a:t>
            </a:r>
            <a:r>
              <a:rPr lang="en-US" sz="2400" dirty="0"/>
              <a:t>on existing  </a:t>
            </a:r>
            <a:r>
              <a:rPr lang="en-US" sz="2400" dirty="0" smtClean="0"/>
              <a:t/>
            </a:r>
            <a:br>
              <a:rPr lang="en-US" sz="2400" dirty="0" smtClean="0"/>
            </a:br>
            <a:r>
              <a:rPr lang="en-US" sz="2400" dirty="0" smtClean="0"/>
              <a:t>IBM </a:t>
            </a:r>
            <a:r>
              <a:rPr lang="en-US" sz="2400" dirty="0"/>
              <a:t>EDW implementation</a:t>
            </a:r>
          </a:p>
        </p:txBody>
      </p:sp>
      <p:sp>
        <p:nvSpPr>
          <p:cNvPr id="3" name="Text Placeholder 2"/>
          <p:cNvSpPr>
            <a:spLocks noGrp="1"/>
          </p:cNvSpPr>
          <p:nvPr>
            <p:ph type="body" sz="quarter" idx="10"/>
          </p:nvPr>
        </p:nvSpPr>
        <p:spPr>
          <a:xfrm>
            <a:off x="287524" y="1052736"/>
            <a:ext cx="8534400" cy="5328592"/>
          </a:xfrm>
        </p:spPr>
        <p:txBody>
          <a:bodyPr>
            <a:normAutofit/>
          </a:bodyPr>
          <a:lstStyle/>
          <a:p>
            <a:pPr lvl="1"/>
            <a:r>
              <a:rPr lang="en-US" sz="1600" dirty="0" smtClean="0"/>
              <a:t>Many </a:t>
            </a:r>
            <a:r>
              <a:rPr lang="en-US" sz="1600" dirty="0"/>
              <a:t>PHS customized columns have no supporting column definition documentation.</a:t>
            </a:r>
          </a:p>
          <a:p>
            <a:pPr lvl="1"/>
            <a:r>
              <a:rPr lang="en-US" sz="1600" dirty="0"/>
              <a:t>Many foreign key (FK) relationships are missing.  Without accurate FK associations, table relationships are more difficult to discern.</a:t>
            </a:r>
          </a:p>
          <a:p>
            <a:pPr lvl="1"/>
            <a:r>
              <a:rPr lang="en-US" sz="1600" dirty="0"/>
              <a:t>SRC_CD_SK was inconsistently added to a limited number of Atomic and Dimensional tables.</a:t>
            </a:r>
          </a:p>
          <a:p>
            <a:pPr lvl="1"/>
            <a:r>
              <a:rPr lang="en-US" sz="1600" dirty="0"/>
              <a:t>Effective &amp; Validity Dates appear to be used in a inconsistent manner and differs from intended design</a:t>
            </a:r>
          </a:p>
          <a:p>
            <a:pPr lvl="1"/>
            <a:r>
              <a:rPr lang="en-US" sz="1600" dirty="0"/>
              <a:t>There are no logical/physical data models actively maintained and subsequently leveraged to perform customization tasks on the UDMH physical data model related database</a:t>
            </a:r>
          </a:p>
          <a:p>
            <a:pPr lvl="1"/>
            <a:r>
              <a:rPr lang="en-US" sz="1600" dirty="0"/>
              <a:t>Table changes are made outside a data modeling tool</a:t>
            </a:r>
            <a:r>
              <a:rPr lang="en-US" sz="1600" dirty="0" smtClean="0"/>
              <a:t>.</a:t>
            </a:r>
          </a:p>
          <a:p>
            <a:pPr lvl="1"/>
            <a:r>
              <a:rPr lang="en-US" sz="1600" dirty="0"/>
              <a:t>Only limited consideration was given to the usage of Tenant in the existing UDMH implementation.</a:t>
            </a:r>
          </a:p>
          <a:p>
            <a:pPr lvl="1"/>
            <a:r>
              <a:rPr lang="en-US" sz="1600" dirty="0"/>
              <a:t>Tenant was mostly aligned to a source system and didn’t conceptually represent an entity with legal ownership and responsibility for the security of a tenant’s data</a:t>
            </a:r>
            <a:r>
              <a:rPr lang="en-US" sz="1600" dirty="0" smtClean="0"/>
              <a:t>.</a:t>
            </a:r>
            <a:endParaRPr lang="en-US" sz="1600" dirty="0"/>
          </a:p>
          <a:p>
            <a:pPr lvl="1"/>
            <a:endParaRPr lang="en-US" dirty="0"/>
          </a:p>
        </p:txBody>
      </p:sp>
      <p:pic>
        <p:nvPicPr>
          <p:cNvPr id="4" name="Picture 3"/>
          <p:cNvPicPr>
            <a:picLocks noChangeAspect="1"/>
          </p:cNvPicPr>
          <p:nvPr/>
        </p:nvPicPr>
        <p:blipFill>
          <a:blip r:embed="rId2"/>
          <a:stretch>
            <a:fillRect/>
          </a:stretch>
        </p:blipFill>
        <p:spPr>
          <a:xfrm>
            <a:off x="6732240" y="188640"/>
            <a:ext cx="2266950" cy="413931"/>
          </a:xfrm>
          <a:prstGeom prst="rect">
            <a:avLst/>
          </a:prstGeom>
        </p:spPr>
      </p:pic>
      <p:sp>
        <p:nvSpPr>
          <p:cNvPr id="5" name="Rectangle 4"/>
          <p:cNvSpPr/>
          <p:nvPr/>
        </p:nvSpPr>
        <p:spPr>
          <a:xfrm>
            <a:off x="8244408" y="1052736"/>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4555900" y="1592796"/>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8671883" y="1844824"/>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2447764" y="2384884"/>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8008374" y="2960948"/>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p:cNvSpPr/>
          <p:nvPr/>
        </p:nvSpPr>
        <p:spPr>
          <a:xfrm>
            <a:off x="5544108" y="3212976"/>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p:cNvSpPr/>
          <p:nvPr/>
        </p:nvSpPr>
        <p:spPr>
          <a:xfrm>
            <a:off x="2537938" y="3796388"/>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p:cNvSpPr/>
          <p:nvPr/>
        </p:nvSpPr>
        <p:spPr>
          <a:xfrm>
            <a:off x="7236296" y="4329100"/>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95828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8562480" cy="756320"/>
          </a:xfrm>
        </p:spPr>
        <p:txBody>
          <a:bodyPr/>
          <a:lstStyle/>
          <a:p>
            <a:r>
              <a:rPr lang="en-US" dirty="0"/>
              <a:t>IBM Assessment </a:t>
            </a:r>
            <a:r>
              <a:rPr lang="en-US" dirty="0" smtClean="0"/>
              <a:t>key findings </a:t>
            </a:r>
            <a:r>
              <a:rPr lang="en-US" dirty="0"/>
              <a:t>on existing </a:t>
            </a:r>
            <a:br>
              <a:rPr lang="en-US" dirty="0"/>
            </a:br>
            <a:r>
              <a:rPr lang="en-US" dirty="0"/>
              <a:t>IBM EDW </a:t>
            </a:r>
            <a:r>
              <a:rPr lang="en-US" dirty="0" smtClean="0"/>
              <a:t>implementation Cont’d..</a:t>
            </a:r>
            <a:endParaRPr lang="en-US" dirty="0"/>
          </a:p>
        </p:txBody>
      </p:sp>
      <p:sp>
        <p:nvSpPr>
          <p:cNvPr id="3" name="Text Placeholder 2"/>
          <p:cNvSpPr>
            <a:spLocks noGrp="1"/>
          </p:cNvSpPr>
          <p:nvPr>
            <p:ph type="body" sz="quarter" idx="10"/>
          </p:nvPr>
        </p:nvSpPr>
        <p:spPr>
          <a:xfrm>
            <a:off x="276720" y="908719"/>
            <a:ext cx="8534400" cy="5508613"/>
          </a:xfrm>
        </p:spPr>
        <p:txBody>
          <a:bodyPr>
            <a:normAutofit lnSpcReduction="10000"/>
          </a:bodyPr>
          <a:lstStyle/>
          <a:p>
            <a:r>
              <a:rPr lang="en-US" sz="1600" dirty="0"/>
              <a:t>No tenant related organizational hierarchies are represented in the existing UDMH implementation.</a:t>
            </a:r>
          </a:p>
          <a:p>
            <a:r>
              <a:rPr lang="en-US" sz="1600" dirty="0" smtClean="0"/>
              <a:t>Row-based </a:t>
            </a:r>
            <a:r>
              <a:rPr lang="en-US" sz="1600" dirty="0"/>
              <a:t>business keys don’t specify the full path to the source system table or file by tenant.</a:t>
            </a:r>
          </a:p>
          <a:p>
            <a:pPr lvl="0"/>
            <a:r>
              <a:rPr lang="en-US" sz="1600" dirty="0" smtClean="0"/>
              <a:t>Data </a:t>
            </a:r>
            <a:r>
              <a:rPr lang="en-US" sz="1600" dirty="0"/>
              <a:t>quality strategy and checks for of previously populated data model did not involve business subject matter experts to validate like for like data elements were populated in the model</a:t>
            </a:r>
          </a:p>
          <a:p>
            <a:pPr lvl="0"/>
            <a:r>
              <a:rPr lang="en-US" sz="1600" dirty="0"/>
              <a:t>There are currently no formally designated Data Stewards in the business working with the solution to ensure quality data is maintained within the eco system</a:t>
            </a:r>
          </a:p>
          <a:p>
            <a:r>
              <a:rPr lang="en-US" sz="1600" dirty="0" smtClean="0"/>
              <a:t>Production </a:t>
            </a:r>
            <a:r>
              <a:rPr lang="en-US" sz="1600" dirty="0"/>
              <a:t>data usage in EDW is not monitored. </a:t>
            </a:r>
          </a:p>
          <a:p>
            <a:r>
              <a:rPr lang="en-US" sz="1600" dirty="0"/>
              <a:t>There is a lack of knowledge and documentation of the location of sensitive data and its use and protection. Data owners have not been designated, classification has not been performed and security requirements for sensitive data implemented</a:t>
            </a:r>
            <a:r>
              <a:rPr lang="en-US" sz="1600" dirty="0" smtClean="0"/>
              <a:t>.</a:t>
            </a:r>
            <a:endParaRPr lang="en-US" sz="1600" dirty="0"/>
          </a:p>
          <a:p>
            <a:r>
              <a:rPr lang="en-US" sz="1600" dirty="0"/>
              <a:t>No tenant related organizational hierarchies are represented in the existing UDMH implementation.</a:t>
            </a:r>
          </a:p>
          <a:p>
            <a:r>
              <a:rPr lang="en-US" sz="1600" dirty="0"/>
              <a:t>Row-based business keys don’t specify the full path to the source system table or file by tenant.</a:t>
            </a:r>
          </a:p>
          <a:p>
            <a:pPr lvl="0"/>
            <a:r>
              <a:rPr lang="en-US" sz="1600" dirty="0"/>
              <a:t>Data quality strategy and checks for of previously populated data model did not involve business subject matter experts to validate like for like data elements were populated in the model</a:t>
            </a:r>
          </a:p>
          <a:p>
            <a:pPr lvl="0"/>
            <a:r>
              <a:rPr lang="en-US" sz="1600" dirty="0"/>
              <a:t>There are currently no formally designated Data Stewards in the business working with the solution to ensure quality data is maintained within the eco system</a:t>
            </a:r>
          </a:p>
          <a:p>
            <a:r>
              <a:rPr lang="en-US" sz="1600" dirty="0"/>
              <a:t>Production data usage in EDW is not monitored. </a:t>
            </a:r>
          </a:p>
          <a:p>
            <a:r>
              <a:rPr lang="en-US" sz="1600" dirty="0"/>
              <a:t>There is a lack of knowledge and documentation of the location of sensitive data and its use and protection. Data owners have not been designated, classification has not been performed and security requirements for sensitive data implemented.</a:t>
            </a:r>
          </a:p>
          <a:p>
            <a:endParaRPr lang="en-US" sz="1400" dirty="0"/>
          </a:p>
        </p:txBody>
      </p:sp>
      <p:pic>
        <p:nvPicPr>
          <p:cNvPr id="4" name="Picture 3"/>
          <p:cNvPicPr>
            <a:picLocks noChangeAspect="1"/>
          </p:cNvPicPr>
          <p:nvPr/>
        </p:nvPicPr>
        <p:blipFill>
          <a:blip r:embed="rId2"/>
          <a:stretch>
            <a:fillRect/>
          </a:stretch>
        </p:blipFill>
        <p:spPr>
          <a:xfrm>
            <a:off x="6572250" y="323594"/>
            <a:ext cx="2266950" cy="413931"/>
          </a:xfrm>
          <a:prstGeom prst="rect">
            <a:avLst/>
          </a:prstGeom>
        </p:spPr>
      </p:pic>
      <p:sp>
        <p:nvSpPr>
          <p:cNvPr id="5" name="Rectangle 4"/>
          <p:cNvSpPr/>
          <p:nvPr/>
        </p:nvSpPr>
        <p:spPr>
          <a:xfrm>
            <a:off x="2087724" y="1484784"/>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8664406" y="1738470"/>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8664406" y="2134907"/>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282534" y="2852936"/>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4680012" y="3148316"/>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p:cNvSpPr/>
          <p:nvPr/>
        </p:nvSpPr>
        <p:spPr>
          <a:xfrm>
            <a:off x="5184068" y="3904400"/>
            <a:ext cx="300082" cy="388696"/>
          </a:xfrm>
          <a:prstGeom prst="rect">
            <a:avLst/>
          </a:prstGeom>
        </p:spPr>
        <p:txBody>
          <a:bodyPr wrap="non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78310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720" y="152400"/>
            <a:ext cx="5771444" cy="756320"/>
          </a:xfrm>
        </p:spPr>
        <p:txBody>
          <a:bodyPr/>
          <a:lstStyle/>
          <a:p>
            <a:r>
              <a:rPr lang="en-US" dirty="0" smtClean="0"/>
              <a:t>Data Sharing Across the Business Units /</a:t>
            </a:r>
            <a:br>
              <a:rPr lang="en-US" dirty="0" smtClean="0"/>
            </a:br>
            <a:r>
              <a:rPr lang="en-US" dirty="0" smtClean="0"/>
              <a:t>Capitated Provider</a:t>
            </a:r>
            <a:endParaRPr lang="en-US" dirty="0"/>
          </a:p>
        </p:txBody>
      </p:sp>
      <p:sp>
        <p:nvSpPr>
          <p:cNvPr id="3" name="Text Placeholder 2"/>
          <p:cNvSpPr>
            <a:spLocks noGrp="1"/>
          </p:cNvSpPr>
          <p:nvPr>
            <p:ph type="body" sz="quarter" idx="10"/>
          </p:nvPr>
        </p:nvSpPr>
        <p:spPr>
          <a:xfrm>
            <a:off x="276720" y="1232756"/>
            <a:ext cx="8534400" cy="4068452"/>
          </a:xfrm>
        </p:spPr>
        <p:txBody>
          <a:bodyPr>
            <a:normAutofit/>
          </a:bodyPr>
          <a:lstStyle/>
          <a:p>
            <a:r>
              <a:rPr lang="en-US" sz="1500" dirty="0">
                <a:hlinkClick r:id="rId2"/>
              </a:rPr>
              <a:t>http://</a:t>
            </a:r>
            <a:r>
              <a:rPr lang="en-US" sz="1500" dirty="0" smtClean="0">
                <a:hlinkClick r:id="rId2"/>
              </a:rPr>
              <a:t>pel.phs.org/cs/groups/policyadministration/documents/policy/pel_00248119.pdf</a:t>
            </a:r>
            <a:endParaRPr lang="en-US" sz="1400" dirty="0"/>
          </a:p>
          <a:p>
            <a:pPr lvl="1"/>
            <a:endParaRPr lang="en-US" dirty="0"/>
          </a:p>
        </p:txBody>
      </p:sp>
      <p:pic>
        <p:nvPicPr>
          <p:cNvPr id="4" name="Picture 3"/>
          <p:cNvPicPr>
            <a:picLocks noChangeAspect="1"/>
          </p:cNvPicPr>
          <p:nvPr/>
        </p:nvPicPr>
        <p:blipFill>
          <a:blip r:embed="rId3"/>
          <a:stretch>
            <a:fillRect/>
          </a:stretch>
        </p:blipFill>
        <p:spPr>
          <a:xfrm>
            <a:off x="6572250" y="323594"/>
            <a:ext cx="2266950" cy="413931"/>
          </a:xfrm>
          <a:prstGeom prst="rect">
            <a:avLst/>
          </a:prstGeom>
        </p:spPr>
      </p:pic>
    </p:spTree>
    <p:extLst>
      <p:ext uri="{BB962C8B-B14F-4D97-AF65-F5344CB8AC3E}">
        <p14:creationId xmlns:p14="http://schemas.microsoft.com/office/powerpoint/2010/main" val="10663890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Overall IRADW Security Context</a:t>
            </a:r>
            <a:endParaRPr lang="en-US" sz="3200" dirty="0"/>
          </a:p>
        </p:txBody>
      </p:sp>
      <p:pic>
        <p:nvPicPr>
          <p:cNvPr id="4" name="Picture 3"/>
          <p:cNvPicPr>
            <a:picLocks noChangeAspect="1"/>
          </p:cNvPicPr>
          <p:nvPr/>
        </p:nvPicPr>
        <p:blipFill>
          <a:blip r:embed="rId2"/>
          <a:stretch>
            <a:fillRect/>
          </a:stretch>
        </p:blipFill>
        <p:spPr>
          <a:xfrm>
            <a:off x="6572250" y="233434"/>
            <a:ext cx="2266950" cy="413931"/>
          </a:xfrm>
          <a:prstGeom prst="rect">
            <a:avLst/>
          </a:prstGeom>
        </p:spPr>
      </p:pic>
      <p:pic>
        <p:nvPicPr>
          <p:cNvPr id="5" name="Picture 4"/>
          <p:cNvPicPr>
            <a:picLocks noChangeAspect="1"/>
          </p:cNvPicPr>
          <p:nvPr/>
        </p:nvPicPr>
        <p:blipFill>
          <a:blip r:embed="rId3"/>
          <a:stretch>
            <a:fillRect/>
          </a:stretch>
        </p:blipFill>
        <p:spPr>
          <a:xfrm>
            <a:off x="158283" y="908720"/>
            <a:ext cx="8668673" cy="5849924"/>
          </a:xfrm>
          <a:prstGeom prst="rect">
            <a:avLst/>
          </a:prstGeom>
        </p:spPr>
      </p:pic>
    </p:spTree>
    <p:extLst>
      <p:ext uri="{BB962C8B-B14F-4D97-AF65-F5344CB8AC3E}">
        <p14:creationId xmlns:p14="http://schemas.microsoft.com/office/powerpoint/2010/main" val="49233260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19813"/>
            <a:ext cx="6284739" cy="979894"/>
          </a:xfrm>
        </p:spPr>
        <p:txBody>
          <a:bodyPr/>
          <a:lstStyle/>
          <a:p>
            <a:pPr algn="ctr"/>
            <a:r>
              <a:rPr lang="en-US" sz="2800" dirty="0" smtClean="0"/>
              <a:t>Organization(s) / Tenant(s) Setup Process in IRADW</a:t>
            </a:r>
            <a:endParaRPr lang="en-US" sz="2800" dirty="0"/>
          </a:p>
        </p:txBody>
      </p:sp>
      <p:pic>
        <p:nvPicPr>
          <p:cNvPr id="4" name="Picture 3"/>
          <p:cNvPicPr>
            <a:picLocks noChangeAspect="1"/>
          </p:cNvPicPr>
          <p:nvPr/>
        </p:nvPicPr>
        <p:blipFill>
          <a:blip r:embed="rId2"/>
          <a:stretch>
            <a:fillRect/>
          </a:stretch>
        </p:blipFill>
        <p:spPr>
          <a:xfrm>
            <a:off x="6588224" y="319813"/>
            <a:ext cx="2266950" cy="413931"/>
          </a:xfrm>
          <a:prstGeom prst="rect">
            <a:avLst/>
          </a:prstGeom>
        </p:spPr>
      </p:pic>
      <p:pic>
        <p:nvPicPr>
          <p:cNvPr id="3" name="Picture 2"/>
          <p:cNvPicPr>
            <a:picLocks noChangeAspect="1"/>
          </p:cNvPicPr>
          <p:nvPr/>
        </p:nvPicPr>
        <p:blipFill>
          <a:blip r:embed="rId3"/>
          <a:stretch>
            <a:fillRect/>
          </a:stretch>
        </p:blipFill>
        <p:spPr>
          <a:xfrm>
            <a:off x="710776" y="1299707"/>
            <a:ext cx="5222210" cy="5088902"/>
          </a:xfrm>
          <a:prstGeom prst="rect">
            <a:avLst/>
          </a:prstGeom>
        </p:spPr>
      </p:pic>
      <p:sp>
        <p:nvSpPr>
          <p:cNvPr id="6" name="TextBox 5"/>
          <p:cNvSpPr txBox="1"/>
          <p:nvPr/>
        </p:nvSpPr>
        <p:spPr>
          <a:xfrm>
            <a:off x="6300192" y="1160748"/>
            <a:ext cx="2664296" cy="1015663"/>
          </a:xfrm>
          <a:prstGeom prst="rect">
            <a:avLst/>
          </a:prstGeom>
          <a:noFill/>
        </p:spPr>
        <p:txBody>
          <a:bodyPr wrap="square" rtlCol="0">
            <a:spAutoFit/>
          </a:bodyPr>
          <a:lstStyle/>
          <a:p>
            <a:r>
              <a:rPr lang="en-US" sz="1200" dirty="0" smtClean="0">
                <a:solidFill>
                  <a:srgbClr val="FF0000"/>
                </a:solidFill>
              </a:rPr>
              <a:t>TSO is responsible to manage &amp; implement Organization / Tenant Identifiers, Names etc. for Fluent in the source systems. Currently Bruce, Alexander is leading these efforts.</a:t>
            </a:r>
            <a:endParaRPr lang="en-US" sz="1200" dirty="0">
              <a:solidFill>
                <a:srgbClr val="FF0000"/>
              </a:solidFill>
            </a:endParaRPr>
          </a:p>
        </p:txBody>
      </p:sp>
      <p:sp>
        <p:nvSpPr>
          <p:cNvPr id="7" name="TextBox 6"/>
          <p:cNvSpPr txBox="1"/>
          <p:nvPr/>
        </p:nvSpPr>
        <p:spPr>
          <a:xfrm>
            <a:off x="6300192" y="2420888"/>
            <a:ext cx="2664296" cy="1384995"/>
          </a:xfrm>
          <a:prstGeom prst="rect">
            <a:avLst/>
          </a:prstGeom>
          <a:noFill/>
        </p:spPr>
        <p:txBody>
          <a:bodyPr wrap="square" rtlCol="0">
            <a:spAutoFit/>
          </a:bodyPr>
          <a:lstStyle/>
          <a:p>
            <a:r>
              <a:rPr lang="en-US" sz="1200" dirty="0" smtClean="0">
                <a:solidFill>
                  <a:srgbClr val="FF0000"/>
                </a:solidFill>
              </a:rPr>
              <a:t>Data Analytics is responsible to manage &amp; implement Organization / Tenant Identifiers, Names etc. for PHS and PLPCC for Delivery source systems. Currently Venkat Chebrolu with coordination of Data Governance will lead these efforts</a:t>
            </a:r>
            <a:endParaRPr lang="en-US" sz="1200" dirty="0">
              <a:solidFill>
                <a:srgbClr val="FF0000"/>
              </a:solidFill>
            </a:endParaRPr>
          </a:p>
        </p:txBody>
      </p:sp>
    </p:spTree>
    <p:extLst>
      <p:ext uri="{BB962C8B-B14F-4D97-AF65-F5344CB8AC3E}">
        <p14:creationId xmlns:p14="http://schemas.microsoft.com/office/powerpoint/2010/main" val="353490842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noChangeAspect="1"/>
          </p:cNvGrpSpPr>
          <p:nvPr/>
        </p:nvGrpSpPr>
        <p:grpSpPr>
          <a:xfrm>
            <a:off x="6787861" y="6400800"/>
            <a:ext cx="908339" cy="265290"/>
            <a:chOff x="6416842" y="6103352"/>
            <a:chExt cx="1279358" cy="373648"/>
          </a:xfrm>
        </p:grpSpPr>
        <p:pic>
          <p:nvPicPr>
            <p:cNvPr id="5" name="Picture 5" descr="Description: Facebook">
              <a:hlinkClick r:id="rId2"/>
            </p:cNvPr>
            <p:cNvPicPr>
              <a:picLocks noChangeAspect="1" noChangeArrowheads="1"/>
            </p:cNvPicPr>
            <p:nvPr/>
          </p:nvPicPr>
          <p:blipFill>
            <a:blip r:embed="rId3" r:link="rId4">
              <a:extLst>
                <a:ext uri="{28A0092B-C50C-407E-A947-70E740481C1C}">
                  <a14:useLocalDpi xmlns:a14="http://schemas.microsoft.com/office/drawing/2010/main"/>
                </a:ext>
              </a:extLst>
            </a:blip>
            <a:srcRect/>
            <a:stretch>
              <a:fillRect/>
            </a:stretch>
          </p:blipFill>
          <p:spPr bwMode="auto">
            <a:xfrm>
              <a:off x="7336200" y="6103352"/>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Description: Twitter">
              <a:hlinkClick r:id="rId5"/>
            </p:cNvPr>
            <p:cNvPicPr>
              <a:picLocks noChangeAspect="1" noChangeArrowheads="1"/>
            </p:cNvPicPr>
            <p:nvPr/>
          </p:nvPicPr>
          <p:blipFill>
            <a:blip r:embed="rId6" r:link="rId7">
              <a:extLst>
                <a:ext uri="{28A0092B-C50C-407E-A947-70E740481C1C}">
                  <a14:useLocalDpi xmlns:a14="http://schemas.microsoft.com/office/drawing/2010/main"/>
                </a:ext>
              </a:extLst>
            </a:blip>
            <a:srcRect/>
            <a:stretch>
              <a:fillRect/>
            </a:stretch>
          </p:blipFill>
          <p:spPr bwMode="auto">
            <a:xfrm>
              <a:off x="6879000" y="6117000"/>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Description: LinkedIn">
              <a:hlinkClick r:id="rId8"/>
            </p:cNvPr>
            <p:cNvPicPr>
              <a:picLocks noChangeAspect="1" noChangeArrowheads="1"/>
            </p:cNvPicPr>
            <p:nvPr/>
          </p:nvPicPr>
          <p:blipFill>
            <a:blip r:embed="rId9" r:link="rId10">
              <a:extLst>
                <a:ext uri="{28A0092B-C50C-407E-A947-70E740481C1C}">
                  <a14:useLocalDpi xmlns:a14="http://schemas.microsoft.com/office/drawing/2010/main"/>
                </a:ext>
              </a:extLst>
            </a:blip>
            <a:srcRect/>
            <a:stretch>
              <a:fillRect/>
            </a:stretch>
          </p:blipFill>
          <p:spPr bwMode="auto">
            <a:xfrm>
              <a:off x="6416842" y="6117000"/>
              <a:ext cx="360000" cy="360000"/>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Rectangle 9"/>
          <p:cNvSpPr>
            <a:spLocks noChangeArrowheads="1"/>
          </p:cNvSpPr>
          <p:nvPr/>
        </p:nvSpPr>
        <p:spPr bwMode="auto">
          <a:xfrm>
            <a:off x="0" y="381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en-US" sz="1000" dirty="0">
                <a:solidFill>
                  <a:srgbClr val="6B6B6B"/>
                </a:solidFill>
                <a:latin typeface="Segoe UI" pitchFamily="34" charset="0"/>
                <a:ea typeface="Calibri" pitchFamily="34" charset="0"/>
                <a:cs typeface="Segoe UI" pitchFamily="34" charset="0"/>
              </a:rPr>
              <a:t> </a:t>
            </a:r>
            <a:r>
              <a:rPr lang="en-US" sz="900" dirty="0">
                <a:solidFill>
                  <a:srgbClr val="6B6B6B"/>
                </a:solidFill>
                <a:latin typeface="Segoe UI" pitchFamily="34" charset="0"/>
                <a:ea typeface="Calibri" pitchFamily="34" charset="0"/>
                <a:cs typeface="Segoe UI" pitchFamily="34" charset="0"/>
              </a:rPr>
              <a:t> </a:t>
            </a:r>
            <a:r>
              <a:rPr lang="en-US" sz="1000" dirty="0">
                <a:solidFill>
                  <a:srgbClr val="6B6B6B"/>
                </a:solidFill>
                <a:latin typeface="Segoe UI" pitchFamily="34" charset="0"/>
                <a:ea typeface="Calibri" pitchFamily="34" charset="0"/>
                <a:cs typeface="Segoe UI" pitchFamily="34" charset="0"/>
              </a:rPr>
              <a:t> </a:t>
            </a:r>
            <a:endParaRPr lang="en-US" dirty="0">
              <a:solidFill>
                <a:prstClr val="black"/>
              </a:solidFill>
              <a:latin typeface="Arial" pitchFamily="34" charset="0"/>
              <a:cs typeface="Arial" pitchFamily="34" charset="0"/>
            </a:endParaRPr>
          </a:p>
        </p:txBody>
      </p:sp>
      <p:sp>
        <p:nvSpPr>
          <p:cNvPr id="9" name="Rectangle 11"/>
          <p:cNvSpPr>
            <a:spLocks noChangeArrowheads="1"/>
          </p:cNvSpPr>
          <p:nvPr/>
        </p:nvSpPr>
        <p:spPr bwMode="auto">
          <a:xfrm>
            <a:off x="0" y="60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en-US" sz="800" dirty="0">
                <a:solidFill>
                  <a:prstClr val="black"/>
                </a:solidFill>
                <a:latin typeface="Arial" pitchFamily="34" charset="0"/>
                <a:cs typeface="Arial" pitchFamily="34" charset="0"/>
              </a:rPr>
              <a:t> </a:t>
            </a:r>
            <a:endParaRPr lang="en-US" dirty="0">
              <a:solidFill>
                <a:prstClr val="black"/>
              </a:solidFill>
              <a:latin typeface="Arial" pitchFamily="34" charset="0"/>
              <a:cs typeface="Arial" pitchFamily="34" charset="0"/>
            </a:endParaRPr>
          </a:p>
        </p:txBody>
      </p:sp>
      <p:cxnSp>
        <p:nvCxnSpPr>
          <p:cNvPr id="10" name="Straight Connector 9"/>
          <p:cNvCxnSpPr/>
          <p:nvPr/>
        </p:nvCxnSpPr>
        <p:spPr>
          <a:xfrm flipH="1">
            <a:off x="6456059" y="457200"/>
            <a:ext cx="20941" cy="609600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798563" y="3026664"/>
            <a:ext cx="4693895" cy="804672"/>
          </a:xfrm>
          <a:prstGeom prst="rect">
            <a:avLst/>
          </a:prstGeom>
          <a:noFill/>
          <a:ln>
            <a:noFill/>
          </a:ln>
        </p:spPr>
        <p:txBody>
          <a:bodyPr anchor="ctr"/>
          <a:lstStyle>
            <a:defPPr>
              <a:defRPr lang="en-US"/>
            </a:defPPr>
            <a:lvl1pPr>
              <a:spcBef>
                <a:spcPct val="0"/>
              </a:spcBef>
              <a:buNone/>
              <a:defRPr sz="5400" b="1">
                <a:solidFill>
                  <a:schemeClr val="bg1"/>
                </a:solidFill>
                <a:latin typeface="+mj-lt"/>
                <a:ea typeface="+mj-ea"/>
                <a:cs typeface="+mj-cs"/>
              </a:defRPr>
            </a:lvl1pPr>
          </a:lstStyle>
          <a:p>
            <a:r>
              <a:rPr lang="en-US" sz="2800" dirty="0">
                <a:solidFill>
                  <a:prstClr val="black"/>
                </a:solidFill>
              </a:rPr>
              <a:t>Thank You</a:t>
            </a:r>
            <a:endParaRPr lang="en-IN" sz="2800" dirty="0">
              <a:solidFill>
                <a:prstClr val="black"/>
              </a:solidFill>
            </a:endParaRPr>
          </a:p>
        </p:txBody>
      </p:sp>
      <p:cxnSp>
        <p:nvCxnSpPr>
          <p:cNvPr id="12" name="Straight Connector 11"/>
          <p:cNvCxnSpPr/>
          <p:nvPr/>
        </p:nvCxnSpPr>
        <p:spPr>
          <a:xfrm flipH="1">
            <a:off x="6629400" y="3352800"/>
            <a:ext cx="229548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hlinkClick r:id="rId11"/>
          </p:cNvPr>
          <p:cNvSpPr txBox="1"/>
          <p:nvPr/>
        </p:nvSpPr>
        <p:spPr>
          <a:xfrm>
            <a:off x="7580376" y="694944"/>
            <a:ext cx="1247371" cy="461665"/>
          </a:xfrm>
          <a:prstGeom prst="rect">
            <a:avLst/>
          </a:prstGeom>
          <a:noFill/>
        </p:spPr>
        <p:txBody>
          <a:bodyPr wrap="square" rtlCol="0">
            <a:spAutoFit/>
          </a:bodyPr>
          <a:lstStyle/>
          <a:p>
            <a:r>
              <a:rPr lang="en-US" sz="1200" dirty="0">
                <a:solidFill>
                  <a:prstClr val="white">
                    <a:lumMod val="65000"/>
                  </a:prstClr>
                </a:solidFill>
                <a:latin typeface="Segoe UI" pitchFamily="34" charset="0"/>
                <a:ea typeface="Segoe UI" pitchFamily="34" charset="0"/>
                <a:cs typeface="Segoe UI" pitchFamily="34" charset="0"/>
              </a:rPr>
              <a:t>CitiusTech</a:t>
            </a:r>
          </a:p>
          <a:p>
            <a:r>
              <a:rPr lang="en-US" sz="1200" dirty="0">
                <a:solidFill>
                  <a:prstClr val="white">
                    <a:lumMod val="65000"/>
                  </a:prstClr>
                </a:solidFill>
                <a:latin typeface="Segoe UI" pitchFamily="34" charset="0"/>
                <a:ea typeface="Segoe UI" pitchFamily="34" charset="0"/>
                <a:cs typeface="Segoe UI" pitchFamily="34" charset="0"/>
              </a:rPr>
              <a:t>Practice Areas</a:t>
            </a:r>
          </a:p>
        </p:txBody>
      </p:sp>
      <p:sp>
        <p:nvSpPr>
          <p:cNvPr id="14" name="TextBox 13">
            <a:hlinkClick r:id="rId12"/>
          </p:cNvPr>
          <p:cNvSpPr txBox="1"/>
          <p:nvPr/>
        </p:nvSpPr>
        <p:spPr>
          <a:xfrm>
            <a:off x="7580376" y="1900535"/>
            <a:ext cx="1241604" cy="461665"/>
          </a:xfrm>
          <a:prstGeom prst="rect">
            <a:avLst/>
          </a:prstGeom>
          <a:noFill/>
        </p:spPr>
        <p:txBody>
          <a:bodyPr wrap="square" rtlCol="0">
            <a:spAutoFit/>
          </a:bodyPr>
          <a:lstStyle/>
          <a:p>
            <a:pPr>
              <a:spcBef>
                <a:spcPts val="600"/>
              </a:spcBef>
            </a:pPr>
            <a:r>
              <a:rPr lang="en-US" sz="1200" dirty="0">
                <a:solidFill>
                  <a:prstClr val="white">
                    <a:lumMod val="65000"/>
                  </a:prstClr>
                </a:solidFill>
                <a:latin typeface="Segoe UI" pitchFamily="34" charset="0"/>
                <a:ea typeface="Segoe UI" pitchFamily="34" charset="0"/>
                <a:cs typeface="Segoe UI" pitchFamily="34" charset="0"/>
              </a:rPr>
              <a:t>Health Cloud Success Stories</a:t>
            </a:r>
            <a:endParaRPr lang="en-IN" sz="1200" dirty="0">
              <a:solidFill>
                <a:prstClr val="white">
                  <a:lumMod val="65000"/>
                </a:prstClr>
              </a:solidFill>
              <a:latin typeface="Segoe UI" pitchFamily="34" charset="0"/>
              <a:ea typeface="Segoe UI" pitchFamily="34" charset="0"/>
              <a:cs typeface="Segoe UI" pitchFamily="34" charset="0"/>
            </a:endParaRPr>
          </a:p>
        </p:txBody>
      </p:sp>
      <p:sp>
        <p:nvSpPr>
          <p:cNvPr id="15" name="TextBox 14">
            <a:hlinkClick r:id="rId13"/>
          </p:cNvPr>
          <p:cNvSpPr txBox="1"/>
          <p:nvPr/>
        </p:nvSpPr>
        <p:spPr>
          <a:xfrm>
            <a:off x="7580376" y="2569464"/>
            <a:ext cx="1323571" cy="461665"/>
          </a:xfrm>
          <a:prstGeom prst="rect">
            <a:avLst/>
          </a:prstGeom>
          <a:noFill/>
        </p:spPr>
        <p:txBody>
          <a:bodyPr wrap="square" rtlCol="0">
            <a:spAutoFit/>
          </a:bodyPr>
          <a:lstStyle/>
          <a:p>
            <a:r>
              <a:rPr lang="en-US" sz="1200" dirty="0">
                <a:solidFill>
                  <a:prstClr val="white">
                    <a:lumMod val="65000"/>
                  </a:prstClr>
                </a:solidFill>
                <a:latin typeface="Segoe UI" pitchFamily="34" charset="0"/>
                <a:ea typeface="Segoe UI" pitchFamily="34" charset="0"/>
                <a:cs typeface="Segoe UI" pitchFamily="34" charset="0"/>
              </a:rPr>
              <a:t>Interoperability Success Stories</a:t>
            </a:r>
          </a:p>
        </p:txBody>
      </p:sp>
      <p:sp>
        <p:nvSpPr>
          <p:cNvPr id="16" name="TextBox 15">
            <a:hlinkClick r:id="rId14"/>
          </p:cNvPr>
          <p:cNvSpPr txBox="1"/>
          <p:nvPr/>
        </p:nvSpPr>
        <p:spPr>
          <a:xfrm>
            <a:off x="7580376" y="1290935"/>
            <a:ext cx="1247371" cy="461665"/>
          </a:xfrm>
          <a:prstGeom prst="rect">
            <a:avLst/>
          </a:prstGeom>
          <a:noFill/>
        </p:spPr>
        <p:txBody>
          <a:bodyPr wrap="square" rtlCol="0">
            <a:spAutoFit/>
          </a:bodyPr>
          <a:lstStyle/>
          <a:p>
            <a:pPr>
              <a:spcBef>
                <a:spcPts val="600"/>
              </a:spcBef>
              <a:spcAft>
                <a:spcPts val="600"/>
              </a:spcAft>
            </a:pPr>
            <a:r>
              <a:rPr lang="en-US" sz="1200" dirty="0">
                <a:solidFill>
                  <a:prstClr val="white">
                    <a:lumMod val="65000"/>
                  </a:prstClr>
                </a:solidFill>
                <a:latin typeface="Segoe UI" pitchFamily="34" charset="0"/>
                <a:ea typeface="Segoe UI" pitchFamily="34" charset="0"/>
                <a:cs typeface="Segoe UI" pitchFamily="34" charset="0"/>
              </a:rPr>
              <a:t>Mobile Health Success Stories</a:t>
            </a:r>
          </a:p>
        </p:txBody>
      </p:sp>
      <p:pic>
        <p:nvPicPr>
          <p:cNvPr id="17" name="Picture 2">
            <a:hlinkClick r:id="rId11"/>
          </p:cNvPr>
          <p:cNvPicPr>
            <a:picLocks noChangeAspect="1" noChangeArrowheads="1"/>
          </p:cNvPicPr>
          <p:nvPr/>
        </p:nvPicPr>
        <p:blipFill rotWithShape="1">
          <a:blip r:embed="rId15" cstate="print">
            <a:extLst>
              <a:ext uri="{28A0092B-C50C-407E-A947-70E740481C1C}">
                <a14:useLocalDpi xmlns:a14="http://schemas.microsoft.com/office/drawing/2010/main"/>
              </a:ext>
            </a:extLst>
          </a:blip>
          <a:srcRect/>
          <a:stretch/>
        </p:blipFill>
        <p:spPr bwMode="auto">
          <a:xfrm>
            <a:off x="6684264" y="658368"/>
            <a:ext cx="896112" cy="507207"/>
          </a:xfrm>
          <a:prstGeom prst="rect">
            <a:avLst/>
          </a:prstGeom>
          <a:ln>
            <a:noFill/>
          </a:ln>
          <a:effectLst/>
          <a:extLst>
            <a:ext uri="{909E8E84-426E-40DD-AFC4-6F175D3DCCD1}">
              <a14:hiddenFill xmlns:a14="http://schemas.microsoft.com/office/drawing/2010/main">
                <a:solidFill>
                  <a:schemeClr val="accent1"/>
                </a:solidFill>
              </a14:hiddenFill>
            </a:ext>
          </a:extLst>
        </p:spPr>
      </p:pic>
      <p:pic>
        <p:nvPicPr>
          <p:cNvPr id="18" name="Picture 17">
            <a:hlinkClick r:id="rId14"/>
          </p:cNvPr>
          <p:cNvPicPr/>
          <p:nvPr/>
        </p:nvPicPr>
        <p:blipFill rotWithShape="1">
          <a:blip r:embed="rId16" cstate="print">
            <a:extLst>
              <a:ext uri="{28A0092B-C50C-407E-A947-70E740481C1C}">
                <a14:useLocalDpi xmlns:a14="http://schemas.microsoft.com/office/drawing/2010/main"/>
              </a:ext>
            </a:extLst>
          </a:blip>
          <a:srcRect/>
          <a:stretch/>
        </p:blipFill>
        <p:spPr bwMode="auto">
          <a:xfrm>
            <a:off x="6684264" y="1316736"/>
            <a:ext cx="900000" cy="493776"/>
          </a:xfrm>
          <a:prstGeom prst="rect">
            <a:avLst/>
          </a:prstGeom>
          <a:ln>
            <a:noFill/>
          </a:ln>
          <a:effectLst/>
          <a:extLst>
            <a:ext uri="{53640926-AAD7-44D8-BBD7-CCE9431645EC}">
              <a14:shadowObscured xmlns:a14="http://schemas.microsoft.com/office/drawing/2010/main"/>
            </a:ext>
          </a:extLst>
        </p:spPr>
      </p:pic>
      <p:pic>
        <p:nvPicPr>
          <p:cNvPr id="19" name="Picture 18">
            <a:hlinkClick r:id="rId12"/>
          </p:cNvPr>
          <p:cNvPicPr/>
          <p:nvPr/>
        </p:nvPicPr>
        <p:blipFill rotWithShape="1">
          <a:blip r:embed="rId17" cstate="print">
            <a:extLst>
              <a:ext uri="{28A0092B-C50C-407E-A947-70E740481C1C}">
                <a14:useLocalDpi xmlns:a14="http://schemas.microsoft.com/office/drawing/2010/main"/>
              </a:ext>
            </a:extLst>
          </a:blip>
          <a:srcRect/>
          <a:stretch/>
        </p:blipFill>
        <p:spPr bwMode="auto">
          <a:xfrm>
            <a:off x="6684264" y="1938528"/>
            <a:ext cx="900000" cy="493776"/>
          </a:xfrm>
          <a:prstGeom prst="rect">
            <a:avLst/>
          </a:prstGeom>
          <a:ln>
            <a:noFill/>
          </a:ln>
          <a:effectLst/>
          <a:extLst>
            <a:ext uri="{53640926-AAD7-44D8-BBD7-CCE9431645EC}">
              <a14:shadowObscured xmlns:a14="http://schemas.microsoft.com/office/drawing/2010/main"/>
            </a:ext>
          </a:extLst>
        </p:spPr>
      </p:pic>
      <p:pic>
        <p:nvPicPr>
          <p:cNvPr id="20" name="Picture 19">
            <a:hlinkClick r:id="rId13"/>
          </p:cNvPr>
          <p:cNvPicPr/>
          <p:nvPr/>
        </p:nvPicPr>
        <p:blipFill rotWithShape="1">
          <a:blip r:embed="rId18" cstate="print">
            <a:extLst>
              <a:ext uri="{28A0092B-C50C-407E-A947-70E740481C1C}">
                <a14:useLocalDpi xmlns:a14="http://schemas.microsoft.com/office/drawing/2010/main"/>
              </a:ext>
            </a:extLst>
          </a:blip>
          <a:srcRect/>
          <a:stretch/>
        </p:blipFill>
        <p:spPr bwMode="auto">
          <a:xfrm>
            <a:off x="6684264" y="2551176"/>
            <a:ext cx="900000" cy="493776"/>
          </a:xfrm>
          <a:prstGeom prst="rect">
            <a:avLst/>
          </a:prstGeom>
          <a:ln>
            <a:noFill/>
          </a:ln>
          <a:effectLst/>
          <a:extLst>
            <a:ext uri="{53640926-AAD7-44D8-BBD7-CCE9431645EC}">
              <a14:shadowObscured xmlns:a14="http://schemas.microsoft.com/office/drawing/2010/main"/>
            </a:ext>
          </a:extLst>
        </p:spPr>
      </p:pic>
      <p:sp>
        <p:nvSpPr>
          <p:cNvPr id="21" name="TextBox 20"/>
          <p:cNvSpPr txBox="1"/>
          <p:nvPr/>
        </p:nvSpPr>
        <p:spPr>
          <a:xfrm>
            <a:off x="6505117" y="3614599"/>
            <a:ext cx="2513237" cy="2100575"/>
          </a:xfrm>
          <a:prstGeom prst="rect">
            <a:avLst/>
          </a:prstGeom>
          <a:noFill/>
        </p:spPr>
        <p:txBody>
          <a:bodyPr wrap="square" rtlCol="0">
            <a:spAutoFit/>
          </a:bodyPr>
          <a:lstStyle/>
          <a:p>
            <a:r>
              <a:rPr lang="en-US" sz="1050" b="1" dirty="0">
                <a:solidFill>
                  <a:prstClr val="black">
                    <a:lumMod val="75000"/>
                    <a:lumOff val="25000"/>
                  </a:prstClr>
                </a:solidFill>
                <a:latin typeface="Segoe UI" pitchFamily="34" charset="0"/>
                <a:ea typeface="Segoe UI" pitchFamily="34" charset="0"/>
                <a:cs typeface="Segoe UI" pitchFamily="34" charset="0"/>
              </a:rPr>
              <a:t>CitiusTech Contacts</a:t>
            </a:r>
          </a:p>
          <a:p>
            <a:endParaRPr lang="en-US" sz="1000" dirty="0">
              <a:solidFill>
                <a:prstClr val="black">
                  <a:lumMod val="75000"/>
                  <a:lumOff val="25000"/>
                </a:prstClr>
              </a:solidFill>
              <a:latin typeface="Segoe UI" pitchFamily="34" charset="0"/>
              <a:ea typeface="Segoe UI" pitchFamily="34" charset="0"/>
              <a:cs typeface="Segoe UI" pitchFamily="34" charset="0"/>
            </a:endParaRPr>
          </a:p>
          <a:p>
            <a:r>
              <a:rPr lang="en-US" sz="1000" b="1" dirty="0">
                <a:solidFill>
                  <a:prstClr val="black">
                    <a:lumMod val="75000"/>
                    <a:lumOff val="25000"/>
                  </a:prstClr>
                </a:solidFill>
                <a:latin typeface="Segoe UI" pitchFamily="34" charset="0"/>
                <a:ea typeface="Segoe UI" pitchFamily="34" charset="0"/>
                <a:cs typeface="Segoe UI" pitchFamily="34" charset="0"/>
              </a:rPr>
              <a:t>Abhay Singhal</a:t>
            </a:r>
          </a:p>
          <a:p>
            <a:r>
              <a:rPr lang="en-US" sz="1000" dirty="0">
                <a:solidFill>
                  <a:prstClr val="black">
                    <a:lumMod val="75000"/>
                    <a:lumOff val="25000"/>
                  </a:prstClr>
                </a:solidFill>
                <a:latin typeface="Segoe UI" pitchFamily="34" charset="0"/>
                <a:ea typeface="Segoe UI" pitchFamily="34" charset="0"/>
                <a:cs typeface="Segoe UI" pitchFamily="34" charset="0"/>
              </a:rPr>
              <a:t>Vice President, Provider Market </a:t>
            </a:r>
          </a:p>
          <a:p>
            <a:r>
              <a:rPr lang="en-US" sz="1000" dirty="0">
                <a:solidFill>
                  <a:prstClr val="black">
                    <a:lumMod val="75000"/>
                    <a:lumOff val="25000"/>
                  </a:prstClr>
                </a:solidFill>
                <a:latin typeface="Segoe UI" pitchFamily="34" charset="0"/>
                <a:ea typeface="Segoe UI" pitchFamily="34" charset="0"/>
                <a:cs typeface="Segoe UI" pitchFamily="34" charset="0"/>
                <a:hlinkClick r:id="rId19"/>
              </a:rPr>
              <a:t>abhay.singhal@citiustech.com</a:t>
            </a:r>
            <a:endParaRPr lang="en-US" sz="1000" dirty="0">
              <a:solidFill>
                <a:prstClr val="black">
                  <a:lumMod val="75000"/>
                  <a:lumOff val="25000"/>
                </a:prstClr>
              </a:solidFill>
              <a:latin typeface="Segoe UI" pitchFamily="34" charset="0"/>
              <a:ea typeface="Segoe UI" pitchFamily="34" charset="0"/>
              <a:cs typeface="Segoe UI" pitchFamily="34" charset="0"/>
            </a:endParaRPr>
          </a:p>
          <a:p>
            <a:r>
              <a:rPr lang="en-US" sz="1000" dirty="0">
                <a:solidFill>
                  <a:prstClr val="black">
                    <a:lumMod val="75000"/>
                    <a:lumOff val="25000"/>
                  </a:prstClr>
                </a:solidFill>
                <a:latin typeface="Segoe UI" pitchFamily="34" charset="0"/>
                <a:ea typeface="Segoe UI" pitchFamily="34" charset="0"/>
                <a:cs typeface="Segoe UI" pitchFamily="34" charset="0"/>
              </a:rPr>
              <a:t>972.533.5813</a:t>
            </a:r>
          </a:p>
          <a:p>
            <a:endParaRPr lang="en-US" sz="1000" dirty="0">
              <a:solidFill>
                <a:prstClr val="black">
                  <a:lumMod val="75000"/>
                  <a:lumOff val="25000"/>
                </a:prstClr>
              </a:solidFill>
              <a:latin typeface="Segoe UI" pitchFamily="34" charset="0"/>
              <a:ea typeface="Segoe UI" pitchFamily="34" charset="0"/>
              <a:cs typeface="Segoe UI" pitchFamily="34" charset="0"/>
            </a:endParaRPr>
          </a:p>
          <a:p>
            <a:r>
              <a:rPr lang="en-US" sz="1000" b="1" dirty="0">
                <a:solidFill>
                  <a:prstClr val="black">
                    <a:lumMod val="75000"/>
                    <a:lumOff val="25000"/>
                  </a:prstClr>
                </a:solidFill>
                <a:latin typeface="Segoe UI" pitchFamily="34" charset="0"/>
                <a:ea typeface="Segoe UI" pitchFamily="34" charset="0"/>
                <a:cs typeface="Segoe UI" pitchFamily="34" charset="0"/>
              </a:rPr>
              <a:t>David Esser</a:t>
            </a:r>
          </a:p>
          <a:p>
            <a:r>
              <a:rPr lang="en-US" sz="1000" dirty="0">
                <a:solidFill>
                  <a:prstClr val="black">
                    <a:lumMod val="75000"/>
                    <a:lumOff val="25000"/>
                  </a:prstClr>
                </a:solidFill>
                <a:latin typeface="Segoe UI" pitchFamily="34" charset="0"/>
                <a:ea typeface="Segoe UI" pitchFamily="34" charset="0"/>
                <a:cs typeface="Segoe UI" pitchFamily="34" charset="0"/>
              </a:rPr>
              <a:t>Assistant Vice President , Provider Market</a:t>
            </a:r>
          </a:p>
          <a:p>
            <a:r>
              <a:rPr lang="en-US" sz="1000" dirty="0">
                <a:solidFill>
                  <a:prstClr val="black">
                    <a:lumMod val="75000"/>
                    <a:lumOff val="25000"/>
                  </a:prstClr>
                </a:solidFill>
                <a:latin typeface="Segoe UI" pitchFamily="34" charset="0"/>
                <a:ea typeface="Segoe UI" pitchFamily="34" charset="0"/>
                <a:cs typeface="Segoe UI" pitchFamily="34" charset="0"/>
                <a:hlinkClick r:id="rId20"/>
              </a:rPr>
              <a:t>david.esser@citiustech.com</a:t>
            </a:r>
            <a:r>
              <a:rPr lang="en-US" sz="1000" dirty="0">
                <a:solidFill>
                  <a:prstClr val="black">
                    <a:lumMod val="75000"/>
                    <a:lumOff val="25000"/>
                  </a:prstClr>
                </a:solidFill>
                <a:latin typeface="Segoe UI" pitchFamily="34" charset="0"/>
                <a:ea typeface="Segoe UI" pitchFamily="34" charset="0"/>
                <a:cs typeface="Segoe UI" pitchFamily="34" charset="0"/>
              </a:rPr>
              <a:t>  </a:t>
            </a:r>
          </a:p>
          <a:p>
            <a:r>
              <a:rPr lang="en-US" sz="1000" dirty="0">
                <a:solidFill>
                  <a:prstClr val="black">
                    <a:lumMod val="75000"/>
                    <a:lumOff val="25000"/>
                  </a:prstClr>
                </a:solidFill>
                <a:latin typeface="Segoe UI" pitchFamily="34" charset="0"/>
                <a:ea typeface="Segoe UI" pitchFamily="34" charset="0"/>
                <a:cs typeface="Segoe UI" pitchFamily="34" charset="0"/>
              </a:rPr>
              <a:t>678.761.0717 </a:t>
            </a:r>
          </a:p>
          <a:p>
            <a:endParaRPr lang="en-US" sz="1000" dirty="0">
              <a:solidFill>
                <a:prstClr val="black">
                  <a:lumMod val="75000"/>
                  <a:lumOff val="25000"/>
                </a:prstClr>
              </a:solidFill>
              <a:latin typeface="Segoe UI" pitchFamily="34" charset="0"/>
              <a:ea typeface="Segoe UI" pitchFamily="34" charset="0"/>
              <a:cs typeface="Segoe UI" pitchFamily="34" charset="0"/>
              <a:hlinkClick r:id="" action="ppaction://noaction"/>
            </a:endParaRPr>
          </a:p>
          <a:p>
            <a:r>
              <a:rPr lang="en-US" sz="1000" dirty="0">
                <a:solidFill>
                  <a:prstClr val="black">
                    <a:lumMod val="75000"/>
                    <a:lumOff val="25000"/>
                  </a:prstClr>
                </a:solidFill>
                <a:latin typeface="Segoe UI" pitchFamily="34" charset="0"/>
                <a:ea typeface="Segoe UI" pitchFamily="34" charset="0"/>
                <a:cs typeface="Segoe UI" pitchFamily="34" charset="0"/>
                <a:hlinkClick r:id="" action="ppaction://noaction"/>
              </a:rPr>
              <a:t>www.citiustech.com</a:t>
            </a:r>
            <a:r>
              <a:rPr lang="en-US" sz="1000" dirty="0">
                <a:solidFill>
                  <a:prstClr val="black">
                    <a:lumMod val="75000"/>
                    <a:lumOff val="25000"/>
                  </a:prstClr>
                </a:solidFill>
                <a:latin typeface="Segoe UI" pitchFamily="34" charset="0"/>
                <a:ea typeface="Segoe UI" pitchFamily="34" charset="0"/>
                <a:cs typeface="Segoe UI" pitchFamily="34" charset="0"/>
              </a:rPr>
              <a:t> </a:t>
            </a:r>
          </a:p>
        </p:txBody>
      </p:sp>
      <p:pic>
        <p:nvPicPr>
          <p:cNvPr id="22" name="Picture 21"/>
          <p:cNvPicPr>
            <a:picLocks noChangeAspect="1"/>
          </p:cNvPicPr>
          <p:nvPr/>
        </p:nvPicPr>
        <p:blipFill>
          <a:blip r:embed="rId21"/>
          <a:stretch>
            <a:fillRect/>
          </a:stretch>
        </p:blipFill>
        <p:spPr>
          <a:xfrm>
            <a:off x="4160992" y="250234"/>
            <a:ext cx="2266950" cy="413931"/>
          </a:xfrm>
          <a:prstGeom prst="rect">
            <a:avLst/>
          </a:prstGeom>
        </p:spPr>
      </p:pic>
    </p:spTree>
    <p:extLst>
      <p:ext uri="{BB962C8B-B14F-4D97-AF65-F5344CB8AC3E}">
        <p14:creationId xmlns:p14="http://schemas.microsoft.com/office/powerpoint/2010/main" val="2613502627"/>
      </p:ext>
    </p:extLst>
  </p:cSld>
  <p:clrMapOvr>
    <a:masterClrMapping/>
  </p:clrMapOvr>
  <p:timing>
    <p:tnLst>
      <p:par>
        <p:cTn id="1" dur="indefinite" restart="never" nodeType="tmRoot"/>
      </p:par>
    </p:tnLst>
  </p:timing>
</p:sld>
</file>

<file path=ppt/theme/theme1.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89A0945C327D1843BDB21B4F9656385C" ma:contentTypeVersion="21" ma:contentTypeDescription="Create a new document." ma:contentTypeScope="" ma:versionID="5e65e714147d514f8673afe8646325fb">
  <xsd:schema xmlns:xsd="http://www.w3.org/2001/XMLSchema" xmlns:xs="http://www.w3.org/2001/XMLSchema" xmlns:p="http://schemas.microsoft.com/office/2006/metadata/properties" xmlns:ns2="cb40fc13-d0e9-4260-8a3f-392230837089" xmlns:ns3="ef392ca5-c839-4673-94b3-d0628d59dd4c" targetNamespace="http://schemas.microsoft.com/office/2006/metadata/properties" ma:root="true" ma:fieldsID="a973127e37d441e70c7c5f285fc20d2a" ns2:_="" ns3:_="">
    <xsd:import namespace="cb40fc13-d0e9-4260-8a3f-392230837089"/>
    <xsd:import namespace="ef392ca5-c839-4673-94b3-d0628d59dd4c"/>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AutoKeyPoints" minOccurs="0"/>
                <xsd:element ref="ns3:MediaServiceKeyPoints" minOccurs="0"/>
                <xsd:element ref="ns2:SharedWithUsers" minOccurs="0"/>
                <xsd:element ref="ns2:SharedWithDetails" minOccurs="0"/>
                <xsd:element ref="ns3:MediaServiceAutoTags" minOccurs="0"/>
                <xsd:element ref="ns3:MediaServiceOCR" minOccurs="0"/>
                <xsd:element ref="ns3:MediaServiceGenerationTime" minOccurs="0"/>
                <xsd:element ref="ns3:MediaServiceEventHashCode" minOccurs="0"/>
                <xsd:element ref="ns3:MediaServiceObjectDetectorVersions" minOccurs="0"/>
                <xsd:element ref="ns3:lcf76f155ced4ddcb4097134ff3c332f" minOccurs="0"/>
                <xsd:element ref="ns2:TaxCatchAll" minOccurs="0"/>
                <xsd:element ref="ns3:MediaServiceDateTake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40fc13-d0e9-4260-8a3f-39223083708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e339b26-3e6d-431d-ba04-dbc9ba109bcf}" ma:internalName="TaxCatchAll" ma:showField="CatchAllData" ma:web="cb40fc13-d0e9-4260-8a3f-39223083708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ef392ca5-c839-4673-94b3-d0628d59dd4c"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0bb83e33-0837-439b-b9e4-dfd2bd887f7f" ma:termSetId="09814cd3-568e-fe90-9814-8d621ff8fb84" ma:anchorId="fba54fb3-c3e1-fe81-a776-ca4b69148c4d" ma:open="true" ma:isKeyword="false">
      <xsd:complexType>
        <xsd:sequence>
          <xsd:element ref="pc:Terms" minOccurs="0" maxOccurs="1"/>
        </xsd:sequence>
      </xsd:complexType>
    </xsd:element>
    <xsd:element name="MediaServiceDateTaken" ma:index="25" nillable="true" ma:displayName="MediaServiceDateTaken" ma:hidden="true" ma:indexed="true" ma:internalName="MediaServiceDateTaken"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dlc_DocId xmlns="cb40fc13-d0e9-4260-8a3f-392230837089">HXN6NMYY2XV2-705160625-704</_dlc_DocId>
    <_dlc_DocIdUrl xmlns="cb40fc13-d0e9-4260-8a3f-392230837089">
      <Url>http://ssteams.phs.org/da/IRADW/_layouts/15/DocIdRedir.aspx?ID=HXN6NMYY2XV2-705160625-704</Url>
      <Description>HXN6NMYY2XV2-705160625-704</Description>
    </_dlc_DocIdUrl>
    <TaxCatchAll xmlns="cb40fc13-d0e9-4260-8a3f-392230837089" xsi:nil="true"/>
    <lcf76f155ced4ddcb4097134ff3c332f xmlns="ef392ca5-c839-4673-94b3-d0628d59dd4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634B23E-8EE7-4683-91A3-345AC2B04D3C}"/>
</file>

<file path=customXml/itemProps2.xml><?xml version="1.0" encoding="utf-8"?>
<ds:datastoreItem xmlns:ds="http://schemas.openxmlformats.org/officeDocument/2006/customXml" ds:itemID="{30EC4F72-7872-4DF1-B3A4-2751FB1C6DB0}"/>
</file>

<file path=customXml/itemProps3.xml><?xml version="1.0" encoding="utf-8"?>
<ds:datastoreItem xmlns:ds="http://schemas.openxmlformats.org/officeDocument/2006/customXml" ds:itemID="{2611901F-427E-4EA8-A3CA-229C2B844712}"/>
</file>

<file path=customXml/itemProps4.xml><?xml version="1.0" encoding="utf-8"?>
<ds:datastoreItem xmlns:ds="http://schemas.openxmlformats.org/officeDocument/2006/customXml" ds:itemID="{A8DE14B7-C387-41CD-B7C9-57895F9ED6F0}"/>
</file>

<file path=docProps/app.xml><?xml version="1.0" encoding="utf-8"?>
<Properties xmlns="http://schemas.openxmlformats.org/officeDocument/2006/extended-properties" xmlns:vt="http://schemas.openxmlformats.org/officeDocument/2006/docPropsVTypes">
  <TotalTime>76620</TotalTime>
  <Words>4300</Words>
  <Application>Microsoft Office PowerPoint</Application>
  <PresentationFormat>On-screen Show (4:3)</PresentationFormat>
  <Paragraphs>790</Paragraphs>
  <Slides>43</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43</vt:i4>
      </vt:variant>
    </vt:vector>
  </HeadingPairs>
  <TitlesOfParts>
    <vt:vector size="52" baseType="lpstr">
      <vt:lpstr>Arial</vt:lpstr>
      <vt:lpstr>Calibri</vt:lpstr>
      <vt:lpstr>Courier New</vt:lpstr>
      <vt:lpstr>Segoe UI</vt:lpstr>
      <vt:lpstr>Tahoma</vt:lpstr>
      <vt:lpstr>Times New Roman</vt:lpstr>
      <vt:lpstr>Wingdings</vt:lpstr>
      <vt:lpstr>3_Office Theme</vt:lpstr>
      <vt:lpstr>4_Office Theme</vt:lpstr>
      <vt:lpstr>PowerPoint Presentation</vt:lpstr>
      <vt:lpstr>Agenda</vt:lpstr>
      <vt:lpstr>IRADW Project Objective (Integrated Reporting &amp; Analytical Data Warehouse) </vt:lpstr>
      <vt:lpstr>CitiusTech IBM UDMH Expertise PHS IBM UDMH Integration Partner</vt:lpstr>
      <vt:lpstr>CitiusTech IBM UDMH Expertise Cont’d.. PHS IBM UDMH Integration Partner</vt:lpstr>
      <vt:lpstr>CitiusTech IBM UDMH Expertise Cont’d.. PHS IBM UDMH Integration Partner</vt:lpstr>
      <vt:lpstr>IRADW Multi-Tenant Architecture and Security Design Document Review Meetings Conducted so far</vt:lpstr>
      <vt:lpstr>IRADW Architecture Objectives</vt:lpstr>
      <vt:lpstr>IRADW Stakeholder Multi-Tenant Requirement(s)</vt:lpstr>
      <vt:lpstr>Solution Highlights: Multi-Tenancy Data Model Design</vt:lpstr>
      <vt:lpstr>Organizational Hierarchy The first building block in Multi-Tenant Data Model Design</vt:lpstr>
      <vt:lpstr>IBM UDMH - Organization Logical Data Model A logical data model or logical schema is a data model of a specific problem domain expressed independently of a particular database management product but in terms of data structures such as relational tables and columns.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IRADW Data Security Comply with PHS standards</vt:lpstr>
      <vt:lpstr>Data Classification and Segmentation (Based on IRADW Releases 1,2 &amp; 3)</vt:lpstr>
      <vt:lpstr>Data Security Stakeholder Requirements</vt:lpstr>
      <vt:lpstr>Solution Highlights: Data Security Design</vt:lpstr>
      <vt:lpstr>Solution Highlights: Data Security Design Cont’d..</vt:lpstr>
      <vt:lpstr>Solution Highlights: Data Security Design Cont’d..</vt:lpstr>
      <vt:lpstr>Solution Highlights: Data Security Design Cont’d..</vt:lpstr>
      <vt:lpstr>Solution Highlights: Data Security Design Cont’d.. Sensitive &amp; Restrictive Codes</vt:lpstr>
      <vt:lpstr>Solution Highlights: Data Security Design Cont’d.. Examples</vt:lpstr>
      <vt:lpstr>Solution Highlights: Data Security Design Cont’d…</vt:lpstr>
      <vt:lpstr>Solution Highlights: Data Security Design Cont’d…</vt:lpstr>
      <vt:lpstr>Appendix</vt:lpstr>
      <vt:lpstr>IBM Assessment key findings on existing   IBM EDW implementation</vt:lpstr>
      <vt:lpstr>IBM Assessment key findings on existing  IBM EDW implementation Cont’d..</vt:lpstr>
      <vt:lpstr>Data Sharing Across the Business Units / Capitated Provider</vt:lpstr>
      <vt:lpstr>Overall IRADW Security Context</vt:lpstr>
      <vt:lpstr>Organization(s) / Tenant(s) Setup Process in IRADW</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kagori</dc:creator>
  <cp:lastModifiedBy>Klavir, Michael</cp:lastModifiedBy>
  <cp:revision>3401</cp:revision>
  <dcterms:created xsi:type="dcterms:W3CDTF">2015-07-24T09:54:18Z</dcterms:created>
  <dcterms:modified xsi:type="dcterms:W3CDTF">2019-02-01T15:18:51Z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0x01010089A0945C327D1843BDB21B4F9656385C</vt:lpwstr>
  </property>
  <property fmtid="{D5CDD505-2E9C-101B-9397-08002B2CF9AE}" pid="3" name="_dlc_DocIdItemGuid">
    <vt:lpwstr>6817f42d-cc15-46c2-8102-75db4a51d634</vt:lpwstr>
  </property>
  <property fmtid="{D5CDD505-2E9C-101B-9397-08002B2CF9AE}" pid="4" name="Document ID Value">
    <vt:lpwstr>HXN6NMYY2XV2-705160625-704</vt:lpwstr>
  </property>
  <property fmtid="{D5CDD505-2E9C-101B-9397-08002B2CF9AE}" pid="5" name="Order">
    <vt:r8>70400</vt:r8>
  </property>
</Properties>
</file>